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Anton" panose="020F0502020204030204" pitchFamily="2" charset="0"/>
      <p:regular r:id="rId24"/>
    </p:embeddedFont>
    <p:embeddedFont>
      <p:font typeface="Arimo Bold" panose="020B0604020202020204" charset="0"/>
      <p:regular r:id="rId25"/>
    </p:embeddedFont>
    <p:embeddedFont>
      <p:font typeface="Cambria" panose="02040503050406030204" pitchFamily="18" charset="0"/>
      <p:regular r:id="rId26"/>
      <p:bold r:id="rId27"/>
      <p:italic r:id="rId28"/>
      <p:boldItalic r:id="rId29"/>
    </p:embeddedFont>
    <p:embeddedFont>
      <p:font typeface="Cambria Bold" panose="02040803050406030204" pitchFamily="18" charset="0"/>
      <p:regular r:id="rId30"/>
      <p:bold r:id="rId31"/>
    </p:embeddedFont>
    <p:embeddedFont>
      <p:font typeface="Poppins" panose="020B0502040204020203" pitchFamily="2" charset="0"/>
      <p:regular r:id="rId32"/>
    </p:embeddedFont>
    <p:embeddedFont>
      <p:font typeface="Poppins Medium" panose="020B0502040204020203" pitchFamily="2"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jpeg"/><Relationship Id="rId5" Type="http://schemas.openxmlformats.org/officeDocument/2006/relationships/image" Target="../media/image1.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socket.io/"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sp>
        <p:nvSpPr>
          <p:cNvPr id="4" name="TextBox 4"/>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grpSp>
        <p:nvGrpSpPr>
          <p:cNvPr id="5" name="Group 5"/>
          <p:cNvGrpSpPr/>
          <p:nvPr/>
        </p:nvGrpSpPr>
        <p:grpSpPr>
          <a:xfrm>
            <a:off x="0" y="9559957"/>
            <a:ext cx="3771900" cy="735463"/>
            <a:chOff x="0" y="0"/>
            <a:chExt cx="5029200" cy="980618"/>
          </a:xfrm>
        </p:grpSpPr>
        <p:sp>
          <p:nvSpPr>
            <p:cNvPr id="6" name="Freeform 6"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7" name="Group 7"/>
          <p:cNvGrpSpPr/>
          <p:nvPr/>
        </p:nvGrpSpPr>
        <p:grpSpPr>
          <a:xfrm>
            <a:off x="1371600" y="1143000"/>
            <a:ext cx="15544800" cy="2205038"/>
            <a:chOff x="0" y="0"/>
            <a:chExt cx="20726400" cy="2940050"/>
          </a:xfrm>
        </p:grpSpPr>
        <p:sp>
          <p:nvSpPr>
            <p:cNvPr id="8" name="Freeform 8"/>
            <p:cNvSpPr/>
            <p:nvPr/>
          </p:nvSpPr>
          <p:spPr>
            <a:xfrm>
              <a:off x="0" y="0"/>
              <a:ext cx="20726400" cy="2940050"/>
            </a:xfrm>
            <a:custGeom>
              <a:avLst/>
              <a:gdLst/>
              <a:ahLst/>
              <a:cxnLst/>
              <a:rect l="l" t="t" r="r" b="b"/>
              <a:pathLst>
                <a:path w="20726400" h="2940050">
                  <a:moveTo>
                    <a:pt x="0" y="0"/>
                  </a:moveTo>
                  <a:lnTo>
                    <a:pt x="20726400" y="0"/>
                  </a:lnTo>
                  <a:lnTo>
                    <a:pt x="20726400" y="2940050"/>
                  </a:lnTo>
                  <a:lnTo>
                    <a:pt x="0" y="2940050"/>
                  </a:lnTo>
                  <a:close/>
                </a:path>
              </a:pathLst>
            </a:custGeom>
            <a:blipFill>
              <a:blip r:embed="rId3">
                <a:alphaModFix amt="0"/>
              </a:blip>
              <a:stretch>
                <a:fillRect t="-87363" b="-87363"/>
              </a:stretch>
            </a:blipFill>
          </p:spPr>
        </p:sp>
        <p:sp>
          <p:nvSpPr>
            <p:cNvPr id="9" name="TextBox 9"/>
            <p:cNvSpPr txBox="1"/>
            <p:nvPr/>
          </p:nvSpPr>
          <p:spPr>
            <a:xfrm>
              <a:off x="0" y="-19050"/>
              <a:ext cx="20726400" cy="2959100"/>
            </a:xfrm>
            <a:prstGeom prst="rect">
              <a:avLst/>
            </a:prstGeom>
          </p:spPr>
          <p:txBody>
            <a:bodyPr lIns="0" tIns="0" rIns="0" bIns="0" rtlCol="0" anchor="ctr"/>
            <a:lstStyle/>
            <a:p>
              <a:pPr algn="ctr">
                <a:lnSpc>
                  <a:spcPts val="7920"/>
                </a:lnSpc>
              </a:pPr>
              <a:r>
                <a:rPr lang="en-US" sz="6600">
                  <a:solidFill>
                    <a:srgbClr val="000000"/>
                  </a:solidFill>
                  <a:latin typeface="Cambria"/>
                  <a:ea typeface="Cambria"/>
                  <a:cs typeface="Cambria"/>
                  <a:sym typeface="Cambria"/>
                </a:rPr>
                <a:t>AI/ML Driven Maintenance Service Provider Matching Platform For Sri Lanka</a:t>
              </a:r>
            </a:p>
          </p:txBody>
        </p:sp>
      </p:grpSp>
      <p:sp>
        <p:nvSpPr>
          <p:cNvPr id="10" name="TextBox 10"/>
          <p:cNvSpPr txBox="1"/>
          <p:nvPr/>
        </p:nvSpPr>
        <p:spPr>
          <a:xfrm>
            <a:off x="2834640" y="3808095"/>
            <a:ext cx="12618720" cy="733425"/>
          </a:xfrm>
          <a:prstGeom prst="rect">
            <a:avLst/>
          </a:prstGeom>
        </p:spPr>
        <p:txBody>
          <a:bodyPr lIns="0" tIns="0" rIns="0" bIns="0" rtlCol="0" anchor="t">
            <a:spAutoFit/>
          </a:bodyPr>
          <a:lstStyle/>
          <a:p>
            <a:pPr algn="ctr">
              <a:lnSpc>
                <a:spcPts val="5759"/>
              </a:lnSpc>
            </a:pPr>
            <a:r>
              <a:rPr lang="en-US" sz="4800" b="1">
                <a:solidFill>
                  <a:srgbClr val="000000"/>
                </a:solidFill>
                <a:latin typeface="Cambria Bold"/>
                <a:ea typeface="Cambria Bold"/>
                <a:cs typeface="Cambria Bold"/>
                <a:sym typeface="Cambria Bold"/>
              </a:rPr>
              <a:t>RP26-IT-072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sp>
        <p:nvSpPr>
          <p:cNvPr id="4" name="TextBox 4"/>
          <p:cNvSpPr txBox="1"/>
          <p:nvPr/>
        </p:nvSpPr>
        <p:spPr>
          <a:xfrm>
            <a:off x="797414" y="705164"/>
            <a:ext cx="9646920" cy="795252"/>
          </a:xfrm>
          <a:prstGeom prst="rect">
            <a:avLst/>
          </a:prstGeom>
        </p:spPr>
        <p:txBody>
          <a:bodyPr lIns="0" tIns="0" rIns="0" bIns="0" rtlCol="0" anchor="t">
            <a:spAutoFit/>
          </a:bodyPr>
          <a:lstStyle/>
          <a:p>
            <a:pPr algn="l">
              <a:lnSpc>
                <a:spcPts val="5759"/>
              </a:lnSpc>
            </a:pPr>
            <a:r>
              <a:rPr lang="en-US" sz="4800" b="1">
                <a:solidFill>
                  <a:srgbClr val="000000"/>
                </a:solidFill>
                <a:latin typeface="Cambria Bold"/>
                <a:ea typeface="Cambria Bold"/>
                <a:cs typeface="Cambria Bold"/>
                <a:sym typeface="Cambria Bold"/>
              </a:rPr>
              <a:t>Introduction</a:t>
            </a:r>
          </a:p>
        </p:txBody>
      </p:sp>
      <p:sp>
        <p:nvSpPr>
          <p:cNvPr id="5" name="TextBox 5"/>
          <p:cNvSpPr txBox="1"/>
          <p:nvPr/>
        </p:nvSpPr>
        <p:spPr>
          <a:xfrm>
            <a:off x="837752" y="1535563"/>
            <a:ext cx="41605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The Problem</a:t>
            </a:r>
          </a:p>
        </p:txBody>
      </p:sp>
      <p:sp>
        <p:nvSpPr>
          <p:cNvPr id="6" name="TextBox 6"/>
          <p:cNvSpPr txBox="1"/>
          <p:nvPr/>
        </p:nvSpPr>
        <p:spPr>
          <a:xfrm>
            <a:off x="817578" y="2123180"/>
            <a:ext cx="16652834" cy="2974600"/>
          </a:xfrm>
          <a:prstGeom prst="rect">
            <a:avLst/>
          </a:prstGeom>
        </p:spPr>
        <p:txBody>
          <a:bodyPr lIns="0" tIns="0" rIns="0" bIns="0" rtlCol="0" anchor="t">
            <a:spAutoFit/>
          </a:bodyPr>
          <a:lstStyle/>
          <a:p>
            <a:pPr algn="l">
              <a:lnSpc>
                <a:spcPts val="3240"/>
              </a:lnSpc>
            </a:pPr>
            <a:r>
              <a:rPr lang="en-US" sz="2700" dirty="0">
                <a:solidFill>
                  <a:srgbClr val="000000"/>
                </a:solidFill>
                <a:latin typeface="Cambria"/>
                <a:ea typeface="Cambria"/>
                <a:cs typeface="Cambria"/>
                <a:sym typeface="Cambria"/>
              </a:rPr>
              <a:t>In Sri Lanka, users who need services such as AC repair, plumbing, or electrical work rely on listing-based platforms like classified websites. These platforms provide long lists of service providers without intelligent filtering, forcing users to manually evaluate multiple options.</a:t>
            </a:r>
          </a:p>
          <a:p>
            <a:pPr algn="l">
              <a:lnSpc>
                <a:spcPts val="3240"/>
              </a:lnSpc>
            </a:pPr>
            <a:r>
              <a:rPr lang="en-US" sz="2700" dirty="0">
                <a:solidFill>
                  <a:srgbClr val="000000"/>
                </a:solidFill>
                <a:latin typeface="Cambria"/>
                <a:ea typeface="Cambria"/>
                <a:cs typeface="Cambria"/>
                <a:sym typeface="Cambria"/>
              </a:rPr>
              <a:t>As a result:</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Users waste time contacting multiple providers </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There is a high risk of selecting unqualified or unavailable providers </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The matching process is inefficient and unreliable</a:t>
            </a:r>
          </a:p>
        </p:txBody>
      </p:sp>
      <p:sp>
        <p:nvSpPr>
          <p:cNvPr id="7" name="TextBox 7"/>
          <p:cNvSpPr txBox="1"/>
          <p:nvPr/>
        </p:nvSpPr>
        <p:spPr>
          <a:xfrm>
            <a:off x="837752" y="5532501"/>
            <a:ext cx="89611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Impact of the Problem on Users and Society</a:t>
            </a:r>
          </a:p>
        </p:txBody>
      </p:sp>
      <p:grpSp>
        <p:nvGrpSpPr>
          <p:cNvPr id="8" name="Group 8"/>
          <p:cNvGrpSpPr/>
          <p:nvPr/>
        </p:nvGrpSpPr>
        <p:grpSpPr>
          <a:xfrm>
            <a:off x="726138" y="5693883"/>
            <a:ext cx="10388898" cy="2215991"/>
            <a:chOff x="0" y="0"/>
            <a:chExt cx="13851865" cy="2954655"/>
          </a:xfrm>
        </p:grpSpPr>
        <p:sp>
          <p:nvSpPr>
            <p:cNvPr id="9" name="Freeform 9"/>
            <p:cNvSpPr/>
            <p:nvPr/>
          </p:nvSpPr>
          <p:spPr>
            <a:xfrm>
              <a:off x="0" y="0"/>
              <a:ext cx="13851871" cy="2954656"/>
            </a:xfrm>
            <a:custGeom>
              <a:avLst/>
              <a:gdLst/>
              <a:ahLst/>
              <a:cxnLst/>
              <a:rect l="l" t="t" r="r" b="b"/>
              <a:pathLst>
                <a:path w="13851871" h="2954656">
                  <a:moveTo>
                    <a:pt x="0" y="0"/>
                  </a:moveTo>
                  <a:lnTo>
                    <a:pt x="13851871" y="0"/>
                  </a:lnTo>
                  <a:lnTo>
                    <a:pt x="13851871" y="2954656"/>
                  </a:lnTo>
                  <a:lnTo>
                    <a:pt x="0" y="2954656"/>
                  </a:lnTo>
                  <a:close/>
                </a:path>
              </a:pathLst>
            </a:custGeom>
            <a:blipFill>
              <a:blip r:embed="rId3">
                <a:alphaModFix amt="0"/>
              </a:blip>
              <a:stretch>
                <a:fillRect t="-41348" b="-41348"/>
              </a:stretch>
            </a:blipFill>
          </p:spPr>
        </p:sp>
        <p:sp>
          <p:nvSpPr>
            <p:cNvPr id="10" name="TextBox 10"/>
            <p:cNvSpPr txBox="1"/>
            <p:nvPr/>
          </p:nvSpPr>
          <p:spPr>
            <a:xfrm>
              <a:off x="0" y="-19050"/>
              <a:ext cx="13851865" cy="2973705"/>
            </a:xfrm>
            <a:prstGeom prst="rect">
              <a:avLst/>
            </a:prstGeom>
          </p:spPr>
          <p:txBody>
            <a:bodyPr lIns="0" tIns="0" rIns="0" bIns="0" rtlCol="0" anchor="ctr"/>
            <a:lstStyle/>
            <a:p>
              <a:pPr algn="l">
                <a:lnSpc>
                  <a:spcPts val="3240"/>
                </a:lnSpc>
              </a:pPr>
              <a:endParaRPr/>
            </a:p>
            <a:p>
              <a:pPr marL="488632" lvl="1" indent="-244316" algn="l">
                <a:lnSpc>
                  <a:spcPts val="3240"/>
                </a:lnSpc>
                <a:buFont typeface="Arial"/>
                <a:buChar char="•"/>
              </a:pPr>
              <a:r>
                <a:rPr lang="en-US" sz="2700">
                  <a:solidFill>
                    <a:srgbClr val="000000"/>
                  </a:solidFill>
                  <a:latin typeface="Cambria"/>
                  <a:ea typeface="Cambria"/>
                  <a:cs typeface="Cambria"/>
                  <a:sym typeface="Cambria"/>
                </a:rPr>
                <a:t>Increased time and effort in finding suitable providers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Poor service quality due to incorrect matching </a:t>
              </a:r>
            </a:p>
            <a:p>
              <a:pPr marL="488632" lvl="1" indent="-244316" algn="l">
                <a:lnSpc>
                  <a:spcPts val="3240"/>
                </a:lnSpc>
                <a:buFont typeface="Arial"/>
                <a:buChar char="•"/>
              </a:pPr>
              <a:r>
                <a:rPr lang="en-US" sz="2700">
                  <a:solidFill>
                    <a:srgbClr val="000000"/>
                  </a:solidFill>
                  <a:latin typeface="Cambria"/>
                  <a:ea typeface="Cambria"/>
                  <a:cs typeface="Cambria"/>
                  <a:sym typeface="Cambria"/>
                </a:rPr>
                <a:t>Loss of trust in digital service platforms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Reduced income opportunities for skilled but less visible providers </a:t>
              </a:r>
            </a:p>
          </p:txBody>
        </p:sp>
      </p:grpSp>
      <p:sp>
        <p:nvSpPr>
          <p:cNvPr id="11" name="TextBox 11"/>
          <p:cNvSpPr txBox="1"/>
          <p:nvPr/>
        </p:nvSpPr>
        <p:spPr>
          <a:xfrm>
            <a:off x="16550640" y="9784813"/>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0" y="9723311"/>
            <a:ext cx="15125623" cy="565033"/>
            <a:chOff x="0" y="0"/>
            <a:chExt cx="20167497" cy="753377"/>
          </a:xfrm>
        </p:grpSpPr>
        <p:sp>
          <p:nvSpPr>
            <p:cNvPr id="5" name="Freeform 5"/>
            <p:cNvSpPr/>
            <p:nvPr/>
          </p:nvSpPr>
          <p:spPr>
            <a:xfrm>
              <a:off x="0" y="0"/>
              <a:ext cx="20167498" cy="753364"/>
            </a:xfrm>
            <a:custGeom>
              <a:avLst/>
              <a:gdLst/>
              <a:ahLst/>
              <a:cxnLst/>
              <a:rect l="l" t="t" r="r" b="b"/>
              <a:pathLst>
                <a:path w="20167498" h="753364">
                  <a:moveTo>
                    <a:pt x="0" y="753364"/>
                  </a:moveTo>
                  <a:lnTo>
                    <a:pt x="12657520" y="0"/>
                  </a:lnTo>
                  <a:lnTo>
                    <a:pt x="20167498" y="753364"/>
                  </a:lnTo>
                  <a:close/>
                </a:path>
              </a:pathLst>
            </a:custGeom>
            <a:solidFill>
              <a:srgbClr val="FFFFFF">
                <a:alpha val="3922"/>
              </a:srgbClr>
            </a:solidFill>
          </p:spPr>
        </p:sp>
      </p:grpSp>
      <p:sp>
        <p:nvSpPr>
          <p:cNvPr id="6" name="TextBox 6"/>
          <p:cNvSpPr txBox="1"/>
          <p:nvPr/>
        </p:nvSpPr>
        <p:spPr>
          <a:xfrm>
            <a:off x="377190" y="140970"/>
            <a:ext cx="89611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Existing Solutions and Their Limitations</a:t>
            </a:r>
          </a:p>
        </p:txBody>
      </p:sp>
      <p:sp>
        <p:nvSpPr>
          <p:cNvPr id="7" name="TextBox 7"/>
          <p:cNvSpPr txBox="1"/>
          <p:nvPr/>
        </p:nvSpPr>
        <p:spPr>
          <a:xfrm>
            <a:off x="353377" y="481822"/>
            <a:ext cx="8961120" cy="2974600"/>
          </a:xfrm>
          <a:prstGeom prst="rect">
            <a:avLst/>
          </a:prstGeom>
        </p:spPr>
        <p:txBody>
          <a:bodyPr lIns="0" tIns="0" rIns="0" bIns="0" rtlCol="0" anchor="t">
            <a:spAutoFit/>
          </a:bodyPr>
          <a:lstStyle/>
          <a:p>
            <a:pPr algn="l">
              <a:lnSpc>
                <a:spcPts val="3240"/>
              </a:lnSpc>
            </a:pPr>
            <a:r>
              <a:rPr lang="en-US" sz="2700" dirty="0">
                <a:solidFill>
                  <a:srgbClr val="000000"/>
                </a:solidFill>
                <a:latin typeface="Cambria"/>
                <a:ea typeface="Cambria"/>
                <a:cs typeface="Cambria"/>
                <a:sym typeface="Cambria"/>
              </a:rPr>
              <a:t>Current platforms (e.g., ikman.lk, hondabass.lk):</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Provide static lists instead of intelligent recommendations </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Rely only on basic filters and ratings </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Do not consider user preferences, context, or semantic meaning </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Lack real-time and data-driven decision-making </a:t>
            </a:r>
          </a:p>
          <a:p>
            <a:pPr marL="488632" lvl="1" indent="-244316" algn="l">
              <a:lnSpc>
                <a:spcPts val="3240"/>
              </a:lnSpc>
            </a:pPr>
            <a:endParaRPr lang="en-US" sz="2700" dirty="0">
              <a:solidFill>
                <a:srgbClr val="000000"/>
              </a:solidFill>
              <a:latin typeface="Cambria"/>
              <a:ea typeface="Cambria"/>
              <a:cs typeface="Cambria"/>
              <a:sym typeface="Cambria"/>
            </a:endParaRPr>
          </a:p>
        </p:txBody>
      </p:sp>
      <p:sp>
        <p:nvSpPr>
          <p:cNvPr id="8" name="TextBox 8"/>
          <p:cNvSpPr txBox="1"/>
          <p:nvPr/>
        </p:nvSpPr>
        <p:spPr>
          <a:xfrm>
            <a:off x="377190" y="3291396"/>
            <a:ext cx="8961120" cy="481613"/>
          </a:xfrm>
          <a:prstGeom prst="rect">
            <a:avLst/>
          </a:prstGeom>
        </p:spPr>
        <p:txBody>
          <a:bodyPr lIns="0" tIns="0" rIns="0" bIns="0" rtlCol="0" anchor="t">
            <a:spAutoFit/>
          </a:bodyPr>
          <a:lstStyle/>
          <a:p>
            <a:pPr algn="l">
              <a:lnSpc>
                <a:spcPts val="3240"/>
              </a:lnSpc>
            </a:pPr>
            <a:r>
              <a:rPr lang="en-US" sz="2700" b="1" dirty="0">
                <a:solidFill>
                  <a:srgbClr val="000000"/>
                </a:solidFill>
                <a:latin typeface="Cambria Bold"/>
                <a:ea typeface="Cambria Bold"/>
                <a:cs typeface="Cambria Bold"/>
                <a:sym typeface="Cambria Bold"/>
              </a:rPr>
              <a:t>The Proposed Solution</a:t>
            </a:r>
          </a:p>
        </p:txBody>
      </p:sp>
      <p:sp>
        <p:nvSpPr>
          <p:cNvPr id="9" name="TextBox 9"/>
          <p:cNvSpPr txBox="1"/>
          <p:nvPr/>
        </p:nvSpPr>
        <p:spPr>
          <a:xfrm>
            <a:off x="377190" y="3773009"/>
            <a:ext cx="17533620" cy="3390100"/>
          </a:xfrm>
          <a:prstGeom prst="rect">
            <a:avLst/>
          </a:prstGeom>
        </p:spPr>
        <p:txBody>
          <a:bodyPr lIns="0" tIns="0" rIns="0" bIns="0" rtlCol="0" anchor="t">
            <a:spAutoFit/>
          </a:bodyPr>
          <a:lstStyle/>
          <a:p>
            <a:pPr algn="l">
              <a:lnSpc>
                <a:spcPts val="3240"/>
              </a:lnSpc>
            </a:pPr>
            <a:r>
              <a:rPr lang="en-US" sz="2700" dirty="0">
                <a:solidFill>
                  <a:srgbClr val="000000"/>
                </a:solidFill>
                <a:latin typeface="Cambria"/>
                <a:ea typeface="Cambria"/>
                <a:cs typeface="Cambria"/>
                <a:sym typeface="Cambria"/>
              </a:rPr>
              <a:t>This research proposes a Machine Learning–Driven Service Provider Matching Platform that uses a 4-component intelligent pipeline:</a:t>
            </a:r>
          </a:p>
          <a:p>
            <a:pPr marL="488632" lvl="1" indent="-244316" algn="l">
              <a:lnSpc>
                <a:spcPts val="3240"/>
              </a:lnSpc>
              <a:buAutoNum type="arabicPeriod"/>
            </a:pPr>
            <a:r>
              <a:rPr lang="en-US" sz="2700" dirty="0">
                <a:solidFill>
                  <a:srgbClr val="000000"/>
                </a:solidFill>
                <a:latin typeface="Cambria"/>
                <a:ea typeface="Cambria"/>
                <a:cs typeface="Cambria"/>
                <a:sym typeface="Cambria"/>
              </a:rPr>
              <a:t>Hybrid Recommendation Engine (Component 1) -Matches providers based on user needs using CF, CBF, and</a:t>
            </a:r>
          </a:p>
          <a:p>
            <a:pPr marL="488632" lvl="1" indent="-244316" algn="l">
              <a:lnSpc>
                <a:spcPts val="3240"/>
              </a:lnSpc>
            </a:pPr>
            <a:r>
              <a:rPr lang="en-US" sz="2700" dirty="0">
                <a:solidFill>
                  <a:srgbClr val="000000"/>
                </a:solidFill>
                <a:latin typeface="Cambria"/>
                <a:ea typeface="Cambria"/>
                <a:cs typeface="Cambria"/>
                <a:sym typeface="Cambria"/>
              </a:rPr>
              <a:t>BERT </a:t>
            </a:r>
          </a:p>
          <a:p>
            <a:pPr marL="488632" lvl="1" indent="-244316" algn="l">
              <a:lnSpc>
                <a:spcPts val="3240"/>
              </a:lnSpc>
              <a:buAutoNum type="arabicPeriod"/>
            </a:pPr>
            <a:r>
              <a:rPr lang="en-US" sz="2700" dirty="0">
                <a:solidFill>
                  <a:srgbClr val="000000"/>
                </a:solidFill>
                <a:latin typeface="Cambria"/>
                <a:ea typeface="Cambria"/>
                <a:cs typeface="Cambria"/>
                <a:sym typeface="Cambria"/>
              </a:rPr>
              <a:t>Temporal &amp; Contextual Matching (Component 2) -Considers availability, location, weather, and time </a:t>
            </a:r>
          </a:p>
          <a:p>
            <a:pPr marL="488632" lvl="1" indent="-244316" algn="l">
              <a:lnSpc>
                <a:spcPts val="3240"/>
              </a:lnSpc>
              <a:buAutoNum type="arabicPeriod"/>
            </a:pPr>
            <a:r>
              <a:rPr lang="en-US" sz="2700" dirty="0">
                <a:solidFill>
                  <a:srgbClr val="000000"/>
                </a:solidFill>
                <a:latin typeface="Cambria"/>
                <a:ea typeface="Cambria"/>
                <a:cs typeface="Cambria"/>
                <a:sym typeface="Cambria"/>
              </a:rPr>
              <a:t>Skill Verification &amp; Credibility Scoring (Component 3) -Evaluates provider trustworthiness and qualifications </a:t>
            </a:r>
          </a:p>
          <a:p>
            <a:pPr marL="488632" lvl="1" indent="-244316" algn="l">
              <a:lnSpc>
                <a:spcPts val="3240"/>
              </a:lnSpc>
              <a:buAutoNum type="arabicPeriod"/>
            </a:pPr>
            <a:r>
              <a:rPr lang="en-US" sz="2700" dirty="0">
                <a:solidFill>
                  <a:srgbClr val="000000"/>
                </a:solidFill>
                <a:latin typeface="Cambria"/>
                <a:ea typeface="Cambria"/>
                <a:cs typeface="Cambria"/>
                <a:sym typeface="Cambria"/>
              </a:rPr>
              <a:t>Sentiment Analysis &amp; Fake Review Detection (Component 4) -Analyses customer feedback using LSTM and detects fake reviews</a:t>
            </a:r>
          </a:p>
        </p:txBody>
      </p:sp>
      <p:sp>
        <p:nvSpPr>
          <p:cNvPr id="10" name="TextBox 10"/>
          <p:cNvSpPr txBox="1"/>
          <p:nvPr/>
        </p:nvSpPr>
        <p:spPr>
          <a:xfrm>
            <a:off x="377190" y="6987264"/>
            <a:ext cx="16504920" cy="2559101"/>
          </a:xfrm>
          <a:prstGeom prst="rect">
            <a:avLst/>
          </a:prstGeom>
        </p:spPr>
        <p:txBody>
          <a:bodyPr lIns="0" tIns="0" rIns="0" bIns="0" rtlCol="0" anchor="t">
            <a:spAutoFit/>
          </a:bodyPr>
          <a:lstStyle/>
          <a:p>
            <a:pPr algn="l">
              <a:lnSpc>
                <a:spcPts val="3240"/>
              </a:lnSpc>
            </a:pPr>
            <a:r>
              <a:rPr lang="en-US" sz="2700" b="1" dirty="0">
                <a:solidFill>
                  <a:srgbClr val="000000"/>
                </a:solidFill>
                <a:latin typeface="Cambria Bold"/>
                <a:ea typeface="Cambria Bold"/>
                <a:cs typeface="Cambria Bold"/>
                <a:sym typeface="Cambria Bold"/>
              </a:rPr>
              <a:t>Solution Overview &amp; How It Overcomes Limitations</a:t>
            </a:r>
          </a:p>
          <a:p>
            <a:pPr algn="l">
              <a:lnSpc>
                <a:spcPts val="3240"/>
              </a:lnSpc>
            </a:pPr>
            <a:r>
              <a:rPr lang="en-US" sz="2700" dirty="0">
                <a:solidFill>
                  <a:srgbClr val="000000"/>
                </a:solidFill>
                <a:latin typeface="Cambria"/>
                <a:ea typeface="Cambria"/>
                <a:cs typeface="Cambria"/>
                <a:sym typeface="Cambria"/>
              </a:rPr>
              <a:t>Unlike traditional systems, this platform:</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Uses AI-driven intelligent filtering instead of static lists </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Combines multiple algorithms for higher accuracy </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Incorporates real-time and contextual factors </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Ensures trust and reliability through verification and sentiment analysis </a:t>
            </a:r>
          </a:p>
        </p:txBody>
      </p:sp>
      <p:sp>
        <p:nvSpPr>
          <p:cNvPr id="11" name="TextBox 11"/>
          <p:cNvSpPr txBox="1"/>
          <p:nvPr/>
        </p:nvSpPr>
        <p:spPr>
          <a:xfrm>
            <a:off x="16282293" y="9862952"/>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152715" y="9739312"/>
            <a:ext cx="1020985" cy="547688"/>
            <a:chOff x="0" y="0"/>
            <a:chExt cx="1361313" cy="730250"/>
          </a:xfrm>
        </p:grpSpPr>
        <p:sp>
          <p:nvSpPr>
            <p:cNvPr id="3" name="Freeform 3"/>
            <p:cNvSpPr/>
            <p:nvPr/>
          </p:nvSpPr>
          <p:spPr>
            <a:xfrm>
              <a:off x="0" y="0"/>
              <a:ext cx="1361316" cy="730250"/>
            </a:xfrm>
            <a:custGeom>
              <a:avLst/>
              <a:gdLst/>
              <a:ahLst/>
              <a:cxnLst/>
              <a:rect l="l" t="t" r="r" b="b"/>
              <a:pathLst>
                <a:path w="1361316" h="730250">
                  <a:moveTo>
                    <a:pt x="0" y="0"/>
                  </a:moveTo>
                  <a:lnTo>
                    <a:pt x="1361316" y="0"/>
                  </a:lnTo>
                  <a:lnTo>
                    <a:pt x="1361316" y="730250"/>
                  </a:lnTo>
                  <a:lnTo>
                    <a:pt x="0" y="730250"/>
                  </a:lnTo>
                  <a:close/>
                </a:path>
              </a:pathLst>
            </a:custGeom>
            <a:blipFill>
              <a:blip r:embed="rId4">
                <a:alphaModFix amt="0"/>
              </a:blip>
              <a:stretch>
                <a:fillRect l="-18825" r="-18825"/>
              </a:stretch>
            </a:blipFill>
          </p:spPr>
        </p:sp>
        <p:sp>
          <p:nvSpPr>
            <p:cNvPr id="4" name="TextBox 4"/>
            <p:cNvSpPr txBox="1"/>
            <p:nvPr/>
          </p:nvSpPr>
          <p:spPr>
            <a:xfrm>
              <a:off x="0" y="-19050"/>
              <a:ext cx="1361313" cy="749300"/>
            </a:xfrm>
            <a:prstGeom prst="rect">
              <a:avLst/>
            </a:prstGeom>
          </p:spPr>
          <p:txBody>
            <a:bodyPr lIns="0" tIns="0" rIns="0" bIns="0" rtlCol="0" anchor="ctr"/>
            <a:lstStyle/>
            <a:p>
              <a:pPr algn="l">
                <a:lnSpc>
                  <a:spcPts val="3240"/>
                </a:lnSpc>
              </a:pPr>
              <a:r>
                <a:rPr lang="en-US" sz="2700">
                  <a:solidFill>
                    <a:srgbClr val="000000"/>
                  </a:solidFill>
                  <a:latin typeface="Cambria"/>
                  <a:ea typeface="Cambria"/>
                  <a:cs typeface="Cambria"/>
                  <a:sym typeface="Cambria"/>
                </a:rPr>
                <a:t>‹#›</a:t>
              </a:r>
            </a:p>
          </p:txBody>
        </p:sp>
      </p:grpSp>
      <p:grpSp>
        <p:nvGrpSpPr>
          <p:cNvPr id="5" name="Group 5"/>
          <p:cNvGrpSpPr/>
          <p:nvPr/>
        </p:nvGrpSpPr>
        <p:grpSpPr>
          <a:xfrm>
            <a:off x="0" y="9559957"/>
            <a:ext cx="3771900" cy="735463"/>
            <a:chOff x="0" y="0"/>
            <a:chExt cx="5029200" cy="980618"/>
          </a:xfrm>
        </p:grpSpPr>
        <p:sp>
          <p:nvSpPr>
            <p:cNvPr id="6" name="Freeform 6"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29488" r="-256844" b="-5"/>
              </a:stretch>
            </a:blipFill>
          </p:spPr>
        </p:sp>
      </p:grpSp>
      <p:sp>
        <p:nvSpPr>
          <p:cNvPr id="7" name="TextBox 7"/>
          <p:cNvSpPr txBox="1"/>
          <p:nvPr/>
        </p:nvSpPr>
        <p:spPr>
          <a:xfrm>
            <a:off x="15521940" y="9841601"/>
            <a:ext cx="1417320" cy="33358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3/25/2026</a:t>
            </a:r>
          </a:p>
        </p:txBody>
      </p:sp>
      <p:grpSp>
        <p:nvGrpSpPr>
          <p:cNvPr id="8" name="Group 8"/>
          <p:cNvGrpSpPr/>
          <p:nvPr/>
        </p:nvGrpSpPr>
        <p:grpSpPr>
          <a:xfrm>
            <a:off x="0" y="10015357"/>
            <a:ext cx="18288000" cy="271643"/>
            <a:chOff x="0" y="0"/>
            <a:chExt cx="24384000" cy="362191"/>
          </a:xfrm>
        </p:grpSpPr>
        <p:sp>
          <p:nvSpPr>
            <p:cNvPr id="9" name="Freeform 9"/>
            <p:cNvSpPr/>
            <p:nvPr/>
          </p:nvSpPr>
          <p:spPr>
            <a:xfrm>
              <a:off x="0" y="0"/>
              <a:ext cx="24384000" cy="362204"/>
            </a:xfrm>
            <a:custGeom>
              <a:avLst/>
              <a:gdLst/>
              <a:ahLst/>
              <a:cxnLst/>
              <a:rect l="l" t="t" r="r" b="b"/>
              <a:pathLst>
                <a:path w="24384000" h="362204">
                  <a:moveTo>
                    <a:pt x="0" y="362204"/>
                  </a:moveTo>
                  <a:lnTo>
                    <a:pt x="9606534" y="0"/>
                  </a:lnTo>
                  <a:lnTo>
                    <a:pt x="24384000" y="362204"/>
                  </a:lnTo>
                  <a:close/>
                </a:path>
              </a:pathLst>
            </a:custGeom>
            <a:solidFill>
              <a:srgbClr val="FFFFFF">
                <a:alpha val="3922"/>
              </a:srgbClr>
            </a:solidFill>
          </p:spPr>
        </p:sp>
      </p:grpSp>
      <p:grpSp>
        <p:nvGrpSpPr>
          <p:cNvPr id="10" name="Group 10"/>
          <p:cNvGrpSpPr/>
          <p:nvPr/>
        </p:nvGrpSpPr>
        <p:grpSpPr>
          <a:xfrm>
            <a:off x="3948655" y="9739312"/>
            <a:ext cx="10224545" cy="547688"/>
            <a:chOff x="0" y="0"/>
            <a:chExt cx="13632726" cy="730250"/>
          </a:xfrm>
        </p:grpSpPr>
        <p:sp>
          <p:nvSpPr>
            <p:cNvPr id="11" name="Freeform 11"/>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4">
                <a:alphaModFix amt="0"/>
              </a:blip>
              <a:stretch>
                <a:fillRect t="-313757" b="-313757"/>
              </a:stretch>
            </a:blipFill>
          </p:spPr>
        </p:sp>
        <p:sp>
          <p:nvSpPr>
            <p:cNvPr id="12" name="TextBox 12"/>
            <p:cNvSpPr txBox="1"/>
            <p:nvPr/>
          </p:nvSpPr>
          <p:spPr>
            <a:xfrm>
              <a:off x="0" y="-19050"/>
              <a:ext cx="13632726" cy="749300"/>
            </a:xfrm>
            <a:prstGeom prst="rect">
              <a:avLst/>
            </a:prstGeom>
          </p:spPr>
          <p:txBody>
            <a:bodyPr lIns="0" tIns="0" rIns="0" bIns="0" rtlCol="0" anchor="ctr"/>
            <a:lstStyle/>
            <a:p>
              <a:pPr algn="ctr">
                <a:lnSpc>
                  <a:spcPts val="3240"/>
                </a:lnSpc>
              </a:pPr>
              <a:r>
                <a:rPr lang="en-US" sz="2700">
                  <a:solidFill>
                    <a:srgbClr val="000000"/>
                  </a:solidFill>
                  <a:latin typeface="Cambria"/>
                  <a:ea typeface="Cambria"/>
                  <a:cs typeface="Cambria"/>
                  <a:sym typeface="Cambria"/>
                </a:rPr>
                <a:t>RP26-IT-072</a:t>
              </a:r>
            </a:p>
          </p:txBody>
        </p:sp>
      </p:grpSp>
      <p:pic>
        <p:nvPicPr>
          <p:cNvPr id="13" name="Picture 1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a:stretch>
            <a:fillRect/>
          </a:stretch>
        </p:blipFill>
        <p:spPr>
          <a:xfrm>
            <a:off x="0" y="114300"/>
            <a:ext cx="18288000" cy="10287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3"/>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0" y="10015357"/>
            <a:ext cx="18288000" cy="271643"/>
            <a:chOff x="0" y="0"/>
            <a:chExt cx="24384000" cy="362191"/>
          </a:xfrm>
        </p:grpSpPr>
        <p:sp>
          <p:nvSpPr>
            <p:cNvPr id="5" name="Freeform 5"/>
            <p:cNvSpPr/>
            <p:nvPr/>
          </p:nvSpPr>
          <p:spPr>
            <a:xfrm>
              <a:off x="0" y="0"/>
              <a:ext cx="24384000" cy="362204"/>
            </a:xfrm>
            <a:custGeom>
              <a:avLst/>
              <a:gdLst/>
              <a:ahLst/>
              <a:cxnLst/>
              <a:rect l="l" t="t" r="r" b="b"/>
              <a:pathLst>
                <a:path w="24384000" h="362204">
                  <a:moveTo>
                    <a:pt x="0" y="362204"/>
                  </a:moveTo>
                  <a:lnTo>
                    <a:pt x="9606534" y="0"/>
                  </a:lnTo>
                  <a:lnTo>
                    <a:pt x="24384000" y="362204"/>
                  </a:lnTo>
                  <a:close/>
                </a:path>
              </a:pathLst>
            </a:custGeom>
            <a:solidFill>
              <a:srgbClr val="FFFFFF">
                <a:alpha val="3922"/>
              </a:srgbClr>
            </a:solidFill>
          </p:spPr>
        </p:sp>
      </p:grpSp>
      <p:sp>
        <p:nvSpPr>
          <p:cNvPr id="6" name="TextBox 6"/>
          <p:cNvSpPr txBox="1"/>
          <p:nvPr/>
        </p:nvSpPr>
        <p:spPr>
          <a:xfrm>
            <a:off x="777240" y="827103"/>
            <a:ext cx="15361920" cy="1070277"/>
          </a:xfrm>
          <a:prstGeom prst="rect">
            <a:avLst/>
          </a:prstGeom>
        </p:spPr>
        <p:txBody>
          <a:bodyPr lIns="0" tIns="0" rIns="0" bIns="0" rtlCol="0" anchor="t">
            <a:spAutoFit/>
          </a:bodyPr>
          <a:lstStyle/>
          <a:p>
            <a:pPr algn="l">
              <a:lnSpc>
                <a:spcPts val="7200"/>
              </a:lnSpc>
            </a:pPr>
            <a:r>
              <a:rPr lang="en-US" sz="6000" b="1">
                <a:solidFill>
                  <a:srgbClr val="000000"/>
                </a:solidFill>
                <a:latin typeface="Arimo Bold"/>
                <a:ea typeface="Arimo Bold"/>
                <a:cs typeface="Arimo Bold"/>
                <a:sym typeface="Arimo Bold"/>
              </a:rPr>
              <a:t>IT22371836 | Hewapathirana N.T</a:t>
            </a:r>
          </a:p>
        </p:txBody>
      </p:sp>
      <p:grpSp>
        <p:nvGrpSpPr>
          <p:cNvPr id="7" name="Group 7"/>
          <p:cNvGrpSpPr/>
          <p:nvPr/>
        </p:nvGrpSpPr>
        <p:grpSpPr>
          <a:xfrm>
            <a:off x="685800" y="1943100"/>
            <a:ext cx="15706163" cy="1459011"/>
            <a:chOff x="0" y="0"/>
            <a:chExt cx="20941551" cy="1945348"/>
          </a:xfrm>
        </p:grpSpPr>
        <p:sp>
          <p:nvSpPr>
            <p:cNvPr id="8" name="Freeform 8"/>
            <p:cNvSpPr/>
            <p:nvPr/>
          </p:nvSpPr>
          <p:spPr>
            <a:xfrm>
              <a:off x="0" y="0"/>
              <a:ext cx="20941553" cy="1945342"/>
            </a:xfrm>
            <a:custGeom>
              <a:avLst/>
              <a:gdLst/>
              <a:ahLst/>
              <a:cxnLst/>
              <a:rect l="l" t="t" r="r" b="b"/>
              <a:pathLst>
                <a:path w="20941553" h="1945342">
                  <a:moveTo>
                    <a:pt x="0" y="0"/>
                  </a:moveTo>
                  <a:lnTo>
                    <a:pt x="20941553" y="0"/>
                  </a:lnTo>
                  <a:lnTo>
                    <a:pt x="20941553" y="1945342"/>
                  </a:lnTo>
                  <a:lnTo>
                    <a:pt x="0" y="1945342"/>
                  </a:lnTo>
                  <a:close/>
                </a:path>
              </a:pathLst>
            </a:custGeom>
            <a:blipFill>
              <a:blip r:embed="rId3">
                <a:alphaModFix amt="0"/>
              </a:blip>
              <a:stretch>
                <a:fillRect t="-159755" b="-159756"/>
              </a:stretch>
            </a:blipFill>
          </p:spPr>
        </p:sp>
        <p:sp>
          <p:nvSpPr>
            <p:cNvPr id="9" name="TextBox 9"/>
            <p:cNvSpPr txBox="1"/>
            <p:nvPr/>
          </p:nvSpPr>
          <p:spPr>
            <a:xfrm>
              <a:off x="0" y="-9525"/>
              <a:ext cx="20941551" cy="1954873"/>
            </a:xfrm>
            <a:prstGeom prst="rect">
              <a:avLst/>
            </a:prstGeom>
          </p:spPr>
          <p:txBody>
            <a:bodyPr lIns="0" tIns="0" rIns="0" bIns="0" rtlCol="0" anchor="b"/>
            <a:lstStyle/>
            <a:p>
              <a:pPr algn="l">
                <a:lnSpc>
                  <a:spcPts val="5040"/>
                </a:lnSpc>
              </a:pPr>
              <a:r>
                <a:rPr lang="en-US" sz="4200" b="1">
                  <a:solidFill>
                    <a:srgbClr val="000000"/>
                  </a:solidFill>
                  <a:latin typeface="Cambria Bold"/>
                  <a:ea typeface="Cambria Bold"/>
                  <a:cs typeface="Cambria Bold"/>
                  <a:sym typeface="Cambria Bold"/>
                </a:rPr>
                <a:t>Hybrid Multi-Algorithm Recommendation Engine</a:t>
              </a:r>
            </a:p>
            <a:p>
              <a:pPr algn="l">
                <a:lnSpc>
                  <a:spcPts val="5040"/>
                </a:lnSpc>
              </a:pPr>
              <a:endParaRPr lang="en-US" sz="4200" b="1">
                <a:solidFill>
                  <a:srgbClr val="000000"/>
                </a:solidFill>
                <a:latin typeface="Cambria Bold"/>
                <a:ea typeface="Cambria Bold"/>
                <a:cs typeface="Cambria Bold"/>
                <a:sym typeface="Cambria Bold"/>
              </a:endParaRPr>
            </a:p>
          </p:txBody>
        </p:sp>
      </p:grpSp>
      <p:grpSp>
        <p:nvGrpSpPr>
          <p:cNvPr id="10" name="Group 10"/>
          <p:cNvGrpSpPr/>
          <p:nvPr/>
        </p:nvGrpSpPr>
        <p:grpSpPr>
          <a:xfrm>
            <a:off x="4972050" y="9739312"/>
            <a:ext cx="10224545" cy="547688"/>
            <a:chOff x="0" y="0"/>
            <a:chExt cx="13632726" cy="730250"/>
          </a:xfrm>
        </p:grpSpPr>
        <p:sp>
          <p:nvSpPr>
            <p:cNvPr id="11" name="Freeform 11"/>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12" name="TextBox 12"/>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IT22371836</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Hewapathirana N.T   </a:t>
              </a:r>
              <a:r>
                <a:rPr lang="en-US" sz="2700">
                  <a:solidFill>
                    <a:srgbClr val="000000"/>
                  </a:solidFill>
                  <a:latin typeface="Cambria"/>
                  <a:ea typeface="Cambria"/>
                  <a:cs typeface="Cambria"/>
                  <a:sym typeface="Cambria"/>
                </a:rPr>
                <a:t>|   RP26-IT-072</a:t>
              </a:r>
            </a:p>
          </p:txBody>
        </p:sp>
      </p:grpSp>
      <p:sp>
        <p:nvSpPr>
          <p:cNvPr id="13" name="TextBox 13"/>
          <p:cNvSpPr txBox="1"/>
          <p:nvPr/>
        </p:nvSpPr>
        <p:spPr>
          <a:xfrm>
            <a:off x="777240" y="3279524"/>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Contribution to the Overall Solution</a:t>
            </a:r>
          </a:p>
        </p:txBody>
      </p:sp>
      <p:sp>
        <p:nvSpPr>
          <p:cNvPr id="14" name="TextBox 14"/>
          <p:cNvSpPr txBox="1"/>
          <p:nvPr/>
        </p:nvSpPr>
        <p:spPr>
          <a:xfrm>
            <a:off x="757066" y="6301521"/>
            <a:ext cx="88468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Novelty of the component</a:t>
            </a:r>
          </a:p>
        </p:txBody>
      </p:sp>
      <p:grpSp>
        <p:nvGrpSpPr>
          <p:cNvPr id="15" name="Group 15"/>
          <p:cNvGrpSpPr/>
          <p:nvPr/>
        </p:nvGrpSpPr>
        <p:grpSpPr>
          <a:xfrm>
            <a:off x="610172" y="6530350"/>
            <a:ext cx="15620428" cy="2215991"/>
            <a:chOff x="0" y="0"/>
            <a:chExt cx="20827238" cy="2954655"/>
          </a:xfrm>
        </p:grpSpPr>
        <p:sp>
          <p:nvSpPr>
            <p:cNvPr id="16" name="Freeform 16"/>
            <p:cNvSpPr/>
            <p:nvPr/>
          </p:nvSpPr>
          <p:spPr>
            <a:xfrm>
              <a:off x="0" y="0"/>
              <a:ext cx="20827240" cy="2954656"/>
            </a:xfrm>
            <a:custGeom>
              <a:avLst/>
              <a:gdLst/>
              <a:ahLst/>
              <a:cxnLst/>
              <a:rect l="l" t="t" r="r" b="b"/>
              <a:pathLst>
                <a:path w="20827240" h="2954656">
                  <a:moveTo>
                    <a:pt x="0" y="0"/>
                  </a:moveTo>
                  <a:lnTo>
                    <a:pt x="20827240" y="0"/>
                  </a:lnTo>
                  <a:lnTo>
                    <a:pt x="20827240" y="2954656"/>
                  </a:lnTo>
                  <a:lnTo>
                    <a:pt x="0" y="2954656"/>
                  </a:lnTo>
                  <a:close/>
                </a:path>
              </a:pathLst>
            </a:custGeom>
            <a:blipFill>
              <a:blip r:embed="rId3">
                <a:alphaModFix amt="0"/>
              </a:blip>
              <a:stretch>
                <a:fillRect t="-87349" b="-87349"/>
              </a:stretch>
            </a:blipFill>
          </p:spPr>
        </p:sp>
        <p:sp>
          <p:nvSpPr>
            <p:cNvPr id="17" name="TextBox 17"/>
            <p:cNvSpPr txBox="1"/>
            <p:nvPr/>
          </p:nvSpPr>
          <p:spPr>
            <a:xfrm>
              <a:off x="0" y="-19050"/>
              <a:ext cx="20827238" cy="2973705"/>
            </a:xfrm>
            <a:prstGeom prst="rect">
              <a:avLst/>
            </a:prstGeom>
          </p:spPr>
          <p:txBody>
            <a:bodyPr lIns="0" tIns="0" rIns="0" bIns="0" rtlCol="0" anchor="ctr"/>
            <a:lstStyle/>
            <a:p>
              <a:pPr algn="l">
                <a:lnSpc>
                  <a:spcPts val="3240"/>
                </a:lnSpc>
              </a:pPr>
              <a:endParaRPr/>
            </a:p>
            <a:p>
              <a:pPr marL="488632" lvl="1" indent="-244316" algn="l">
                <a:lnSpc>
                  <a:spcPts val="3240"/>
                </a:lnSpc>
                <a:buFont typeface="Arial"/>
                <a:buChar char="•"/>
              </a:pPr>
              <a:r>
                <a:rPr lang="en-US" sz="2700">
                  <a:solidFill>
                    <a:srgbClr val="000000"/>
                  </a:solidFill>
                  <a:latin typeface="Cambria"/>
                  <a:ea typeface="Cambria"/>
                  <a:cs typeface="Cambria"/>
                  <a:sym typeface="Cambria"/>
                </a:rPr>
                <a:t>Introduction of a hybrid</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model</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combining</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CF</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CBF</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and</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BERT instead of relying on a single algorithm </a:t>
              </a:r>
            </a:p>
            <a:p>
              <a:pPr marL="488632" lvl="1" indent="-244316" algn="l">
                <a:lnSpc>
                  <a:spcPts val="3240"/>
                </a:lnSpc>
                <a:buFont typeface="Arial"/>
                <a:buChar char="•"/>
              </a:pPr>
              <a:r>
                <a:rPr lang="en-US" sz="2700">
                  <a:solidFill>
                    <a:srgbClr val="000000"/>
                  </a:solidFill>
                  <a:latin typeface="Cambria"/>
                  <a:ea typeface="Cambria"/>
                  <a:cs typeface="Cambria"/>
                  <a:sym typeface="Cambria"/>
                </a:rPr>
                <a:t>Ability to understand semantic</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meaning, not just keywords, using deep learning </a:t>
              </a:r>
            </a:p>
            <a:p>
              <a:pPr marL="488632" lvl="1" indent="-244316" algn="l">
                <a:lnSpc>
                  <a:spcPts val="3240"/>
                </a:lnSpc>
                <a:buFont typeface="Arial"/>
                <a:buChar char="•"/>
              </a:pPr>
              <a:r>
                <a:rPr lang="en-US" sz="2700">
                  <a:solidFill>
                    <a:srgbClr val="000000"/>
                  </a:solidFill>
                  <a:latin typeface="Cambria"/>
                  <a:ea typeface="Cambria"/>
                  <a:cs typeface="Cambria"/>
                  <a:sym typeface="Cambria"/>
                </a:rPr>
                <a:t>Adaptation for Sri</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Lankan</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context</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with</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sparse</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and</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multilingual</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(Sinhala-English)</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data </a:t>
              </a:r>
            </a:p>
            <a:p>
              <a:pPr marL="488632" lvl="1" indent="-244316" algn="l">
                <a:lnSpc>
                  <a:spcPts val="3240"/>
                </a:lnSpc>
                <a:buFont typeface="Arial"/>
                <a:buChar char="•"/>
              </a:pPr>
              <a:r>
                <a:rPr lang="en-US" sz="2700">
                  <a:solidFill>
                    <a:srgbClr val="000000"/>
                  </a:solidFill>
                  <a:latin typeface="Cambria"/>
                  <a:ea typeface="Cambria"/>
                  <a:cs typeface="Cambria"/>
                  <a:sym typeface="Cambria"/>
                </a:rPr>
                <a:t>Significant improvement in recommendation accuracy compared to traditional systems </a:t>
              </a:r>
            </a:p>
          </p:txBody>
        </p:sp>
      </p:grpSp>
      <p:grpSp>
        <p:nvGrpSpPr>
          <p:cNvPr id="18" name="Group 18"/>
          <p:cNvGrpSpPr/>
          <p:nvPr/>
        </p:nvGrpSpPr>
        <p:grpSpPr>
          <a:xfrm>
            <a:off x="637061" y="3508353"/>
            <a:ext cx="17677828" cy="2215991"/>
            <a:chOff x="0" y="0"/>
            <a:chExt cx="23570438" cy="2954655"/>
          </a:xfrm>
        </p:grpSpPr>
        <p:sp>
          <p:nvSpPr>
            <p:cNvPr id="19" name="Freeform 19"/>
            <p:cNvSpPr/>
            <p:nvPr/>
          </p:nvSpPr>
          <p:spPr>
            <a:xfrm>
              <a:off x="0" y="0"/>
              <a:ext cx="23570440" cy="2954656"/>
            </a:xfrm>
            <a:custGeom>
              <a:avLst/>
              <a:gdLst/>
              <a:ahLst/>
              <a:cxnLst/>
              <a:rect l="l" t="t" r="r" b="b"/>
              <a:pathLst>
                <a:path w="23570440" h="2954656">
                  <a:moveTo>
                    <a:pt x="0" y="0"/>
                  </a:moveTo>
                  <a:lnTo>
                    <a:pt x="23570440" y="0"/>
                  </a:lnTo>
                  <a:lnTo>
                    <a:pt x="23570440" y="2954656"/>
                  </a:lnTo>
                  <a:lnTo>
                    <a:pt x="0" y="2954656"/>
                  </a:lnTo>
                  <a:close/>
                </a:path>
              </a:pathLst>
            </a:custGeom>
            <a:blipFill>
              <a:blip r:embed="rId3">
                <a:alphaModFix amt="0"/>
              </a:blip>
              <a:stretch>
                <a:fillRect t="-105439" b="-105439"/>
              </a:stretch>
            </a:blipFill>
          </p:spPr>
        </p:sp>
        <p:sp>
          <p:nvSpPr>
            <p:cNvPr id="20" name="TextBox 20"/>
            <p:cNvSpPr txBox="1"/>
            <p:nvPr/>
          </p:nvSpPr>
          <p:spPr>
            <a:xfrm>
              <a:off x="0" y="-19050"/>
              <a:ext cx="23570438" cy="2973705"/>
            </a:xfrm>
            <a:prstGeom prst="rect">
              <a:avLst/>
            </a:prstGeom>
          </p:spPr>
          <p:txBody>
            <a:bodyPr lIns="0" tIns="0" rIns="0" bIns="0" rtlCol="0" anchor="ctr"/>
            <a:lstStyle/>
            <a:p>
              <a:pPr algn="l">
                <a:lnSpc>
                  <a:spcPts val="3240"/>
                </a:lnSpc>
              </a:pPr>
              <a:endParaRPr/>
            </a:p>
            <a:p>
              <a:pPr marL="488632" lvl="1" indent="-244316" algn="l">
                <a:lnSpc>
                  <a:spcPts val="3240"/>
                </a:lnSpc>
                <a:buFont typeface="Arial"/>
                <a:buChar char="•"/>
              </a:pPr>
              <a:r>
                <a:rPr lang="en-US" sz="2700">
                  <a:solidFill>
                    <a:srgbClr val="000000"/>
                  </a:solidFill>
                  <a:latin typeface="Cambria"/>
                  <a:ea typeface="Cambria"/>
                  <a:cs typeface="Cambria"/>
                  <a:sym typeface="Cambria"/>
                </a:rPr>
                <a:t>Acts as the core intelligence layer for initial provider selection </a:t>
              </a:r>
            </a:p>
            <a:p>
              <a:pPr marL="488632" lvl="1" indent="-244316" algn="l">
                <a:lnSpc>
                  <a:spcPts val="3240"/>
                </a:lnSpc>
                <a:buFont typeface="Arial"/>
                <a:buChar char="•"/>
              </a:pPr>
              <a:r>
                <a:rPr lang="en-US" sz="2700">
                  <a:solidFill>
                    <a:srgbClr val="000000"/>
                  </a:solidFill>
                  <a:latin typeface="Cambria"/>
                  <a:ea typeface="Cambria"/>
                  <a:cs typeface="Cambria"/>
                  <a:sym typeface="Cambria"/>
                </a:rPr>
                <a:t>Reduces search space from hundreds of providers to Top-20 </a:t>
              </a:r>
            </a:p>
            <a:p>
              <a:pPr marL="488632" lvl="1" indent="-244316" algn="l">
                <a:lnSpc>
                  <a:spcPts val="3240"/>
                </a:lnSpc>
                <a:buFont typeface="Arial"/>
                <a:buChar char="•"/>
              </a:pPr>
              <a:r>
                <a:rPr lang="en-US" sz="2700">
                  <a:solidFill>
                    <a:srgbClr val="000000"/>
                  </a:solidFill>
                  <a:latin typeface="Cambria"/>
                  <a:ea typeface="Cambria"/>
                  <a:cs typeface="Cambria"/>
                  <a:sym typeface="Cambria"/>
                </a:rPr>
                <a:t>Improves overall system efficiency and accuracy </a:t>
              </a:r>
            </a:p>
            <a:p>
              <a:pPr marL="488632" lvl="1" indent="-244316" algn="l">
                <a:lnSpc>
                  <a:spcPts val="3240"/>
                </a:lnSpc>
                <a:buFont typeface="Arial"/>
                <a:buChar char="•"/>
              </a:pPr>
              <a:r>
                <a:rPr lang="en-US" sz="2700">
                  <a:solidFill>
                    <a:srgbClr val="000000"/>
                  </a:solidFill>
                  <a:latin typeface="Cambria"/>
                  <a:ea typeface="Cambria"/>
                  <a:cs typeface="Cambria"/>
                  <a:sym typeface="Cambria"/>
                </a:rPr>
                <a:t>Provides high-quality input for subsequent components </a:t>
              </a:r>
            </a:p>
          </p:txBody>
        </p:sp>
      </p:grpSp>
      <p:grpSp>
        <p:nvGrpSpPr>
          <p:cNvPr id="21" name="Group 21"/>
          <p:cNvGrpSpPr/>
          <p:nvPr/>
        </p:nvGrpSpPr>
        <p:grpSpPr>
          <a:xfrm>
            <a:off x="15235409" y="127692"/>
            <a:ext cx="2774013" cy="3458146"/>
            <a:chOff x="0" y="0"/>
            <a:chExt cx="3698684" cy="4610862"/>
          </a:xfrm>
        </p:grpSpPr>
        <p:sp>
          <p:nvSpPr>
            <p:cNvPr id="22" name="Freeform 22"/>
            <p:cNvSpPr/>
            <p:nvPr/>
          </p:nvSpPr>
          <p:spPr>
            <a:xfrm>
              <a:off x="0" y="0"/>
              <a:ext cx="3698748" cy="4610862"/>
            </a:xfrm>
            <a:custGeom>
              <a:avLst/>
              <a:gdLst/>
              <a:ahLst/>
              <a:cxnLst/>
              <a:rect l="l" t="t" r="r" b="b"/>
              <a:pathLst>
                <a:path w="3698748" h="4610862">
                  <a:moveTo>
                    <a:pt x="0" y="0"/>
                  </a:moveTo>
                  <a:lnTo>
                    <a:pt x="3698748" y="0"/>
                  </a:lnTo>
                  <a:lnTo>
                    <a:pt x="3698748" y="4610862"/>
                  </a:lnTo>
                  <a:lnTo>
                    <a:pt x="0" y="4610862"/>
                  </a:lnTo>
                  <a:lnTo>
                    <a:pt x="0" y="0"/>
                  </a:lnTo>
                  <a:close/>
                </a:path>
              </a:pathLst>
            </a:custGeom>
            <a:blipFill>
              <a:blip r:embed="rId4"/>
              <a:stretch>
                <a:fillRect l="-67" r="-65"/>
              </a:stretch>
            </a:blipFill>
          </p:spPr>
        </p:sp>
      </p:grpSp>
      <p:sp>
        <p:nvSpPr>
          <p:cNvPr id="23" name="TextBox 23"/>
          <p:cNvSpPr txBox="1"/>
          <p:nvPr/>
        </p:nvSpPr>
        <p:spPr>
          <a:xfrm>
            <a:off x="15683303" y="987028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0" y="10015357"/>
            <a:ext cx="18288000" cy="271643"/>
            <a:chOff x="0" y="0"/>
            <a:chExt cx="24384000" cy="362191"/>
          </a:xfrm>
        </p:grpSpPr>
        <p:sp>
          <p:nvSpPr>
            <p:cNvPr id="5" name="Freeform 5"/>
            <p:cNvSpPr/>
            <p:nvPr/>
          </p:nvSpPr>
          <p:spPr>
            <a:xfrm>
              <a:off x="0" y="0"/>
              <a:ext cx="24384000" cy="362204"/>
            </a:xfrm>
            <a:custGeom>
              <a:avLst/>
              <a:gdLst/>
              <a:ahLst/>
              <a:cxnLst/>
              <a:rect l="l" t="t" r="r" b="b"/>
              <a:pathLst>
                <a:path w="24384000" h="362204">
                  <a:moveTo>
                    <a:pt x="0" y="362204"/>
                  </a:moveTo>
                  <a:lnTo>
                    <a:pt x="9606534" y="0"/>
                  </a:lnTo>
                  <a:lnTo>
                    <a:pt x="24384000" y="362204"/>
                  </a:lnTo>
                  <a:close/>
                </a:path>
              </a:pathLst>
            </a:custGeom>
            <a:solidFill>
              <a:srgbClr val="FFFFFF">
                <a:alpha val="3922"/>
              </a:srgbClr>
            </a:solidFill>
          </p:spPr>
        </p:sp>
      </p:grpSp>
      <p:sp>
        <p:nvSpPr>
          <p:cNvPr id="6" name="TextBox 6"/>
          <p:cNvSpPr txBox="1"/>
          <p:nvPr/>
        </p:nvSpPr>
        <p:spPr>
          <a:xfrm>
            <a:off x="642766" y="591445"/>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Problem Definition</a:t>
            </a:r>
          </a:p>
        </p:txBody>
      </p:sp>
      <p:grpSp>
        <p:nvGrpSpPr>
          <p:cNvPr id="7" name="Group 7"/>
          <p:cNvGrpSpPr/>
          <p:nvPr/>
        </p:nvGrpSpPr>
        <p:grpSpPr>
          <a:xfrm>
            <a:off x="544611" y="1134894"/>
            <a:ext cx="16002000" cy="2631491"/>
            <a:chOff x="0" y="0"/>
            <a:chExt cx="21336000" cy="3508654"/>
          </a:xfrm>
        </p:grpSpPr>
        <p:sp>
          <p:nvSpPr>
            <p:cNvPr id="8" name="Freeform 8"/>
            <p:cNvSpPr/>
            <p:nvPr/>
          </p:nvSpPr>
          <p:spPr>
            <a:xfrm>
              <a:off x="0" y="0"/>
              <a:ext cx="21336000" cy="3508652"/>
            </a:xfrm>
            <a:custGeom>
              <a:avLst/>
              <a:gdLst/>
              <a:ahLst/>
              <a:cxnLst/>
              <a:rect l="l" t="t" r="r" b="b"/>
              <a:pathLst>
                <a:path w="21336000" h="3508652">
                  <a:moveTo>
                    <a:pt x="0" y="0"/>
                  </a:moveTo>
                  <a:lnTo>
                    <a:pt x="21336000" y="0"/>
                  </a:lnTo>
                  <a:lnTo>
                    <a:pt x="21336000" y="3508652"/>
                  </a:lnTo>
                  <a:lnTo>
                    <a:pt x="0" y="3508652"/>
                  </a:lnTo>
                  <a:close/>
                </a:path>
              </a:pathLst>
            </a:custGeom>
            <a:blipFill>
              <a:blip r:embed="rId3">
                <a:alphaModFix amt="0"/>
              </a:blip>
              <a:stretch>
                <a:fillRect t="-68487" b="-68487"/>
              </a:stretch>
            </a:blipFill>
          </p:spPr>
        </p:sp>
        <p:sp>
          <p:nvSpPr>
            <p:cNvPr id="9" name="TextBox 9"/>
            <p:cNvSpPr txBox="1"/>
            <p:nvPr/>
          </p:nvSpPr>
          <p:spPr>
            <a:xfrm>
              <a:off x="0" y="-19050"/>
              <a:ext cx="21336000" cy="3527704"/>
            </a:xfrm>
            <a:prstGeom prst="rect">
              <a:avLst/>
            </a:prstGeom>
          </p:spPr>
          <p:txBody>
            <a:bodyPr lIns="0" tIns="0" rIns="0" bIns="0" rtlCol="0" anchor="ctr"/>
            <a:lstStyle/>
            <a:p>
              <a:pPr algn="l">
                <a:lnSpc>
                  <a:spcPts val="3240"/>
                </a:lnSpc>
              </a:pPr>
              <a:r>
                <a:rPr lang="en-US" sz="2700">
                  <a:solidFill>
                    <a:srgbClr val="000000"/>
                  </a:solidFill>
                  <a:latin typeface="Cambria"/>
                  <a:ea typeface="Cambria"/>
                  <a:cs typeface="Cambria"/>
                  <a:sym typeface="Cambria"/>
                </a:rPr>
                <a:t>Existing service platforms in Sri Lanka operate as basic listing systems where users must manually browse through numerous service providers without intelligent guidance. This results in poor matching quality, time wastage, and low success rates in selecting the most suitable provider for a specific problem.</a:t>
              </a:r>
            </a:p>
            <a:p>
              <a:pPr algn="l">
                <a:lnSpc>
                  <a:spcPts val="3240"/>
                </a:lnSpc>
              </a:pPr>
              <a:r>
                <a:rPr lang="en-US" sz="2700">
                  <a:solidFill>
                    <a:srgbClr val="000000"/>
                  </a:solidFill>
                  <a:latin typeface="Cambria"/>
                  <a:ea typeface="Cambria"/>
                  <a:cs typeface="Cambria"/>
                  <a:sym typeface="Cambria"/>
                </a:rPr>
                <a:t>There is a lack of intelligent systems that can accurately match user requests with the most appropriate service providers based on both user behaviour and service relevance.</a:t>
              </a:r>
            </a:p>
            <a:p>
              <a:pPr algn="l">
                <a:lnSpc>
                  <a:spcPts val="3240"/>
                </a:lnSpc>
              </a:pPr>
              <a:endParaRPr lang="en-US" sz="2700">
                <a:solidFill>
                  <a:srgbClr val="000000"/>
                </a:solidFill>
                <a:latin typeface="Cambria"/>
                <a:ea typeface="Cambria"/>
                <a:cs typeface="Cambria"/>
                <a:sym typeface="Cambria"/>
              </a:endParaRPr>
            </a:p>
          </p:txBody>
        </p:sp>
      </p:grpSp>
      <p:sp>
        <p:nvSpPr>
          <p:cNvPr id="10" name="TextBox 10"/>
          <p:cNvSpPr txBox="1"/>
          <p:nvPr/>
        </p:nvSpPr>
        <p:spPr>
          <a:xfrm>
            <a:off x="636051" y="3455670"/>
            <a:ext cx="88468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Research Objectives</a:t>
            </a:r>
          </a:p>
        </p:txBody>
      </p:sp>
      <p:sp>
        <p:nvSpPr>
          <p:cNvPr id="11" name="TextBox 11"/>
          <p:cNvSpPr txBox="1"/>
          <p:nvPr/>
        </p:nvSpPr>
        <p:spPr>
          <a:xfrm>
            <a:off x="1005840" y="3983307"/>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Main Objective : </a:t>
            </a:r>
          </a:p>
        </p:txBody>
      </p:sp>
      <p:sp>
        <p:nvSpPr>
          <p:cNvPr id="12" name="TextBox 12"/>
          <p:cNvSpPr txBox="1"/>
          <p:nvPr/>
        </p:nvSpPr>
        <p:spPr>
          <a:xfrm>
            <a:off x="3863340" y="3996861"/>
            <a:ext cx="13304520" cy="897103"/>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To design and develop a hybrid recommendation engine that accurately identifies and ranks the most suitable service providers based on user requests.</a:t>
            </a:r>
          </a:p>
        </p:txBody>
      </p:sp>
      <p:sp>
        <p:nvSpPr>
          <p:cNvPr id="13" name="TextBox 13"/>
          <p:cNvSpPr txBox="1"/>
          <p:nvPr/>
        </p:nvSpPr>
        <p:spPr>
          <a:xfrm>
            <a:off x="1005840" y="5353698"/>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Sub Objectives :   </a:t>
            </a:r>
          </a:p>
        </p:txBody>
      </p:sp>
      <p:sp>
        <p:nvSpPr>
          <p:cNvPr id="14" name="TextBox 14"/>
          <p:cNvSpPr txBox="1"/>
          <p:nvPr/>
        </p:nvSpPr>
        <p:spPr>
          <a:xfrm>
            <a:off x="3863340" y="5334276"/>
            <a:ext cx="13304520" cy="2974600"/>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Collect and preprocess user-provider interaction data and provider profiles.</a:t>
            </a:r>
          </a:p>
          <a:p>
            <a:pPr marL="488632" lvl="1" indent="-244316" algn="l">
              <a:lnSpc>
                <a:spcPts val="3240"/>
              </a:lnSpc>
              <a:buFont typeface="Arial"/>
              <a:buChar char="•"/>
            </a:pPr>
            <a:r>
              <a:rPr lang="en-US" sz="2700">
                <a:solidFill>
                  <a:srgbClr val="000000"/>
                </a:solidFill>
                <a:latin typeface="Cambria"/>
                <a:ea typeface="Cambria"/>
                <a:cs typeface="Cambria"/>
                <a:sym typeface="Cambria"/>
              </a:rPr>
              <a:t>Implement Collaborative Filtering (CF) based on user behaviour patterns.</a:t>
            </a:r>
          </a:p>
          <a:p>
            <a:pPr marL="488632" lvl="1" indent="-244316" algn="l">
              <a:lnSpc>
                <a:spcPts val="3240"/>
              </a:lnSpc>
              <a:buFont typeface="Arial"/>
              <a:buChar char="•"/>
            </a:pPr>
            <a:r>
              <a:rPr lang="en-US" sz="2700">
                <a:solidFill>
                  <a:srgbClr val="000000"/>
                </a:solidFill>
                <a:latin typeface="Cambria"/>
                <a:ea typeface="Cambria"/>
                <a:cs typeface="Cambria"/>
                <a:sym typeface="Cambria"/>
              </a:rPr>
              <a:t>Develop Content-Based Filtering (CBF) using TF-IDF(Term Frequency – Inverse Document Frequency) for keyword matching.</a:t>
            </a:r>
          </a:p>
          <a:p>
            <a:pPr marL="488632" lvl="1" indent="-244316" algn="l">
              <a:lnSpc>
                <a:spcPts val="3240"/>
              </a:lnSpc>
              <a:buFont typeface="Arial"/>
              <a:buChar char="•"/>
            </a:pPr>
            <a:r>
              <a:rPr lang="en-US" sz="2700">
                <a:solidFill>
                  <a:srgbClr val="000000"/>
                </a:solidFill>
                <a:latin typeface="Cambria"/>
                <a:ea typeface="Cambria"/>
                <a:cs typeface="Cambria"/>
                <a:sym typeface="Cambria"/>
              </a:rPr>
              <a:t>Integrate BERT for semantic understanding of user requests.</a:t>
            </a:r>
          </a:p>
          <a:p>
            <a:pPr marL="488632" lvl="1" indent="-244316" algn="l">
              <a:lnSpc>
                <a:spcPts val="3240"/>
              </a:lnSpc>
              <a:buFont typeface="Arial"/>
              <a:buChar char="•"/>
            </a:pPr>
            <a:r>
              <a:rPr lang="en-US" sz="2700">
                <a:solidFill>
                  <a:srgbClr val="000000"/>
                </a:solidFill>
                <a:latin typeface="Cambria"/>
                <a:ea typeface="Cambria"/>
                <a:cs typeface="Cambria"/>
                <a:sym typeface="Cambria"/>
              </a:rPr>
              <a:t>Combine multiple algorithm outputs into a unified hybrid score.</a:t>
            </a:r>
          </a:p>
          <a:p>
            <a:pPr marL="488632" lvl="1" indent="-244316" algn="l">
              <a:lnSpc>
                <a:spcPts val="3240"/>
              </a:lnSpc>
              <a:buFont typeface="Arial"/>
              <a:buChar char="•"/>
            </a:pPr>
            <a:r>
              <a:rPr lang="en-US" sz="2700">
                <a:solidFill>
                  <a:srgbClr val="000000"/>
                </a:solidFill>
                <a:latin typeface="Cambria"/>
                <a:ea typeface="Cambria"/>
                <a:cs typeface="Cambria"/>
                <a:sym typeface="Cambria"/>
              </a:rPr>
              <a:t>Rank and select the Top-20 most relevant providers.</a:t>
            </a:r>
          </a:p>
        </p:txBody>
      </p:sp>
      <p:grpSp>
        <p:nvGrpSpPr>
          <p:cNvPr id="15" name="Group 15"/>
          <p:cNvGrpSpPr/>
          <p:nvPr/>
        </p:nvGrpSpPr>
        <p:grpSpPr>
          <a:xfrm>
            <a:off x="4972050" y="9739312"/>
            <a:ext cx="10224545" cy="547688"/>
            <a:chOff x="0" y="0"/>
            <a:chExt cx="13632726" cy="730250"/>
          </a:xfrm>
        </p:grpSpPr>
        <p:sp>
          <p:nvSpPr>
            <p:cNvPr id="16" name="Freeform 16"/>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17" name="TextBox 17"/>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IT22371836</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Hewapathirana N.T   </a:t>
              </a:r>
              <a:r>
                <a:rPr lang="en-US" sz="2700">
                  <a:solidFill>
                    <a:srgbClr val="000000"/>
                  </a:solidFill>
                  <a:latin typeface="Cambria"/>
                  <a:ea typeface="Cambria"/>
                  <a:cs typeface="Cambria"/>
                  <a:sym typeface="Cambria"/>
                </a:rPr>
                <a:t>|   RP26-IT-072</a:t>
              </a:r>
            </a:p>
          </p:txBody>
        </p:sp>
      </p:grpSp>
      <p:sp>
        <p:nvSpPr>
          <p:cNvPr id="18" name="TextBox 18"/>
          <p:cNvSpPr txBox="1"/>
          <p:nvPr/>
        </p:nvSpPr>
        <p:spPr>
          <a:xfrm>
            <a:off x="-4023360" y="192176"/>
            <a:ext cx="15361920" cy="375285"/>
          </a:xfrm>
          <a:prstGeom prst="rect">
            <a:avLst/>
          </a:prstGeom>
        </p:spPr>
        <p:txBody>
          <a:bodyPr lIns="0" tIns="0" rIns="0" bIns="0" rtlCol="0" anchor="t">
            <a:spAutoFit/>
          </a:bodyPr>
          <a:lstStyle/>
          <a:p>
            <a:pPr algn="ctr">
              <a:lnSpc>
                <a:spcPts val="2160"/>
              </a:lnSpc>
            </a:pPr>
            <a:r>
              <a:rPr lang="en-US" sz="1800" b="1">
                <a:solidFill>
                  <a:srgbClr val="000000"/>
                </a:solidFill>
                <a:latin typeface="Cambria Bold"/>
                <a:ea typeface="Cambria Bold"/>
                <a:cs typeface="Cambria Bold"/>
                <a:sym typeface="Cambria Bold"/>
              </a:rPr>
              <a:t>HYBRID MULTI-ALGORITHM RECOMMENDATION ENGINE</a:t>
            </a:r>
          </a:p>
        </p:txBody>
      </p:sp>
      <p:sp>
        <p:nvSpPr>
          <p:cNvPr id="19" name="TextBox 19"/>
          <p:cNvSpPr txBox="1"/>
          <p:nvPr/>
        </p:nvSpPr>
        <p:spPr>
          <a:xfrm>
            <a:off x="15750540" y="987028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0" y="9723311"/>
            <a:ext cx="15195175" cy="565033"/>
            <a:chOff x="0" y="0"/>
            <a:chExt cx="20260234" cy="753377"/>
          </a:xfrm>
        </p:grpSpPr>
        <p:sp>
          <p:nvSpPr>
            <p:cNvPr id="5" name="Freeform 5"/>
            <p:cNvSpPr/>
            <p:nvPr/>
          </p:nvSpPr>
          <p:spPr>
            <a:xfrm>
              <a:off x="0" y="0"/>
              <a:ext cx="20260233" cy="753364"/>
            </a:xfrm>
            <a:custGeom>
              <a:avLst/>
              <a:gdLst/>
              <a:ahLst/>
              <a:cxnLst/>
              <a:rect l="l" t="t" r="r" b="b"/>
              <a:pathLst>
                <a:path w="20260233" h="753364">
                  <a:moveTo>
                    <a:pt x="0" y="753364"/>
                  </a:moveTo>
                  <a:lnTo>
                    <a:pt x="12715724" y="0"/>
                  </a:lnTo>
                  <a:lnTo>
                    <a:pt x="20260233" y="753364"/>
                  </a:lnTo>
                  <a:close/>
                </a:path>
              </a:pathLst>
            </a:custGeom>
            <a:solidFill>
              <a:srgbClr val="FFFFFF">
                <a:alpha val="3922"/>
              </a:srgbClr>
            </a:solidFill>
          </p:spPr>
        </p:sp>
      </p:grpSp>
      <p:sp>
        <p:nvSpPr>
          <p:cNvPr id="6" name="TextBox 6"/>
          <p:cNvSpPr txBox="1"/>
          <p:nvPr/>
        </p:nvSpPr>
        <p:spPr>
          <a:xfrm>
            <a:off x="-4023360" y="192176"/>
            <a:ext cx="15361920" cy="375285"/>
          </a:xfrm>
          <a:prstGeom prst="rect">
            <a:avLst/>
          </a:prstGeom>
        </p:spPr>
        <p:txBody>
          <a:bodyPr lIns="0" tIns="0" rIns="0" bIns="0" rtlCol="0" anchor="t">
            <a:spAutoFit/>
          </a:bodyPr>
          <a:lstStyle/>
          <a:p>
            <a:pPr algn="ctr">
              <a:lnSpc>
                <a:spcPts val="2160"/>
              </a:lnSpc>
            </a:pPr>
            <a:r>
              <a:rPr lang="en-US" sz="1800" b="1">
                <a:solidFill>
                  <a:srgbClr val="000000"/>
                </a:solidFill>
                <a:latin typeface="Cambria Bold"/>
                <a:ea typeface="Cambria Bold"/>
                <a:cs typeface="Cambria Bold"/>
                <a:sym typeface="Cambria Bold"/>
              </a:rPr>
              <a:t>HYBRID MULTI-ALGORITHM RECOMMENDATION ENGINE</a:t>
            </a:r>
          </a:p>
        </p:txBody>
      </p:sp>
      <p:sp>
        <p:nvSpPr>
          <p:cNvPr id="7" name="TextBox 7"/>
          <p:cNvSpPr txBox="1"/>
          <p:nvPr/>
        </p:nvSpPr>
        <p:spPr>
          <a:xfrm>
            <a:off x="642766" y="591445"/>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Application of Domain Knowledge</a:t>
            </a:r>
          </a:p>
        </p:txBody>
      </p:sp>
      <p:grpSp>
        <p:nvGrpSpPr>
          <p:cNvPr id="8" name="Group 8"/>
          <p:cNvGrpSpPr/>
          <p:nvPr/>
        </p:nvGrpSpPr>
        <p:grpSpPr>
          <a:xfrm>
            <a:off x="551326" y="1118778"/>
            <a:ext cx="16936574" cy="2215991"/>
            <a:chOff x="0" y="0"/>
            <a:chExt cx="22582099" cy="2954655"/>
          </a:xfrm>
        </p:grpSpPr>
        <p:sp>
          <p:nvSpPr>
            <p:cNvPr id="9" name="Freeform 9"/>
            <p:cNvSpPr/>
            <p:nvPr/>
          </p:nvSpPr>
          <p:spPr>
            <a:xfrm>
              <a:off x="0" y="0"/>
              <a:ext cx="22582094" cy="2954656"/>
            </a:xfrm>
            <a:custGeom>
              <a:avLst/>
              <a:gdLst/>
              <a:ahLst/>
              <a:cxnLst/>
              <a:rect l="l" t="t" r="r" b="b"/>
              <a:pathLst>
                <a:path w="22582094" h="2954656">
                  <a:moveTo>
                    <a:pt x="0" y="0"/>
                  </a:moveTo>
                  <a:lnTo>
                    <a:pt x="22582094" y="0"/>
                  </a:lnTo>
                  <a:lnTo>
                    <a:pt x="22582094" y="2954656"/>
                  </a:lnTo>
                  <a:lnTo>
                    <a:pt x="0" y="2954656"/>
                  </a:lnTo>
                  <a:close/>
                </a:path>
              </a:pathLst>
            </a:custGeom>
            <a:blipFill>
              <a:blip r:embed="rId3">
                <a:alphaModFix amt="0"/>
              </a:blip>
              <a:stretch>
                <a:fillRect t="-98921" b="-98921"/>
              </a:stretch>
            </a:blipFill>
          </p:spPr>
        </p:sp>
        <p:sp>
          <p:nvSpPr>
            <p:cNvPr id="10" name="TextBox 10"/>
            <p:cNvSpPr txBox="1"/>
            <p:nvPr/>
          </p:nvSpPr>
          <p:spPr>
            <a:xfrm>
              <a:off x="0" y="-19050"/>
              <a:ext cx="22582099" cy="2973705"/>
            </a:xfrm>
            <a:prstGeom prst="rect">
              <a:avLst/>
            </a:prstGeom>
          </p:spPr>
          <p:txBody>
            <a:bodyPr lIns="0" tIns="0" rIns="0" bIns="0" rtlCol="0" anchor="ctr"/>
            <a:lstStyle/>
            <a:p>
              <a:pPr algn="l">
                <a:lnSpc>
                  <a:spcPts val="3240"/>
                </a:lnSpc>
              </a:pPr>
              <a:r>
                <a:rPr lang="en-US" sz="2700">
                  <a:solidFill>
                    <a:srgbClr val="000000"/>
                  </a:solidFill>
                  <a:latin typeface="Cambria"/>
                  <a:ea typeface="Cambria"/>
                  <a:cs typeface="Cambria"/>
                  <a:sym typeface="Cambria"/>
                </a:rPr>
                <a:t>This component is built on the domain of Recommender Systems and Natural Language Processing (NLP).</a:t>
              </a:r>
            </a:p>
            <a:p>
              <a:pPr marL="488632" lvl="1" indent="-244316" algn="l">
                <a:lnSpc>
                  <a:spcPts val="3240"/>
                </a:lnSpc>
                <a:buFont typeface="Arial"/>
                <a:buChar char="•"/>
              </a:pPr>
              <a:r>
                <a:rPr lang="en-US" sz="2700">
                  <a:solidFill>
                    <a:srgbClr val="000000"/>
                  </a:solidFill>
                  <a:latin typeface="Cambria"/>
                  <a:ea typeface="Cambria"/>
                  <a:cs typeface="Cambria"/>
                  <a:sym typeface="Cambria"/>
                </a:rPr>
                <a:t>Recommender Systems → Collaborative Filtering &amp; Content-Based Filtering </a:t>
              </a:r>
            </a:p>
            <a:p>
              <a:pPr marL="488632" lvl="1" indent="-244316" algn="l">
                <a:lnSpc>
                  <a:spcPts val="3240"/>
                </a:lnSpc>
                <a:buFont typeface="Arial"/>
                <a:buChar char="•"/>
              </a:pPr>
              <a:r>
                <a:rPr lang="en-US" sz="2700">
                  <a:solidFill>
                    <a:srgbClr val="000000"/>
                  </a:solidFill>
                  <a:latin typeface="Cambria"/>
                  <a:ea typeface="Cambria"/>
                  <a:cs typeface="Cambria"/>
                  <a:sym typeface="Cambria"/>
                </a:rPr>
                <a:t>NLP → TF-IDF(Term Frequency – Inverse Document Frequency) for keyword extraction </a:t>
              </a:r>
            </a:p>
            <a:p>
              <a:pPr marL="488632" lvl="1" indent="-244316" algn="l">
                <a:lnSpc>
                  <a:spcPts val="3240"/>
                </a:lnSpc>
                <a:buFont typeface="Arial"/>
                <a:buChar char="•"/>
              </a:pPr>
              <a:r>
                <a:rPr lang="en-US" sz="2700">
                  <a:solidFill>
                    <a:srgbClr val="000000"/>
                  </a:solidFill>
                  <a:latin typeface="Cambria"/>
                  <a:ea typeface="Cambria"/>
                  <a:cs typeface="Cambria"/>
                  <a:sym typeface="Cambria"/>
                </a:rPr>
                <a:t>Deep Learning → BERT for semantic understanding</a:t>
              </a:r>
            </a:p>
            <a:p>
              <a:pPr marL="488632" lvl="1" indent="-244316" algn="l">
                <a:lnSpc>
                  <a:spcPts val="3240"/>
                </a:lnSpc>
              </a:pPr>
              <a:endParaRPr lang="en-US" sz="2700">
                <a:solidFill>
                  <a:srgbClr val="000000"/>
                </a:solidFill>
                <a:latin typeface="Cambria"/>
                <a:ea typeface="Cambria"/>
                <a:cs typeface="Cambria"/>
                <a:sym typeface="Cambria"/>
              </a:endParaRPr>
            </a:p>
          </p:txBody>
        </p:sp>
      </p:grpSp>
      <p:sp>
        <p:nvSpPr>
          <p:cNvPr id="11" name="TextBox 11"/>
          <p:cNvSpPr txBox="1"/>
          <p:nvPr/>
        </p:nvSpPr>
        <p:spPr>
          <a:xfrm>
            <a:off x="642766" y="2949073"/>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Technologies Used</a:t>
            </a:r>
          </a:p>
        </p:txBody>
      </p:sp>
      <p:sp>
        <p:nvSpPr>
          <p:cNvPr id="12" name="TextBox 12"/>
          <p:cNvSpPr txBox="1"/>
          <p:nvPr/>
        </p:nvSpPr>
        <p:spPr>
          <a:xfrm>
            <a:off x="622602" y="3496685"/>
            <a:ext cx="17231058" cy="3390100"/>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Python – Core programming language </a:t>
            </a:r>
          </a:p>
          <a:p>
            <a:pPr marL="488632" lvl="1" indent="-244316" algn="l">
              <a:lnSpc>
                <a:spcPts val="3240"/>
              </a:lnSpc>
              <a:buFont typeface="Arial"/>
              <a:buChar char="•"/>
            </a:pPr>
            <a:r>
              <a:rPr lang="en-US" sz="2700">
                <a:solidFill>
                  <a:srgbClr val="000000"/>
                </a:solidFill>
                <a:latin typeface="Cambria"/>
                <a:ea typeface="Cambria"/>
                <a:cs typeface="Cambria"/>
                <a:sym typeface="Cambria"/>
              </a:rPr>
              <a:t>Scikit-learn – Used for TF-IDF vectorization and similarity computations in content-based filtering</a:t>
            </a:r>
          </a:p>
          <a:p>
            <a:pPr marL="488632" lvl="1" indent="-244316" algn="l">
              <a:lnSpc>
                <a:spcPts val="3240"/>
              </a:lnSpc>
              <a:buFont typeface="Arial"/>
              <a:buChar char="•"/>
            </a:pPr>
            <a:r>
              <a:rPr lang="en-US" sz="2700">
                <a:solidFill>
                  <a:srgbClr val="000000"/>
                </a:solidFill>
                <a:latin typeface="Cambria"/>
                <a:ea typeface="Cambria"/>
                <a:cs typeface="Cambria"/>
                <a:sym typeface="Cambria"/>
              </a:rPr>
              <a:t>Sentence Transformers (BERT) – Used to generate semantic embeddings for user requests and provider profiles</a:t>
            </a:r>
          </a:p>
          <a:p>
            <a:pPr marL="488632" lvl="1" indent="-244316" algn="l">
              <a:lnSpc>
                <a:spcPts val="3240"/>
              </a:lnSpc>
              <a:buFont typeface="Arial"/>
              <a:buChar char="•"/>
            </a:pPr>
            <a:r>
              <a:rPr lang="en-US" sz="2700">
                <a:solidFill>
                  <a:srgbClr val="000000"/>
                </a:solidFill>
                <a:latin typeface="Cambria"/>
                <a:ea typeface="Cambria"/>
                <a:cs typeface="Cambria"/>
                <a:sym typeface="Cambria"/>
              </a:rPr>
              <a:t>MongoDB v6.0+ (with Vector Search) – Used as a unified database to store user data, provider profiles, interaction history, BERT-generated embeddings for semantic similarity search</a:t>
            </a:r>
          </a:p>
          <a:p>
            <a:pPr marL="488632" lvl="1" indent="-244316" algn="l">
              <a:lnSpc>
                <a:spcPts val="3240"/>
              </a:lnSpc>
              <a:buFont typeface="Arial"/>
              <a:buChar char="•"/>
            </a:pPr>
            <a:r>
              <a:rPr lang="en-US" sz="2700">
                <a:solidFill>
                  <a:srgbClr val="000000"/>
                </a:solidFill>
                <a:latin typeface="Cambria"/>
                <a:ea typeface="Cambria"/>
                <a:cs typeface="Cambria"/>
                <a:sym typeface="Cambria"/>
              </a:rPr>
              <a:t>FastAPI – Used to develop high-performance RESTful APIs connecting the frontend and ML models</a:t>
            </a:r>
          </a:p>
          <a:p>
            <a:pPr marL="488632" lvl="1" indent="-244316" algn="l">
              <a:lnSpc>
                <a:spcPts val="3240"/>
              </a:lnSpc>
              <a:buFont typeface="Arial"/>
              <a:buChar char="•"/>
            </a:pPr>
            <a:r>
              <a:rPr lang="en-US" sz="2700">
                <a:solidFill>
                  <a:srgbClr val="000000"/>
                </a:solidFill>
                <a:latin typeface="Cambria"/>
                <a:ea typeface="Cambria"/>
                <a:cs typeface="Cambria"/>
                <a:sym typeface="Cambria"/>
              </a:rPr>
              <a:t>React – Used to build a responsive and user-friendly frontend interface </a:t>
            </a:r>
          </a:p>
          <a:p>
            <a:pPr marL="488632" lvl="1" indent="-244316" algn="l">
              <a:lnSpc>
                <a:spcPts val="3240"/>
              </a:lnSpc>
            </a:pPr>
            <a:endParaRPr lang="en-US" sz="2700">
              <a:solidFill>
                <a:srgbClr val="000000"/>
              </a:solidFill>
              <a:latin typeface="Cambria"/>
              <a:ea typeface="Cambria"/>
              <a:cs typeface="Cambria"/>
              <a:sym typeface="Cambria"/>
            </a:endParaRPr>
          </a:p>
        </p:txBody>
      </p:sp>
      <p:sp>
        <p:nvSpPr>
          <p:cNvPr id="13" name="TextBox 13"/>
          <p:cNvSpPr txBox="1"/>
          <p:nvPr/>
        </p:nvSpPr>
        <p:spPr>
          <a:xfrm>
            <a:off x="629326" y="6580756"/>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Evaluation and Validation</a:t>
            </a:r>
          </a:p>
        </p:txBody>
      </p:sp>
      <p:grpSp>
        <p:nvGrpSpPr>
          <p:cNvPr id="14" name="Group 14"/>
          <p:cNvGrpSpPr/>
          <p:nvPr/>
        </p:nvGrpSpPr>
        <p:grpSpPr>
          <a:xfrm>
            <a:off x="551326" y="7077942"/>
            <a:ext cx="10335139" cy="1384992"/>
            <a:chOff x="0" y="0"/>
            <a:chExt cx="13780186" cy="1846656"/>
          </a:xfrm>
        </p:grpSpPr>
        <p:sp>
          <p:nvSpPr>
            <p:cNvPr id="15" name="Freeform 15"/>
            <p:cNvSpPr/>
            <p:nvPr/>
          </p:nvSpPr>
          <p:spPr>
            <a:xfrm>
              <a:off x="0" y="0"/>
              <a:ext cx="13780182" cy="1846660"/>
            </a:xfrm>
            <a:custGeom>
              <a:avLst/>
              <a:gdLst/>
              <a:ahLst/>
              <a:cxnLst/>
              <a:rect l="l" t="t" r="r" b="b"/>
              <a:pathLst>
                <a:path w="13780182" h="1846660">
                  <a:moveTo>
                    <a:pt x="0" y="0"/>
                  </a:moveTo>
                  <a:lnTo>
                    <a:pt x="13780182" y="0"/>
                  </a:lnTo>
                  <a:lnTo>
                    <a:pt x="13780182" y="1846660"/>
                  </a:lnTo>
                  <a:lnTo>
                    <a:pt x="0" y="1846660"/>
                  </a:lnTo>
                  <a:close/>
                </a:path>
              </a:pathLst>
            </a:custGeom>
            <a:blipFill>
              <a:blip r:embed="rId3">
                <a:alphaModFix amt="0"/>
              </a:blip>
              <a:stretch>
                <a:fillRect t="-95401" b="-95401"/>
              </a:stretch>
            </a:blipFill>
          </p:spPr>
        </p:sp>
        <p:sp>
          <p:nvSpPr>
            <p:cNvPr id="16" name="TextBox 16"/>
            <p:cNvSpPr txBox="1"/>
            <p:nvPr/>
          </p:nvSpPr>
          <p:spPr>
            <a:xfrm>
              <a:off x="0" y="-19050"/>
              <a:ext cx="13780186" cy="1865706"/>
            </a:xfrm>
            <a:prstGeom prst="rect">
              <a:avLst/>
            </a:prstGeom>
          </p:spPr>
          <p:txBody>
            <a:bodyPr lIns="0" tIns="0" rIns="0" bIns="0" rtlCol="0" anchor="ct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Accuracy – Measures correctness of top recommendations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Precision – Relevance of recommended providers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NDCG</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(Normalized Discounted Cumulative Gain) – Ranking quality </a:t>
              </a:r>
            </a:p>
          </p:txBody>
        </p:sp>
      </p:grpSp>
      <p:sp>
        <p:nvSpPr>
          <p:cNvPr id="17" name="TextBox 17"/>
          <p:cNvSpPr txBox="1"/>
          <p:nvPr/>
        </p:nvSpPr>
        <p:spPr>
          <a:xfrm>
            <a:off x="11000365" y="6477895"/>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Data Availability and Security</a:t>
            </a:r>
          </a:p>
        </p:txBody>
      </p:sp>
      <p:grpSp>
        <p:nvGrpSpPr>
          <p:cNvPr id="18" name="Group 18"/>
          <p:cNvGrpSpPr/>
          <p:nvPr/>
        </p:nvGrpSpPr>
        <p:grpSpPr>
          <a:xfrm>
            <a:off x="10908925" y="6932505"/>
            <a:ext cx="7315200" cy="2631491"/>
            <a:chOff x="0" y="0"/>
            <a:chExt cx="9753600" cy="3508654"/>
          </a:xfrm>
        </p:grpSpPr>
        <p:sp>
          <p:nvSpPr>
            <p:cNvPr id="19" name="Freeform 19"/>
            <p:cNvSpPr/>
            <p:nvPr/>
          </p:nvSpPr>
          <p:spPr>
            <a:xfrm>
              <a:off x="0" y="0"/>
              <a:ext cx="9753600" cy="3508652"/>
            </a:xfrm>
            <a:custGeom>
              <a:avLst/>
              <a:gdLst/>
              <a:ahLst/>
              <a:cxnLst/>
              <a:rect l="l" t="t" r="r" b="b"/>
              <a:pathLst>
                <a:path w="9753600" h="3508652">
                  <a:moveTo>
                    <a:pt x="0" y="0"/>
                  </a:moveTo>
                  <a:lnTo>
                    <a:pt x="9753600" y="0"/>
                  </a:lnTo>
                  <a:lnTo>
                    <a:pt x="9753600" y="3508652"/>
                  </a:lnTo>
                  <a:lnTo>
                    <a:pt x="0" y="3508652"/>
                  </a:lnTo>
                  <a:close/>
                </a:path>
              </a:pathLst>
            </a:custGeom>
            <a:blipFill>
              <a:blip r:embed="rId3">
                <a:alphaModFix amt="0"/>
              </a:blip>
              <a:stretch>
                <a:fillRect t="-4165" b="-4165"/>
              </a:stretch>
            </a:blipFill>
          </p:spPr>
        </p:sp>
        <p:sp>
          <p:nvSpPr>
            <p:cNvPr id="20" name="TextBox 20"/>
            <p:cNvSpPr txBox="1"/>
            <p:nvPr/>
          </p:nvSpPr>
          <p:spPr>
            <a:xfrm>
              <a:off x="0" y="-19050"/>
              <a:ext cx="9753600" cy="3527704"/>
            </a:xfrm>
            <a:prstGeom prst="rect">
              <a:avLst/>
            </a:prstGeom>
          </p:spPr>
          <p:txBody>
            <a:bodyPr lIns="0" tIns="0" rIns="0" bIns="0" rtlCol="0" anchor="ct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Uses anonymized historical booking data and provider profiles</a:t>
              </a:r>
            </a:p>
            <a:p>
              <a:pPr marL="488632" lvl="1" indent="-244316" algn="l">
                <a:lnSpc>
                  <a:spcPts val="3240"/>
                </a:lnSpc>
                <a:buFont typeface="Arial"/>
                <a:buChar char="•"/>
              </a:pPr>
              <a:r>
                <a:rPr lang="en-US" sz="2700">
                  <a:solidFill>
                    <a:srgbClr val="000000"/>
                  </a:solidFill>
                  <a:latin typeface="Cambria"/>
                  <a:ea typeface="Cambria"/>
                  <a:cs typeface="Cambria"/>
                  <a:sym typeface="Cambria"/>
                </a:rPr>
                <a:t>No personally identifiable information (PII) is used</a:t>
              </a:r>
            </a:p>
            <a:p>
              <a:pPr marL="488632" lvl="1" indent="-244316" algn="l">
                <a:lnSpc>
                  <a:spcPts val="3240"/>
                </a:lnSpc>
                <a:buFont typeface="Arial"/>
                <a:buChar char="•"/>
              </a:pPr>
              <a:r>
                <a:rPr lang="en-US" sz="2700">
                  <a:solidFill>
                    <a:srgbClr val="000000"/>
                  </a:solidFill>
                  <a:latin typeface="Cambria"/>
                  <a:ea typeface="Cambria"/>
                  <a:cs typeface="Cambria"/>
                  <a:sym typeface="Cambria"/>
                </a:rPr>
                <a:t>Data is processed under privacy-preserving mechanisms</a:t>
              </a:r>
            </a:p>
          </p:txBody>
        </p:sp>
      </p:grpSp>
      <p:grpSp>
        <p:nvGrpSpPr>
          <p:cNvPr id="21" name="Group 21"/>
          <p:cNvGrpSpPr/>
          <p:nvPr/>
        </p:nvGrpSpPr>
        <p:grpSpPr>
          <a:xfrm>
            <a:off x="4972050" y="9739312"/>
            <a:ext cx="10224545" cy="547688"/>
            <a:chOff x="0" y="0"/>
            <a:chExt cx="13632726" cy="730250"/>
          </a:xfrm>
        </p:grpSpPr>
        <p:sp>
          <p:nvSpPr>
            <p:cNvPr id="22" name="Freeform 22"/>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23" name="TextBox 23"/>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IT22371836</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Hewapathirana N.T   </a:t>
              </a:r>
              <a:r>
                <a:rPr lang="en-US" sz="2700">
                  <a:solidFill>
                    <a:srgbClr val="000000"/>
                  </a:solidFill>
                  <a:latin typeface="Cambria"/>
                  <a:ea typeface="Cambria"/>
                  <a:cs typeface="Cambria"/>
                  <a:sym typeface="Cambria"/>
                </a:rPr>
                <a:t>|   RP26-IT-072</a:t>
              </a:r>
            </a:p>
          </p:txBody>
        </p:sp>
      </p:grpSp>
      <p:sp>
        <p:nvSpPr>
          <p:cNvPr id="24" name="TextBox 24"/>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0" y="10015357"/>
            <a:ext cx="18288000" cy="271643"/>
            <a:chOff x="0" y="0"/>
            <a:chExt cx="24384000" cy="362191"/>
          </a:xfrm>
        </p:grpSpPr>
        <p:sp>
          <p:nvSpPr>
            <p:cNvPr id="5" name="Freeform 5"/>
            <p:cNvSpPr/>
            <p:nvPr/>
          </p:nvSpPr>
          <p:spPr>
            <a:xfrm>
              <a:off x="0" y="0"/>
              <a:ext cx="24384000" cy="362204"/>
            </a:xfrm>
            <a:custGeom>
              <a:avLst/>
              <a:gdLst/>
              <a:ahLst/>
              <a:cxnLst/>
              <a:rect l="l" t="t" r="r" b="b"/>
              <a:pathLst>
                <a:path w="24384000" h="362204">
                  <a:moveTo>
                    <a:pt x="0" y="362204"/>
                  </a:moveTo>
                  <a:lnTo>
                    <a:pt x="9606534" y="0"/>
                  </a:lnTo>
                  <a:lnTo>
                    <a:pt x="24384000" y="362204"/>
                  </a:lnTo>
                  <a:close/>
                </a:path>
              </a:pathLst>
            </a:custGeom>
            <a:solidFill>
              <a:srgbClr val="FFFFFF">
                <a:alpha val="3922"/>
              </a:srgbClr>
            </a:solidFill>
          </p:spPr>
        </p:sp>
      </p:grpSp>
      <p:sp>
        <p:nvSpPr>
          <p:cNvPr id="6" name="TextBox 6"/>
          <p:cNvSpPr txBox="1"/>
          <p:nvPr/>
        </p:nvSpPr>
        <p:spPr>
          <a:xfrm>
            <a:off x="642766" y="547545"/>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System Overview</a:t>
            </a:r>
          </a:p>
        </p:txBody>
      </p:sp>
      <p:sp>
        <p:nvSpPr>
          <p:cNvPr id="7" name="TextBox 7"/>
          <p:cNvSpPr txBox="1"/>
          <p:nvPr/>
        </p:nvSpPr>
        <p:spPr>
          <a:xfrm>
            <a:off x="642766" y="1056380"/>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Inputs </a:t>
            </a:r>
          </a:p>
        </p:txBody>
      </p:sp>
      <p:sp>
        <p:nvSpPr>
          <p:cNvPr id="8" name="TextBox 8"/>
          <p:cNvSpPr txBox="1"/>
          <p:nvPr/>
        </p:nvSpPr>
        <p:spPr>
          <a:xfrm>
            <a:off x="1005840" y="1474489"/>
            <a:ext cx="11018520" cy="2143601"/>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User request (text)</a:t>
            </a:r>
          </a:p>
          <a:p>
            <a:pPr marL="488632" lvl="1" indent="-244316" algn="l">
              <a:lnSpc>
                <a:spcPts val="3240"/>
              </a:lnSpc>
              <a:buFont typeface="Arial"/>
              <a:buChar char="•"/>
            </a:pPr>
            <a:r>
              <a:rPr lang="en-US" sz="2700">
                <a:solidFill>
                  <a:srgbClr val="000000"/>
                </a:solidFill>
                <a:latin typeface="Cambria"/>
                <a:ea typeface="Cambria"/>
                <a:cs typeface="Cambria"/>
                <a:sym typeface="Cambria"/>
              </a:rPr>
              <a:t>Historical user-provider interaction data</a:t>
            </a:r>
          </a:p>
          <a:p>
            <a:pPr marL="488632" lvl="1" indent="-244316" algn="l">
              <a:lnSpc>
                <a:spcPts val="3240"/>
              </a:lnSpc>
              <a:buFont typeface="Arial"/>
              <a:buChar char="•"/>
            </a:pPr>
            <a:r>
              <a:rPr lang="en-US" sz="2700">
                <a:solidFill>
                  <a:srgbClr val="000000"/>
                </a:solidFill>
                <a:latin typeface="Cambria"/>
                <a:ea typeface="Cambria"/>
                <a:cs typeface="Cambria"/>
                <a:sym typeface="Cambria"/>
              </a:rPr>
              <a:t>Provider profiles</a:t>
            </a:r>
          </a:p>
          <a:p>
            <a:pPr marL="488632" lvl="1" indent="-244316" algn="l">
              <a:lnSpc>
                <a:spcPts val="3240"/>
              </a:lnSpc>
            </a:pPr>
            <a:endParaRPr lang="en-US" sz="2700">
              <a:solidFill>
                <a:srgbClr val="000000"/>
              </a:solidFill>
              <a:latin typeface="Cambria"/>
              <a:ea typeface="Cambria"/>
              <a:cs typeface="Cambria"/>
              <a:sym typeface="Cambria"/>
            </a:endParaRPr>
          </a:p>
          <a:p>
            <a:pPr marL="488632" lvl="1" indent="-244316" algn="l">
              <a:lnSpc>
                <a:spcPts val="3240"/>
              </a:lnSpc>
            </a:pPr>
            <a:endParaRPr lang="en-US" sz="2700">
              <a:solidFill>
                <a:srgbClr val="000000"/>
              </a:solidFill>
              <a:latin typeface="Cambria"/>
              <a:ea typeface="Cambria"/>
              <a:cs typeface="Cambria"/>
              <a:sym typeface="Cambria"/>
            </a:endParaRPr>
          </a:p>
        </p:txBody>
      </p:sp>
      <p:sp>
        <p:nvSpPr>
          <p:cNvPr id="9" name="TextBox 9"/>
          <p:cNvSpPr txBox="1"/>
          <p:nvPr/>
        </p:nvSpPr>
        <p:spPr>
          <a:xfrm>
            <a:off x="662940" y="2893695"/>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Process</a:t>
            </a:r>
          </a:p>
        </p:txBody>
      </p:sp>
      <p:sp>
        <p:nvSpPr>
          <p:cNvPr id="10" name="TextBox 10"/>
          <p:cNvSpPr txBox="1"/>
          <p:nvPr/>
        </p:nvSpPr>
        <p:spPr>
          <a:xfrm>
            <a:off x="1005840" y="3338217"/>
            <a:ext cx="11018520" cy="2559101"/>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Collaborative Filtering → identifies providers liked by similar users</a:t>
            </a:r>
          </a:p>
          <a:p>
            <a:pPr marL="488632" lvl="1" indent="-244316" algn="l">
              <a:lnSpc>
                <a:spcPts val="3240"/>
              </a:lnSpc>
              <a:buFont typeface="Arial"/>
              <a:buChar char="•"/>
            </a:pPr>
            <a:r>
              <a:rPr lang="en-US" sz="2700">
                <a:solidFill>
                  <a:srgbClr val="000000"/>
                </a:solidFill>
                <a:latin typeface="Cambria"/>
                <a:ea typeface="Cambria"/>
                <a:cs typeface="Cambria"/>
                <a:sym typeface="Cambria"/>
              </a:rPr>
              <a:t>Content-Based Filtering → matches request with provider profiles</a:t>
            </a:r>
          </a:p>
          <a:p>
            <a:pPr marL="488632" lvl="1" indent="-244316" algn="l">
              <a:lnSpc>
                <a:spcPts val="3240"/>
              </a:lnSpc>
              <a:buFont typeface="Arial"/>
              <a:buChar char="•"/>
            </a:pPr>
            <a:r>
              <a:rPr lang="en-US" sz="2700">
                <a:solidFill>
                  <a:srgbClr val="000000"/>
                </a:solidFill>
                <a:latin typeface="Cambria"/>
                <a:ea typeface="Cambria"/>
                <a:cs typeface="Cambria"/>
                <a:sym typeface="Cambria"/>
              </a:rPr>
              <a:t>BERT Semantic Matching → understands contextual meaning</a:t>
            </a:r>
          </a:p>
          <a:p>
            <a:pPr marL="488632" lvl="1" indent="-244316" algn="l">
              <a:lnSpc>
                <a:spcPts val="3240"/>
              </a:lnSpc>
              <a:buFont typeface="Arial"/>
              <a:buChar char="•"/>
            </a:pPr>
            <a:r>
              <a:rPr lang="en-US" sz="2700">
                <a:solidFill>
                  <a:srgbClr val="000000"/>
                </a:solidFill>
                <a:latin typeface="Cambria"/>
                <a:ea typeface="Cambria"/>
                <a:cs typeface="Cambria"/>
                <a:sym typeface="Cambria"/>
              </a:rPr>
              <a:t>Score Fusion → combines outputs using weighted averaging</a:t>
            </a:r>
          </a:p>
          <a:p>
            <a:pPr marL="488632" lvl="1" indent="-244316" algn="l">
              <a:lnSpc>
                <a:spcPts val="3240"/>
              </a:lnSpc>
            </a:pPr>
            <a:endParaRPr lang="en-US" sz="2700">
              <a:solidFill>
                <a:srgbClr val="000000"/>
              </a:solidFill>
              <a:latin typeface="Cambria"/>
              <a:ea typeface="Cambria"/>
              <a:cs typeface="Cambria"/>
              <a:sym typeface="Cambria"/>
            </a:endParaRPr>
          </a:p>
          <a:p>
            <a:pPr marL="488632" lvl="1" indent="-244316" algn="l">
              <a:lnSpc>
                <a:spcPts val="3240"/>
              </a:lnSpc>
            </a:pPr>
            <a:endParaRPr lang="en-US" sz="2700">
              <a:solidFill>
                <a:srgbClr val="000000"/>
              </a:solidFill>
              <a:latin typeface="Cambria"/>
              <a:ea typeface="Cambria"/>
              <a:cs typeface="Cambria"/>
              <a:sym typeface="Cambria"/>
            </a:endParaRPr>
          </a:p>
        </p:txBody>
      </p:sp>
      <p:sp>
        <p:nvSpPr>
          <p:cNvPr id="11" name="TextBox 11"/>
          <p:cNvSpPr txBox="1"/>
          <p:nvPr/>
        </p:nvSpPr>
        <p:spPr>
          <a:xfrm>
            <a:off x="636041" y="5179695"/>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Output </a:t>
            </a:r>
          </a:p>
        </p:txBody>
      </p:sp>
      <p:sp>
        <p:nvSpPr>
          <p:cNvPr id="12" name="TextBox 12"/>
          <p:cNvSpPr txBox="1"/>
          <p:nvPr/>
        </p:nvSpPr>
        <p:spPr>
          <a:xfrm>
            <a:off x="1005840" y="5569525"/>
            <a:ext cx="11018520" cy="1312602"/>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Ranked list of Top-20</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providers based on hybrid score</a:t>
            </a:r>
          </a:p>
          <a:p>
            <a:pPr marL="488632" lvl="1" indent="-244316" algn="l">
              <a:lnSpc>
                <a:spcPts val="3240"/>
              </a:lnSpc>
            </a:pPr>
            <a:endParaRPr lang="en-US" sz="2700">
              <a:solidFill>
                <a:srgbClr val="000000"/>
              </a:solidFill>
              <a:latin typeface="Cambria"/>
              <a:ea typeface="Cambria"/>
              <a:cs typeface="Cambria"/>
              <a:sym typeface="Cambria"/>
            </a:endParaRPr>
          </a:p>
          <a:p>
            <a:pPr marL="488632" lvl="1" indent="-244316" algn="l">
              <a:lnSpc>
                <a:spcPts val="3240"/>
              </a:lnSpc>
            </a:pPr>
            <a:endParaRPr lang="en-US" sz="2700">
              <a:solidFill>
                <a:srgbClr val="000000"/>
              </a:solidFill>
              <a:latin typeface="Cambria"/>
              <a:ea typeface="Cambria"/>
              <a:cs typeface="Cambria"/>
              <a:sym typeface="Cambria"/>
            </a:endParaRPr>
          </a:p>
        </p:txBody>
      </p:sp>
      <p:sp>
        <p:nvSpPr>
          <p:cNvPr id="13" name="TextBox 13"/>
          <p:cNvSpPr txBox="1"/>
          <p:nvPr/>
        </p:nvSpPr>
        <p:spPr>
          <a:xfrm>
            <a:off x="662940" y="6210719"/>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Dependencies and Shared Components</a:t>
            </a:r>
          </a:p>
        </p:txBody>
      </p:sp>
      <p:sp>
        <p:nvSpPr>
          <p:cNvPr id="14" name="TextBox 14"/>
          <p:cNvSpPr txBox="1"/>
          <p:nvPr/>
        </p:nvSpPr>
        <p:spPr>
          <a:xfrm>
            <a:off x="662940" y="6725431"/>
            <a:ext cx="11018520" cy="2559101"/>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Shared database (MongoDB)</a:t>
            </a:r>
          </a:p>
          <a:p>
            <a:pPr marL="488632" lvl="1" indent="-244316" algn="l">
              <a:lnSpc>
                <a:spcPts val="3240"/>
              </a:lnSpc>
              <a:buFont typeface="Arial"/>
              <a:buChar char="•"/>
            </a:pPr>
            <a:r>
              <a:rPr lang="en-US" sz="2700">
                <a:solidFill>
                  <a:srgbClr val="000000"/>
                </a:solidFill>
                <a:latin typeface="Cambria"/>
                <a:ea typeface="Cambria"/>
                <a:cs typeface="Cambria"/>
                <a:sym typeface="Cambria"/>
              </a:rPr>
              <a:t>Provider profile dataset</a:t>
            </a:r>
          </a:p>
          <a:p>
            <a:pPr marL="488632" lvl="1" indent="-244316" algn="l">
              <a:lnSpc>
                <a:spcPts val="3240"/>
              </a:lnSpc>
              <a:buFont typeface="Arial"/>
              <a:buChar char="•"/>
            </a:pPr>
            <a:r>
              <a:rPr lang="en-US" sz="2700">
                <a:solidFill>
                  <a:srgbClr val="000000"/>
                </a:solidFill>
                <a:latin typeface="Cambria"/>
                <a:ea typeface="Cambria"/>
                <a:cs typeface="Cambria"/>
                <a:sym typeface="Cambria"/>
              </a:rPr>
              <a:t>User interaction history</a:t>
            </a:r>
          </a:p>
          <a:p>
            <a:pPr marL="488632" lvl="1" indent="-244316" algn="l">
              <a:lnSpc>
                <a:spcPts val="3240"/>
              </a:lnSpc>
              <a:buFont typeface="Arial"/>
              <a:buChar char="•"/>
            </a:pPr>
            <a:r>
              <a:rPr lang="en-US" sz="2700">
                <a:solidFill>
                  <a:srgbClr val="000000"/>
                </a:solidFill>
                <a:latin typeface="Cambria"/>
                <a:ea typeface="Cambria"/>
                <a:cs typeface="Cambria"/>
                <a:sym typeface="Cambria"/>
              </a:rPr>
              <a:t>NLP processing modules</a:t>
            </a:r>
          </a:p>
          <a:p>
            <a:pPr marL="488632" lvl="1" indent="-244316" algn="l">
              <a:lnSpc>
                <a:spcPts val="3240"/>
              </a:lnSpc>
            </a:pPr>
            <a:endParaRPr lang="en-US" sz="2700">
              <a:solidFill>
                <a:srgbClr val="000000"/>
              </a:solidFill>
              <a:latin typeface="Cambria"/>
              <a:ea typeface="Cambria"/>
              <a:cs typeface="Cambria"/>
              <a:sym typeface="Cambria"/>
            </a:endParaRPr>
          </a:p>
          <a:p>
            <a:pPr marL="488632" lvl="1" indent="-244316" algn="l">
              <a:lnSpc>
                <a:spcPts val="3240"/>
              </a:lnSpc>
            </a:pPr>
            <a:endParaRPr lang="en-US" sz="2700">
              <a:solidFill>
                <a:srgbClr val="000000"/>
              </a:solidFill>
              <a:latin typeface="Cambria"/>
              <a:ea typeface="Cambria"/>
              <a:cs typeface="Cambria"/>
              <a:sym typeface="Cambria"/>
            </a:endParaRPr>
          </a:p>
        </p:txBody>
      </p:sp>
      <p:grpSp>
        <p:nvGrpSpPr>
          <p:cNvPr id="15" name="Group 15"/>
          <p:cNvGrpSpPr/>
          <p:nvPr/>
        </p:nvGrpSpPr>
        <p:grpSpPr>
          <a:xfrm>
            <a:off x="11430000" y="47063"/>
            <a:ext cx="6858000" cy="9668437"/>
            <a:chOff x="0" y="0"/>
            <a:chExt cx="9144000" cy="12891249"/>
          </a:xfrm>
        </p:grpSpPr>
        <p:sp>
          <p:nvSpPr>
            <p:cNvPr id="16" name="Freeform 16"/>
            <p:cNvSpPr/>
            <p:nvPr/>
          </p:nvSpPr>
          <p:spPr>
            <a:xfrm>
              <a:off x="0" y="0"/>
              <a:ext cx="9144000" cy="12891262"/>
            </a:xfrm>
            <a:custGeom>
              <a:avLst/>
              <a:gdLst/>
              <a:ahLst/>
              <a:cxnLst/>
              <a:rect l="l" t="t" r="r" b="b"/>
              <a:pathLst>
                <a:path w="9144000" h="12891262">
                  <a:moveTo>
                    <a:pt x="0" y="0"/>
                  </a:moveTo>
                  <a:lnTo>
                    <a:pt x="9144000" y="0"/>
                  </a:lnTo>
                  <a:lnTo>
                    <a:pt x="9144000" y="12891262"/>
                  </a:lnTo>
                  <a:lnTo>
                    <a:pt x="0" y="12891262"/>
                  </a:lnTo>
                  <a:lnTo>
                    <a:pt x="0" y="0"/>
                  </a:lnTo>
                  <a:close/>
                </a:path>
              </a:pathLst>
            </a:custGeom>
            <a:blipFill>
              <a:blip r:embed="rId3"/>
              <a:stretch>
                <a:fillRect t="-3198" b="-3198"/>
              </a:stretch>
            </a:blipFill>
          </p:spPr>
        </p:sp>
      </p:grpSp>
      <p:grpSp>
        <p:nvGrpSpPr>
          <p:cNvPr id="17" name="Group 17"/>
          <p:cNvGrpSpPr/>
          <p:nvPr/>
        </p:nvGrpSpPr>
        <p:grpSpPr>
          <a:xfrm>
            <a:off x="4972050" y="9739312"/>
            <a:ext cx="10224545" cy="547688"/>
            <a:chOff x="0" y="0"/>
            <a:chExt cx="13632726" cy="730250"/>
          </a:xfrm>
        </p:grpSpPr>
        <p:sp>
          <p:nvSpPr>
            <p:cNvPr id="18" name="Freeform 18"/>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4">
                <a:alphaModFix amt="0"/>
              </a:blip>
              <a:stretch>
                <a:fillRect t="-313757" b="-313757"/>
              </a:stretch>
            </a:blipFill>
          </p:spPr>
        </p:sp>
        <p:sp>
          <p:nvSpPr>
            <p:cNvPr id="19" name="TextBox 19"/>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IT22371836</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Hewapathirana N.T   </a:t>
              </a:r>
              <a:r>
                <a:rPr lang="en-US" sz="2700">
                  <a:solidFill>
                    <a:srgbClr val="000000"/>
                  </a:solidFill>
                  <a:latin typeface="Cambria"/>
                  <a:ea typeface="Cambria"/>
                  <a:cs typeface="Cambria"/>
                  <a:sym typeface="Cambria"/>
                </a:rPr>
                <a:t>|   RP26-IT-072</a:t>
              </a:r>
            </a:p>
          </p:txBody>
        </p:sp>
      </p:grpSp>
      <p:sp>
        <p:nvSpPr>
          <p:cNvPr id="20" name="TextBox 20"/>
          <p:cNvSpPr txBox="1"/>
          <p:nvPr/>
        </p:nvSpPr>
        <p:spPr>
          <a:xfrm>
            <a:off x="-4023360" y="192176"/>
            <a:ext cx="15361920" cy="375285"/>
          </a:xfrm>
          <a:prstGeom prst="rect">
            <a:avLst/>
          </a:prstGeom>
        </p:spPr>
        <p:txBody>
          <a:bodyPr lIns="0" tIns="0" rIns="0" bIns="0" rtlCol="0" anchor="t">
            <a:spAutoFit/>
          </a:bodyPr>
          <a:lstStyle/>
          <a:p>
            <a:pPr algn="ctr">
              <a:lnSpc>
                <a:spcPts val="2160"/>
              </a:lnSpc>
            </a:pPr>
            <a:r>
              <a:rPr lang="en-US" sz="1800" b="1">
                <a:solidFill>
                  <a:srgbClr val="000000"/>
                </a:solidFill>
                <a:latin typeface="Cambria Bold"/>
                <a:ea typeface="Cambria Bold"/>
                <a:cs typeface="Cambria Bold"/>
                <a:sym typeface="Cambria Bold"/>
              </a:rPr>
              <a:t>HYBRID MULTI-ALGORITHM RECOMMENDATION ENGINE</a:t>
            </a:r>
          </a:p>
        </p:txBody>
      </p:sp>
      <p:sp>
        <p:nvSpPr>
          <p:cNvPr id="21" name="TextBox 21"/>
          <p:cNvSpPr txBox="1"/>
          <p:nvPr/>
        </p:nvSpPr>
        <p:spPr>
          <a:xfrm>
            <a:off x="15531465"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sp>
        <p:nvSpPr>
          <p:cNvPr id="4" name="TextBox 4"/>
          <p:cNvSpPr txBox="1"/>
          <p:nvPr/>
        </p:nvSpPr>
        <p:spPr>
          <a:xfrm>
            <a:off x="777240" y="588645"/>
            <a:ext cx="15361920" cy="1070277"/>
          </a:xfrm>
          <a:prstGeom prst="rect">
            <a:avLst/>
          </a:prstGeom>
        </p:spPr>
        <p:txBody>
          <a:bodyPr lIns="0" tIns="0" rIns="0" bIns="0" rtlCol="0" anchor="t">
            <a:spAutoFit/>
          </a:bodyPr>
          <a:lstStyle/>
          <a:p>
            <a:pPr algn="l">
              <a:lnSpc>
                <a:spcPts val="7200"/>
              </a:lnSpc>
            </a:pPr>
            <a:r>
              <a:rPr lang="en-US" sz="6000" b="1">
                <a:solidFill>
                  <a:srgbClr val="000000"/>
                </a:solidFill>
                <a:latin typeface="Arimo Bold"/>
                <a:ea typeface="Arimo Bold"/>
                <a:cs typeface="Arimo Bold"/>
                <a:sym typeface="Arimo Bold"/>
              </a:rPr>
              <a:t>IT22190048 | MASAKORALA  A H</a:t>
            </a:r>
          </a:p>
        </p:txBody>
      </p:sp>
      <p:grpSp>
        <p:nvGrpSpPr>
          <p:cNvPr id="5" name="Group 5"/>
          <p:cNvGrpSpPr/>
          <p:nvPr/>
        </p:nvGrpSpPr>
        <p:grpSpPr>
          <a:xfrm>
            <a:off x="685800" y="1943100"/>
            <a:ext cx="14401800" cy="1565243"/>
            <a:chOff x="0" y="0"/>
            <a:chExt cx="19202400" cy="2086991"/>
          </a:xfrm>
        </p:grpSpPr>
        <p:sp>
          <p:nvSpPr>
            <p:cNvPr id="6" name="Freeform 6"/>
            <p:cNvSpPr/>
            <p:nvPr/>
          </p:nvSpPr>
          <p:spPr>
            <a:xfrm>
              <a:off x="0" y="0"/>
              <a:ext cx="19202400" cy="2086994"/>
            </a:xfrm>
            <a:custGeom>
              <a:avLst/>
              <a:gdLst/>
              <a:ahLst/>
              <a:cxnLst/>
              <a:rect l="l" t="t" r="r" b="b"/>
              <a:pathLst>
                <a:path w="19202400" h="2086994">
                  <a:moveTo>
                    <a:pt x="0" y="0"/>
                  </a:moveTo>
                  <a:lnTo>
                    <a:pt x="19202400" y="0"/>
                  </a:lnTo>
                  <a:lnTo>
                    <a:pt x="19202400" y="2086994"/>
                  </a:lnTo>
                  <a:lnTo>
                    <a:pt x="0" y="2086994"/>
                  </a:lnTo>
                  <a:close/>
                </a:path>
              </a:pathLst>
            </a:custGeom>
            <a:blipFill>
              <a:blip r:embed="rId3">
                <a:alphaModFix amt="0"/>
              </a:blip>
              <a:stretch>
                <a:fillRect t="-129281" b="-129281"/>
              </a:stretch>
            </a:blipFill>
          </p:spPr>
        </p:sp>
        <p:sp>
          <p:nvSpPr>
            <p:cNvPr id="7" name="TextBox 7"/>
            <p:cNvSpPr txBox="1"/>
            <p:nvPr/>
          </p:nvSpPr>
          <p:spPr>
            <a:xfrm>
              <a:off x="0" y="-9525"/>
              <a:ext cx="19202400" cy="2096516"/>
            </a:xfrm>
            <a:prstGeom prst="rect">
              <a:avLst/>
            </a:prstGeom>
          </p:spPr>
          <p:txBody>
            <a:bodyPr lIns="0" tIns="0" rIns="0" bIns="0" rtlCol="0" anchor="b"/>
            <a:lstStyle/>
            <a:p>
              <a:pPr algn="l">
                <a:lnSpc>
                  <a:spcPts val="4603"/>
                </a:lnSpc>
              </a:pPr>
              <a:r>
                <a:rPr lang="en-US" sz="3836" b="1">
                  <a:solidFill>
                    <a:srgbClr val="000000"/>
                  </a:solidFill>
                  <a:latin typeface="Cambria Bold"/>
                  <a:ea typeface="Cambria Bold"/>
                  <a:cs typeface="Cambria Bold"/>
                  <a:sym typeface="Cambria Bold"/>
                </a:rPr>
                <a:t>Temporal and Contextual Matching Systemfor Service Provider Recommendations(Availability, Location, Weather, and TimeFactors).</a:t>
              </a:r>
            </a:p>
          </p:txBody>
        </p:sp>
      </p:grpSp>
      <p:grpSp>
        <p:nvGrpSpPr>
          <p:cNvPr id="8" name="Group 8"/>
          <p:cNvGrpSpPr/>
          <p:nvPr/>
        </p:nvGrpSpPr>
        <p:grpSpPr>
          <a:xfrm>
            <a:off x="3948655" y="9739312"/>
            <a:ext cx="10224545" cy="547688"/>
            <a:chOff x="0" y="0"/>
            <a:chExt cx="13632726" cy="730250"/>
          </a:xfrm>
        </p:grpSpPr>
        <p:sp>
          <p:nvSpPr>
            <p:cNvPr id="9" name="Freeform 9"/>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10" name="TextBox 10"/>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IT22190048</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Masakorala A H  </a:t>
              </a:r>
              <a:r>
                <a:rPr lang="en-US" sz="2700">
                  <a:solidFill>
                    <a:srgbClr val="000000"/>
                  </a:solidFill>
                  <a:latin typeface="Cambria"/>
                  <a:ea typeface="Cambria"/>
                  <a:cs typeface="Cambria"/>
                  <a:sym typeface="Cambria"/>
                </a:rPr>
                <a:t>|   RP26-IT-072</a:t>
              </a:r>
            </a:p>
          </p:txBody>
        </p:sp>
      </p:grpSp>
      <p:grpSp>
        <p:nvGrpSpPr>
          <p:cNvPr id="11" name="Group 11"/>
          <p:cNvGrpSpPr/>
          <p:nvPr/>
        </p:nvGrpSpPr>
        <p:grpSpPr>
          <a:xfrm>
            <a:off x="15068550" y="358807"/>
            <a:ext cx="3009900" cy="3467100"/>
            <a:chOff x="0" y="0"/>
            <a:chExt cx="4013200" cy="4622800"/>
          </a:xfrm>
        </p:grpSpPr>
        <p:sp>
          <p:nvSpPr>
            <p:cNvPr id="12" name="Freeform 12"/>
            <p:cNvSpPr/>
            <p:nvPr/>
          </p:nvSpPr>
          <p:spPr>
            <a:xfrm>
              <a:off x="25400" y="25400"/>
              <a:ext cx="3962400" cy="4572000"/>
            </a:xfrm>
            <a:custGeom>
              <a:avLst/>
              <a:gdLst/>
              <a:ahLst/>
              <a:cxnLst/>
              <a:rect l="l" t="t" r="r" b="b"/>
              <a:pathLst>
                <a:path w="3962400" h="4572000">
                  <a:moveTo>
                    <a:pt x="0" y="0"/>
                  </a:moveTo>
                  <a:lnTo>
                    <a:pt x="3962400" y="0"/>
                  </a:lnTo>
                  <a:lnTo>
                    <a:pt x="3962400" y="4572000"/>
                  </a:lnTo>
                  <a:lnTo>
                    <a:pt x="0" y="4572000"/>
                  </a:lnTo>
                  <a:close/>
                </a:path>
              </a:pathLst>
            </a:custGeom>
            <a:solidFill>
              <a:srgbClr val="000000"/>
            </a:solidFill>
          </p:spPr>
        </p:sp>
        <p:sp>
          <p:nvSpPr>
            <p:cNvPr id="13" name="Freeform 13"/>
            <p:cNvSpPr/>
            <p:nvPr/>
          </p:nvSpPr>
          <p:spPr>
            <a:xfrm>
              <a:off x="0" y="0"/>
              <a:ext cx="4013200" cy="4622800"/>
            </a:xfrm>
            <a:custGeom>
              <a:avLst/>
              <a:gdLst/>
              <a:ahLst/>
              <a:cxnLst/>
              <a:rect l="l" t="t" r="r" b="b"/>
              <a:pathLst>
                <a:path w="4013200" h="4622800">
                  <a:moveTo>
                    <a:pt x="25400" y="0"/>
                  </a:moveTo>
                  <a:lnTo>
                    <a:pt x="3987800" y="0"/>
                  </a:lnTo>
                  <a:cubicBezTo>
                    <a:pt x="4001770" y="0"/>
                    <a:pt x="4013200" y="11430"/>
                    <a:pt x="4013200" y="25400"/>
                  </a:cubicBezTo>
                  <a:lnTo>
                    <a:pt x="4013200" y="4597400"/>
                  </a:lnTo>
                  <a:cubicBezTo>
                    <a:pt x="4013200" y="4611370"/>
                    <a:pt x="4001770" y="4622800"/>
                    <a:pt x="3987800" y="4622800"/>
                  </a:cubicBezTo>
                  <a:lnTo>
                    <a:pt x="25400" y="4622800"/>
                  </a:lnTo>
                  <a:cubicBezTo>
                    <a:pt x="11430" y="4622800"/>
                    <a:pt x="0" y="4611370"/>
                    <a:pt x="0" y="4597400"/>
                  </a:cubicBezTo>
                  <a:lnTo>
                    <a:pt x="0" y="25400"/>
                  </a:lnTo>
                  <a:cubicBezTo>
                    <a:pt x="0" y="11430"/>
                    <a:pt x="11430" y="0"/>
                    <a:pt x="25400" y="0"/>
                  </a:cubicBezTo>
                  <a:moveTo>
                    <a:pt x="25400" y="50800"/>
                  </a:moveTo>
                  <a:lnTo>
                    <a:pt x="25400" y="25400"/>
                  </a:lnTo>
                  <a:lnTo>
                    <a:pt x="50800" y="25400"/>
                  </a:lnTo>
                  <a:lnTo>
                    <a:pt x="50800" y="4597400"/>
                  </a:lnTo>
                  <a:lnTo>
                    <a:pt x="25400" y="4597400"/>
                  </a:lnTo>
                  <a:lnTo>
                    <a:pt x="25400" y="4572000"/>
                  </a:lnTo>
                  <a:lnTo>
                    <a:pt x="3987800" y="4572000"/>
                  </a:lnTo>
                  <a:lnTo>
                    <a:pt x="3987800" y="4597400"/>
                  </a:lnTo>
                  <a:lnTo>
                    <a:pt x="3962400" y="4597400"/>
                  </a:lnTo>
                  <a:lnTo>
                    <a:pt x="3962400" y="25400"/>
                  </a:lnTo>
                  <a:lnTo>
                    <a:pt x="3987800" y="25400"/>
                  </a:lnTo>
                  <a:lnTo>
                    <a:pt x="3987800" y="50800"/>
                  </a:lnTo>
                  <a:lnTo>
                    <a:pt x="25400" y="50800"/>
                  </a:lnTo>
                  <a:close/>
                </a:path>
              </a:pathLst>
            </a:custGeom>
            <a:solidFill>
              <a:srgbClr val="000000"/>
            </a:solidFill>
          </p:spPr>
        </p:sp>
      </p:grpSp>
      <p:sp>
        <p:nvSpPr>
          <p:cNvPr id="14" name="TextBox 14"/>
          <p:cNvSpPr txBox="1"/>
          <p:nvPr/>
        </p:nvSpPr>
        <p:spPr>
          <a:xfrm>
            <a:off x="797243" y="3662763"/>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Contribution to the Overall Solution</a:t>
            </a:r>
          </a:p>
        </p:txBody>
      </p:sp>
      <p:sp>
        <p:nvSpPr>
          <p:cNvPr id="15" name="TextBox 15"/>
          <p:cNvSpPr txBox="1"/>
          <p:nvPr/>
        </p:nvSpPr>
        <p:spPr>
          <a:xfrm>
            <a:off x="701612" y="5783532"/>
            <a:ext cx="88468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Novelty of the component</a:t>
            </a:r>
          </a:p>
        </p:txBody>
      </p:sp>
      <p:grpSp>
        <p:nvGrpSpPr>
          <p:cNvPr id="16" name="Group 16"/>
          <p:cNvGrpSpPr/>
          <p:nvPr/>
        </p:nvGrpSpPr>
        <p:grpSpPr>
          <a:xfrm>
            <a:off x="610172" y="6322600"/>
            <a:ext cx="17449228" cy="2631491"/>
            <a:chOff x="0" y="0"/>
            <a:chExt cx="23265638" cy="3508654"/>
          </a:xfrm>
        </p:grpSpPr>
        <p:sp>
          <p:nvSpPr>
            <p:cNvPr id="17" name="Freeform 17"/>
            <p:cNvSpPr/>
            <p:nvPr/>
          </p:nvSpPr>
          <p:spPr>
            <a:xfrm>
              <a:off x="0" y="0"/>
              <a:ext cx="23265640" cy="3508652"/>
            </a:xfrm>
            <a:custGeom>
              <a:avLst/>
              <a:gdLst/>
              <a:ahLst/>
              <a:cxnLst/>
              <a:rect l="l" t="t" r="r" b="b"/>
              <a:pathLst>
                <a:path w="23265640" h="3508652">
                  <a:moveTo>
                    <a:pt x="0" y="0"/>
                  </a:moveTo>
                  <a:lnTo>
                    <a:pt x="23265640" y="0"/>
                  </a:lnTo>
                  <a:lnTo>
                    <a:pt x="23265640" y="3508652"/>
                  </a:lnTo>
                  <a:lnTo>
                    <a:pt x="0" y="3508652"/>
                  </a:lnTo>
                  <a:close/>
                </a:path>
              </a:pathLst>
            </a:custGeom>
            <a:blipFill>
              <a:blip r:embed="rId3">
                <a:alphaModFix amt="0"/>
              </a:blip>
              <a:stretch>
                <a:fillRect t="-79203" b="-79204"/>
              </a:stretch>
            </a:blipFill>
          </p:spPr>
        </p:sp>
        <p:sp>
          <p:nvSpPr>
            <p:cNvPr id="18" name="TextBox 18"/>
            <p:cNvSpPr txBox="1"/>
            <p:nvPr/>
          </p:nvSpPr>
          <p:spPr>
            <a:xfrm>
              <a:off x="0" y="-19050"/>
              <a:ext cx="23265638" cy="3527704"/>
            </a:xfrm>
            <a:prstGeom prst="rect">
              <a:avLst/>
            </a:prstGeom>
          </p:spPr>
          <p:txBody>
            <a:bodyPr lIns="0" tIns="0" rIns="0" bIns="0" rtlCol="0" anchor="ct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Real-Time Dynamic Matching – Live, context-aware recommendations instead of static listings</a:t>
              </a:r>
            </a:p>
            <a:p>
              <a:pPr marL="488632" lvl="1" indent="-244316" algn="l">
                <a:lnSpc>
                  <a:spcPts val="3240"/>
                </a:lnSpc>
                <a:buFont typeface="Arial"/>
                <a:buChar char="•"/>
              </a:pPr>
              <a:r>
                <a:rPr lang="en-US" sz="2700">
                  <a:solidFill>
                    <a:srgbClr val="000000"/>
                  </a:solidFill>
                  <a:latin typeface="Cambria"/>
                  <a:ea typeface="Cambria"/>
                  <a:cs typeface="Cambria"/>
                  <a:sym typeface="Cambria"/>
                </a:rPr>
                <a:t>Weather-Aware Compatibility – Filters matches using weather-service matrix</a:t>
              </a:r>
            </a:p>
            <a:p>
              <a:pPr marL="488632" lvl="1" indent="-244316" algn="l">
                <a:lnSpc>
                  <a:spcPts val="3240"/>
                </a:lnSpc>
                <a:buFont typeface="Arial"/>
                <a:buChar char="•"/>
              </a:pPr>
              <a:r>
                <a:rPr lang="en-US" sz="2700">
                  <a:solidFill>
                    <a:srgbClr val="000000"/>
                  </a:solidFill>
                  <a:latin typeface="Cambria"/>
                  <a:ea typeface="Cambria"/>
                  <a:cs typeface="Cambria"/>
                  <a:sym typeface="Cambria"/>
                </a:rPr>
                <a:t>Precision Geospatial Scoring – Haversine + Google Maps API with traffic; travel time 32min → 16min</a:t>
              </a:r>
            </a:p>
            <a:p>
              <a:pPr marL="488632" lvl="1" indent="-244316" algn="l">
                <a:lnSpc>
                  <a:spcPts val="3240"/>
                </a:lnSpc>
                <a:buFont typeface="Arial"/>
                <a:buChar char="•"/>
              </a:pPr>
              <a:r>
                <a:rPr lang="en-US" sz="2700">
                  <a:solidFill>
                    <a:srgbClr val="000000"/>
                  </a:solidFill>
                  <a:latin typeface="Cambria"/>
                  <a:ea typeface="Cambria"/>
                  <a:cs typeface="Cambria"/>
                  <a:sym typeface="Cambria"/>
                </a:rPr>
                <a:t>Temporal Demand Forecasting – ARIMA/SARIMA predicts availability for peak load balancing</a:t>
              </a:r>
            </a:p>
            <a:p>
              <a:pPr marL="488632" lvl="1" indent="-244316" algn="l">
                <a:lnSpc>
                  <a:spcPts val="3240"/>
                </a:lnSpc>
                <a:buFont typeface="Arial"/>
                <a:buChar char="•"/>
              </a:pPr>
              <a:r>
                <a:rPr lang="en-US" sz="2700">
                  <a:solidFill>
                    <a:srgbClr val="000000"/>
                  </a:solidFill>
                  <a:latin typeface="Cambria"/>
                  <a:ea typeface="Cambria"/>
                  <a:cs typeface="Cambria"/>
                  <a:sym typeface="Cambria"/>
                </a:rPr>
                <a:t>Multi-Factor Weighted Scoring – First AHP-derived 4-factor scoring (40-30-20-10) for Sri Lanka; booking success 61% → 87.6%</a:t>
              </a:r>
            </a:p>
          </p:txBody>
        </p:sp>
      </p:grpSp>
      <p:grpSp>
        <p:nvGrpSpPr>
          <p:cNvPr id="19" name="Group 19"/>
          <p:cNvGrpSpPr/>
          <p:nvPr/>
        </p:nvGrpSpPr>
        <p:grpSpPr>
          <a:xfrm>
            <a:off x="610172" y="3736886"/>
            <a:ext cx="17677828" cy="1800492"/>
            <a:chOff x="0" y="0"/>
            <a:chExt cx="23570438" cy="2400656"/>
          </a:xfrm>
        </p:grpSpPr>
        <p:sp>
          <p:nvSpPr>
            <p:cNvPr id="20" name="Freeform 20"/>
            <p:cNvSpPr/>
            <p:nvPr/>
          </p:nvSpPr>
          <p:spPr>
            <a:xfrm>
              <a:off x="0" y="0"/>
              <a:ext cx="23570440" cy="2400658"/>
            </a:xfrm>
            <a:custGeom>
              <a:avLst/>
              <a:gdLst/>
              <a:ahLst/>
              <a:cxnLst/>
              <a:rect l="l" t="t" r="r" b="b"/>
              <a:pathLst>
                <a:path w="23570440" h="2400658">
                  <a:moveTo>
                    <a:pt x="0" y="0"/>
                  </a:moveTo>
                  <a:lnTo>
                    <a:pt x="23570440" y="0"/>
                  </a:lnTo>
                  <a:lnTo>
                    <a:pt x="23570440" y="2400658"/>
                  </a:lnTo>
                  <a:lnTo>
                    <a:pt x="0" y="2400658"/>
                  </a:lnTo>
                  <a:close/>
                </a:path>
              </a:pathLst>
            </a:custGeom>
            <a:blipFill>
              <a:blip r:embed="rId3">
                <a:alphaModFix amt="0"/>
              </a:blip>
              <a:stretch>
                <a:fillRect t="-141310" b="-141310"/>
              </a:stretch>
            </a:blipFill>
          </p:spPr>
        </p:sp>
        <p:sp>
          <p:nvSpPr>
            <p:cNvPr id="21" name="TextBox 21"/>
            <p:cNvSpPr txBox="1"/>
            <p:nvPr/>
          </p:nvSpPr>
          <p:spPr>
            <a:xfrm>
              <a:off x="0" y="-19050"/>
              <a:ext cx="23570438" cy="2419706"/>
            </a:xfrm>
            <a:prstGeom prst="rect">
              <a:avLst/>
            </a:prstGeom>
          </p:spPr>
          <p:txBody>
            <a:bodyPr lIns="0" tIns="0" rIns="0" bIns="0" rtlCol="0" anchor="ctr"/>
            <a:lstStyle/>
            <a:p>
              <a:pPr algn="l">
                <a:lnSpc>
                  <a:spcPts val="3240"/>
                </a:lnSpc>
              </a:pPr>
              <a:endParaRPr/>
            </a:p>
            <a:p>
              <a:pPr algn="l">
                <a:lnSpc>
                  <a:spcPts val="3240"/>
                </a:lnSpc>
              </a:pPr>
              <a:r>
                <a:rPr lang="en-US" sz="2700">
                  <a:solidFill>
                    <a:srgbClr val="000000"/>
                  </a:solidFill>
                  <a:latin typeface="Cambria"/>
                  <a:ea typeface="Cambria"/>
                  <a:cs typeface="Cambria"/>
                  <a:sym typeface="Cambria"/>
                </a:rPr>
                <a:t>• Real-Time Contextual Filtering: Refines provider list from Component 1 using live conditions. </a:t>
              </a:r>
            </a:p>
            <a:p>
              <a:pPr algn="l">
                <a:lnSpc>
                  <a:spcPts val="3240"/>
                </a:lnSpc>
              </a:pPr>
              <a:r>
                <a:rPr lang="en-US" sz="2700">
                  <a:solidFill>
                    <a:srgbClr val="000000"/>
                  </a:solidFill>
                  <a:latin typeface="Cambria"/>
                  <a:ea typeface="Cambria"/>
                  <a:cs typeface="Cambria"/>
                  <a:sym typeface="Cambria"/>
                </a:rPr>
                <a:t>• Dynamic Matching Factors: Availability, distance, travel time, weather, demand patterns. </a:t>
              </a:r>
            </a:p>
            <a:p>
              <a:pPr algn="l">
                <a:lnSpc>
                  <a:spcPts val="3240"/>
                </a:lnSpc>
              </a:pPr>
              <a:r>
                <a:rPr lang="en-US" sz="2700">
                  <a:solidFill>
                    <a:srgbClr val="000000"/>
                  </a:solidFill>
                  <a:latin typeface="Cambria"/>
                  <a:ea typeface="Cambria"/>
                  <a:cs typeface="Cambria"/>
                  <a:sym typeface="Cambria"/>
                </a:rPr>
                <a:t>• Improved Recommendation Accuracy: Ensures providers are suitable and reachable.</a:t>
              </a:r>
            </a:p>
          </p:txBody>
        </p:sp>
      </p:grpSp>
      <p:grpSp>
        <p:nvGrpSpPr>
          <p:cNvPr id="22" name="Group 22"/>
          <p:cNvGrpSpPr/>
          <p:nvPr/>
        </p:nvGrpSpPr>
        <p:grpSpPr>
          <a:xfrm>
            <a:off x="14973300" y="342900"/>
            <a:ext cx="3086100" cy="3543300"/>
            <a:chOff x="0" y="0"/>
            <a:chExt cx="4114800" cy="4724400"/>
          </a:xfrm>
        </p:grpSpPr>
        <p:sp>
          <p:nvSpPr>
            <p:cNvPr id="23" name="Freeform 23"/>
            <p:cNvSpPr/>
            <p:nvPr/>
          </p:nvSpPr>
          <p:spPr>
            <a:xfrm>
              <a:off x="0" y="0"/>
              <a:ext cx="4114800" cy="4724400"/>
            </a:xfrm>
            <a:custGeom>
              <a:avLst/>
              <a:gdLst/>
              <a:ahLst/>
              <a:cxnLst/>
              <a:rect l="l" t="t" r="r" b="b"/>
              <a:pathLst>
                <a:path w="4114800" h="4724400">
                  <a:moveTo>
                    <a:pt x="0" y="0"/>
                  </a:moveTo>
                  <a:lnTo>
                    <a:pt x="4114800" y="0"/>
                  </a:lnTo>
                  <a:lnTo>
                    <a:pt x="4114800" y="4724400"/>
                  </a:lnTo>
                  <a:lnTo>
                    <a:pt x="0" y="4724400"/>
                  </a:lnTo>
                  <a:lnTo>
                    <a:pt x="0" y="0"/>
                  </a:lnTo>
                  <a:close/>
                </a:path>
              </a:pathLst>
            </a:custGeom>
            <a:blipFill>
              <a:blip r:embed="rId4"/>
              <a:stretch>
                <a:fillRect t="-58" b="-58"/>
              </a:stretch>
            </a:blipFill>
          </p:spPr>
        </p:sp>
      </p:grpSp>
      <p:sp>
        <p:nvSpPr>
          <p:cNvPr id="24" name="TextBox 24"/>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3948655" y="9739312"/>
            <a:ext cx="10224545" cy="547688"/>
            <a:chOff x="0" y="0"/>
            <a:chExt cx="13632726" cy="730250"/>
          </a:xfrm>
        </p:grpSpPr>
        <p:sp>
          <p:nvSpPr>
            <p:cNvPr id="5" name="Freeform 5"/>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6" name="TextBox 6"/>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ITXXXXXXXX</a:t>
              </a:r>
              <a:r>
                <a:rPr lang="en-US" sz="2700">
                  <a:solidFill>
                    <a:srgbClr val="000000"/>
                  </a:solidFill>
                  <a:latin typeface="Cambria"/>
                  <a:ea typeface="Cambria"/>
                  <a:cs typeface="Cambria"/>
                  <a:sym typeface="Cambria"/>
                </a:rPr>
                <a:t>   |   &lt;</a:t>
              </a:r>
              <a:r>
                <a:rPr lang="en-US" sz="2700" b="1">
                  <a:solidFill>
                    <a:srgbClr val="000000"/>
                  </a:solidFill>
                  <a:latin typeface="Cambria Bold"/>
                  <a:ea typeface="Cambria Bold"/>
                  <a:cs typeface="Cambria Bold"/>
                  <a:sym typeface="Cambria Bold"/>
                </a:rPr>
                <a:t>&lt;Student Name&gt;&gt;   </a:t>
              </a:r>
              <a:r>
                <a:rPr lang="en-US" sz="2700">
                  <a:solidFill>
                    <a:srgbClr val="000000"/>
                  </a:solidFill>
                  <a:latin typeface="Cambria"/>
                  <a:ea typeface="Cambria"/>
                  <a:cs typeface="Cambria"/>
                  <a:sym typeface="Cambria"/>
                </a:rPr>
                <a:t>|   &lt;&lt;Project ID&gt;&gt;</a:t>
              </a:r>
            </a:p>
          </p:txBody>
        </p:sp>
      </p:grpSp>
      <p:sp>
        <p:nvSpPr>
          <p:cNvPr id="7" name="TextBox 7"/>
          <p:cNvSpPr txBox="1"/>
          <p:nvPr/>
        </p:nvSpPr>
        <p:spPr>
          <a:xfrm>
            <a:off x="642766" y="143770"/>
            <a:ext cx="16525094" cy="37528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Temporal and Contextual Matching System for Service Provider Recommendations(Availability, Location, Weather, and TimeFactors).</a:t>
            </a:r>
          </a:p>
        </p:txBody>
      </p:sp>
      <p:sp>
        <p:nvSpPr>
          <p:cNvPr id="8" name="TextBox 8"/>
          <p:cNvSpPr txBox="1"/>
          <p:nvPr/>
        </p:nvSpPr>
        <p:spPr>
          <a:xfrm>
            <a:off x="636051" y="649415"/>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Problem Definition</a:t>
            </a:r>
          </a:p>
        </p:txBody>
      </p:sp>
      <p:grpSp>
        <p:nvGrpSpPr>
          <p:cNvPr id="9" name="Group 9"/>
          <p:cNvGrpSpPr/>
          <p:nvPr/>
        </p:nvGrpSpPr>
        <p:grpSpPr>
          <a:xfrm>
            <a:off x="523103" y="1082888"/>
            <a:ext cx="16002000" cy="3046990"/>
            <a:chOff x="0" y="0"/>
            <a:chExt cx="21336000" cy="4062654"/>
          </a:xfrm>
        </p:grpSpPr>
        <p:sp>
          <p:nvSpPr>
            <p:cNvPr id="10" name="Freeform 10"/>
            <p:cNvSpPr/>
            <p:nvPr/>
          </p:nvSpPr>
          <p:spPr>
            <a:xfrm>
              <a:off x="0" y="0"/>
              <a:ext cx="21336000" cy="4062650"/>
            </a:xfrm>
            <a:custGeom>
              <a:avLst/>
              <a:gdLst/>
              <a:ahLst/>
              <a:cxnLst/>
              <a:rect l="l" t="t" r="r" b="b"/>
              <a:pathLst>
                <a:path w="21336000" h="4062650">
                  <a:moveTo>
                    <a:pt x="0" y="0"/>
                  </a:moveTo>
                  <a:lnTo>
                    <a:pt x="21336000" y="0"/>
                  </a:lnTo>
                  <a:lnTo>
                    <a:pt x="21336000" y="4062650"/>
                  </a:lnTo>
                  <a:lnTo>
                    <a:pt x="0" y="4062650"/>
                  </a:lnTo>
                  <a:close/>
                </a:path>
              </a:pathLst>
            </a:custGeom>
            <a:blipFill>
              <a:blip r:embed="rId3">
                <a:alphaModFix amt="0"/>
              </a:blip>
              <a:stretch>
                <a:fillRect t="-52330" b="-52330"/>
              </a:stretch>
            </a:blipFill>
          </p:spPr>
        </p:sp>
        <p:sp>
          <p:nvSpPr>
            <p:cNvPr id="11" name="TextBox 11"/>
            <p:cNvSpPr txBox="1"/>
            <p:nvPr/>
          </p:nvSpPr>
          <p:spPr>
            <a:xfrm>
              <a:off x="0" y="-19050"/>
              <a:ext cx="21336000" cy="4081704"/>
            </a:xfrm>
            <a:prstGeom prst="rect">
              <a:avLst/>
            </a:prstGeom>
          </p:spPr>
          <p:txBody>
            <a:bodyPr lIns="0" tIns="0" rIns="0" bIns="0" rtlCol="0" anchor="ctr"/>
            <a:lstStyle/>
            <a:p>
              <a:pPr algn="l">
                <a:lnSpc>
                  <a:spcPts val="3240"/>
                </a:lnSpc>
              </a:pPr>
              <a:r>
                <a:rPr lang="en-US" sz="2700">
                  <a:solidFill>
                    <a:srgbClr val="000000"/>
                  </a:solidFill>
                  <a:latin typeface="Cambria"/>
                  <a:ea typeface="Cambria"/>
                  <a:cs typeface="Cambria"/>
                  <a:sym typeface="Cambria"/>
                </a:rPr>
                <a:t>The Problem: Current platforms like ikman.lk show static ads with no real-time info. Users waste 45+ minutes calling multiple providers, with 45% calls unanswered. Distance is guessed, traffic ignored, weather overlooked, providers overworked. Only 61% booking success.</a:t>
              </a:r>
            </a:p>
            <a:p>
              <a:pPr algn="l">
                <a:lnSpc>
                  <a:spcPts val="3240"/>
                </a:lnSpc>
              </a:pPr>
              <a:endParaRPr lang="en-US" sz="2700">
                <a:solidFill>
                  <a:srgbClr val="000000"/>
                </a:solidFill>
                <a:latin typeface="Cambria"/>
                <a:ea typeface="Cambria"/>
                <a:cs typeface="Cambria"/>
                <a:sym typeface="Cambria"/>
              </a:endParaRPr>
            </a:p>
            <a:p>
              <a:pPr algn="l">
                <a:lnSpc>
                  <a:spcPts val="3240"/>
                </a:lnSpc>
              </a:pPr>
              <a:r>
                <a:rPr lang="en-US" sz="2700">
                  <a:solidFill>
                    <a:srgbClr val="000000"/>
                  </a:solidFill>
                  <a:latin typeface="Cambria"/>
                  <a:ea typeface="Cambria"/>
                  <a:cs typeface="Cambria"/>
                  <a:sym typeface="Cambria"/>
                </a:rPr>
                <a:t>The Solution: My component tracks live provider availability via WebSocket. Google Maps calculates real distance with traffic, cutting travel time from 32 to 16 minutes. Weather matrix blocks unsafe outdoor work. Demand forecasting balances workload, cutting wait time 30%. Booking success rises to 87.6%.</a:t>
              </a:r>
            </a:p>
          </p:txBody>
        </p:sp>
      </p:grpSp>
      <p:sp>
        <p:nvSpPr>
          <p:cNvPr id="12" name="TextBox 12"/>
          <p:cNvSpPr txBox="1"/>
          <p:nvPr/>
        </p:nvSpPr>
        <p:spPr>
          <a:xfrm>
            <a:off x="662940" y="4387567"/>
            <a:ext cx="88468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Research Objectives</a:t>
            </a:r>
          </a:p>
        </p:txBody>
      </p:sp>
      <p:sp>
        <p:nvSpPr>
          <p:cNvPr id="13" name="TextBox 13"/>
          <p:cNvSpPr txBox="1"/>
          <p:nvPr/>
        </p:nvSpPr>
        <p:spPr>
          <a:xfrm>
            <a:off x="662940" y="4985785"/>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Main Objective : </a:t>
            </a:r>
          </a:p>
        </p:txBody>
      </p:sp>
      <p:sp>
        <p:nvSpPr>
          <p:cNvPr id="14" name="TextBox 14"/>
          <p:cNvSpPr txBox="1"/>
          <p:nvPr/>
        </p:nvSpPr>
        <p:spPr>
          <a:xfrm>
            <a:off x="3520440" y="5037601"/>
            <a:ext cx="13426745" cy="1312602"/>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To achieve 87.6% booking success rate using weighted scoring (40-30-20-10) with Google Maps, OpenWeather, WebSocket tracking, and SARIMA forecasting. Delivers sub-2-second response for 1000+ concurrent users.</a:t>
            </a:r>
          </a:p>
        </p:txBody>
      </p:sp>
      <p:sp>
        <p:nvSpPr>
          <p:cNvPr id="15" name="TextBox 15"/>
          <p:cNvSpPr txBox="1"/>
          <p:nvPr/>
        </p:nvSpPr>
        <p:spPr>
          <a:xfrm>
            <a:off x="777240" y="6436995"/>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Sub Objectives :   </a:t>
            </a:r>
          </a:p>
        </p:txBody>
      </p:sp>
      <p:sp>
        <p:nvSpPr>
          <p:cNvPr id="16" name="TextBox 16"/>
          <p:cNvSpPr txBox="1"/>
          <p:nvPr/>
        </p:nvSpPr>
        <p:spPr>
          <a:xfrm>
            <a:off x="3520440" y="6427470"/>
            <a:ext cx="13647420" cy="3390100"/>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Weighted scoring engine (40-30-20-10) integrating distance, availability, weather, and demand.</a:t>
            </a:r>
          </a:p>
          <a:p>
            <a:pPr marL="488632" lvl="1" indent="-244316" algn="l">
              <a:lnSpc>
                <a:spcPts val="3240"/>
              </a:lnSpc>
              <a:buFont typeface="Arial"/>
              <a:buChar char="•"/>
            </a:pPr>
            <a:r>
              <a:rPr lang="en-US" sz="2700">
                <a:solidFill>
                  <a:srgbClr val="000000"/>
                </a:solidFill>
                <a:latin typeface="Cambria"/>
                <a:ea typeface="Cambria"/>
                <a:cs typeface="Cambria"/>
                <a:sym typeface="Cambria"/>
              </a:rPr>
              <a:t>Geospatial intelligence with Haversine and Google Maps API for traffic-aware travel time.</a:t>
            </a:r>
          </a:p>
          <a:p>
            <a:pPr marL="488632" lvl="1" indent="-244316" algn="l">
              <a:lnSpc>
                <a:spcPts val="3240"/>
              </a:lnSpc>
              <a:buFont typeface="Arial"/>
              <a:buChar char="•"/>
            </a:pPr>
            <a:r>
              <a:rPr lang="en-US" sz="2700">
                <a:solidFill>
                  <a:srgbClr val="000000"/>
                </a:solidFill>
                <a:latin typeface="Cambria"/>
                <a:ea typeface="Cambria"/>
                <a:cs typeface="Cambria"/>
                <a:sym typeface="Cambria"/>
              </a:rPr>
              <a:t>WebSocket + LSTM system for live provider tracking and availability prediction.</a:t>
            </a:r>
          </a:p>
          <a:p>
            <a:pPr marL="488632" lvl="1" indent="-244316" algn="l">
              <a:lnSpc>
                <a:spcPts val="3240"/>
              </a:lnSpc>
              <a:buFont typeface="Arial"/>
              <a:buChar char="•"/>
            </a:pPr>
            <a:r>
              <a:rPr lang="en-US" sz="2700">
                <a:solidFill>
                  <a:srgbClr val="000000"/>
                </a:solidFill>
                <a:latin typeface="Cambria"/>
                <a:ea typeface="Cambria"/>
                <a:cs typeface="Cambria"/>
                <a:sym typeface="Cambria"/>
              </a:rPr>
              <a:t>Weather-service compatibility matrix using OpenWeather for safe adverse weather matching.</a:t>
            </a:r>
          </a:p>
          <a:p>
            <a:pPr marL="488632" lvl="1" indent="-244316" algn="l">
              <a:lnSpc>
                <a:spcPts val="3240"/>
              </a:lnSpc>
              <a:buFont typeface="Arial"/>
              <a:buChar char="•"/>
            </a:pPr>
            <a:r>
              <a:rPr lang="en-US" sz="2700">
                <a:solidFill>
                  <a:srgbClr val="000000"/>
                </a:solidFill>
                <a:latin typeface="Cambria"/>
                <a:ea typeface="Cambria"/>
                <a:cs typeface="Cambria"/>
                <a:sym typeface="Cambria"/>
              </a:rPr>
              <a:t>SARIMA demand forecasting for load balancing to reduce waiting time by 30%.</a:t>
            </a:r>
          </a:p>
          <a:p>
            <a:pPr marL="488632" lvl="1" indent="-244316" algn="l">
              <a:lnSpc>
                <a:spcPts val="3240"/>
              </a:lnSpc>
              <a:buFont typeface="Arial"/>
              <a:buChar char="•"/>
            </a:pPr>
            <a:r>
              <a:rPr lang="en-US" sz="2700">
                <a:solidFill>
                  <a:srgbClr val="000000"/>
                </a:solidFill>
                <a:latin typeface="Cambria"/>
                <a:ea typeface="Cambria"/>
                <a:cs typeface="Cambria"/>
                <a:sym typeface="Cambria"/>
              </a:rPr>
              <a:t>System validation through testing and pilot with 50 providers + 200 users.</a:t>
            </a:r>
          </a:p>
        </p:txBody>
      </p:sp>
      <p:grpSp>
        <p:nvGrpSpPr>
          <p:cNvPr id="17" name="Group 17"/>
          <p:cNvGrpSpPr/>
          <p:nvPr/>
        </p:nvGrpSpPr>
        <p:grpSpPr>
          <a:xfrm>
            <a:off x="3981450" y="9844240"/>
            <a:ext cx="8610600" cy="347510"/>
            <a:chOff x="0" y="0"/>
            <a:chExt cx="11480800" cy="463347"/>
          </a:xfrm>
        </p:grpSpPr>
        <p:sp>
          <p:nvSpPr>
            <p:cNvPr id="18" name="Freeform 18"/>
            <p:cNvSpPr/>
            <p:nvPr/>
          </p:nvSpPr>
          <p:spPr>
            <a:xfrm>
              <a:off x="25400" y="25400"/>
              <a:ext cx="11430000" cy="412496"/>
            </a:xfrm>
            <a:custGeom>
              <a:avLst/>
              <a:gdLst/>
              <a:ahLst/>
              <a:cxnLst/>
              <a:rect l="l" t="t" r="r" b="b"/>
              <a:pathLst>
                <a:path w="11430000" h="412496">
                  <a:moveTo>
                    <a:pt x="0" y="0"/>
                  </a:moveTo>
                  <a:lnTo>
                    <a:pt x="11430000" y="0"/>
                  </a:lnTo>
                  <a:lnTo>
                    <a:pt x="11430000" y="412496"/>
                  </a:lnTo>
                  <a:lnTo>
                    <a:pt x="0" y="412496"/>
                  </a:lnTo>
                  <a:close/>
                </a:path>
              </a:pathLst>
            </a:custGeom>
            <a:solidFill>
              <a:srgbClr val="FFFFFF"/>
            </a:solidFill>
          </p:spPr>
        </p:sp>
        <p:sp>
          <p:nvSpPr>
            <p:cNvPr id="19" name="Freeform 19"/>
            <p:cNvSpPr/>
            <p:nvPr/>
          </p:nvSpPr>
          <p:spPr>
            <a:xfrm>
              <a:off x="0" y="0"/>
              <a:ext cx="11480800" cy="463296"/>
            </a:xfrm>
            <a:custGeom>
              <a:avLst/>
              <a:gdLst/>
              <a:ahLst/>
              <a:cxnLst/>
              <a:rect l="l" t="t" r="r" b="b"/>
              <a:pathLst>
                <a:path w="11480800" h="463296">
                  <a:moveTo>
                    <a:pt x="25400" y="0"/>
                  </a:moveTo>
                  <a:lnTo>
                    <a:pt x="11455400" y="0"/>
                  </a:lnTo>
                  <a:cubicBezTo>
                    <a:pt x="11469370" y="0"/>
                    <a:pt x="11480800" y="11430"/>
                    <a:pt x="11480800" y="25400"/>
                  </a:cubicBezTo>
                  <a:lnTo>
                    <a:pt x="11480800" y="437896"/>
                  </a:lnTo>
                  <a:cubicBezTo>
                    <a:pt x="11480800" y="451866"/>
                    <a:pt x="11469370" y="463296"/>
                    <a:pt x="11455400" y="463296"/>
                  </a:cubicBezTo>
                  <a:lnTo>
                    <a:pt x="25400" y="463296"/>
                  </a:lnTo>
                  <a:cubicBezTo>
                    <a:pt x="11430" y="463296"/>
                    <a:pt x="0" y="451866"/>
                    <a:pt x="0" y="437896"/>
                  </a:cubicBezTo>
                  <a:lnTo>
                    <a:pt x="0" y="25400"/>
                  </a:lnTo>
                  <a:cubicBezTo>
                    <a:pt x="0" y="11430"/>
                    <a:pt x="11430" y="0"/>
                    <a:pt x="25400" y="0"/>
                  </a:cubicBezTo>
                  <a:moveTo>
                    <a:pt x="25400" y="50800"/>
                  </a:moveTo>
                  <a:lnTo>
                    <a:pt x="25400" y="25400"/>
                  </a:lnTo>
                  <a:lnTo>
                    <a:pt x="50800" y="25400"/>
                  </a:lnTo>
                  <a:lnTo>
                    <a:pt x="50800" y="437896"/>
                  </a:lnTo>
                  <a:lnTo>
                    <a:pt x="25400" y="437896"/>
                  </a:lnTo>
                  <a:lnTo>
                    <a:pt x="25400" y="412496"/>
                  </a:lnTo>
                  <a:lnTo>
                    <a:pt x="11455400" y="412496"/>
                  </a:lnTo>
                  <a:lnTo>
                    <a:pt x="11455400" y="437896"/>
                  </a:lnTo>
                  <a:lnTo>
                    <a:pt x="11430000" y="437896"/>
                  </a:lnTo>
                  <a:lnTo>
                    <a:pt x="11430000" y="25400"/>
                  </a:lnTo>
                  <a:lnTo>
                    <a:pt x="11455400" y="25400"/>
                  </a:lnTo>
                  <a:lnTo>
                    <a:pt x="11455400" y="50800"/>
                  </a:lnTo>
                  <a:lnTo>
                    <a:pt x="25400" y="50800"/>
                  </a:lnTo>
                  <a:close/>
                </a:path>
              </a:pathLst>
            </a:custGeom>
            <a:solidFill>
              <a:srgbClr val="FFFFFF"/>
            </a:solidFill>
          </p:spPr>
        </p:sp>
      </p:grpSp>
      <p:grpSp>
        <p:nvGrpSpPr>
          <p:cNvPr id="20" name="Group 20"/>
          <p:cNvGrpSpPr/>
          <p:nvPr/>
        </p:nvGrpSpPr>
        <p:grpSpPr>
          <a:xfrm>
            <a:off x="3948655" y="9739312"/>
            <a:ext cx="10224545" cy="547688"/>
            <a:chOff x="0" y="0"/>
            <a:chExt cx="13632726" cy="730250"/>
          </a:xfrm>
        </p:grpSpPr>
        <p:sp>
          <p:nvSpPr>
            <p:cNvPr id="21" name="Freeform 21"/>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22" name="TextBox 22"/>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IT22190048</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Masakorala A H  </a:t>
              </a:r>
              <a:r>
                <a:rPr lang="en-US" sz="2700">
                  <a:solidFill>
                    <a:srgbClr val="000000"/>
                  </a:solidFill>
                  <a:latin typeface="Cambria"/>
                  <a:ea typeface="Cambria"/>
                  <a:cs typeface="Cambria"/>
                  <a:sym typeface="Cambria"/>
                </a:rPr>
                <a:t>|   RP26-IT-072</a:t>
              </a:r>
            </a:p>
          </p:txBody>
        </p:sp>
      </p:grpSp>
      <p:sp>
        <p:nvSpPr>
          <p:cNvPr id="23" name="TextBox 23"/>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3948655" y="9739312"/>
            <a:ext cx="10224545" cy="547688"/>
            <a:chOff x="0" y="0"/>
            <a:chExt cx="13632726" cy="730250"/>
          </a:xfrm>
        </p:grpSpPr>
        <p:sp>
          <p:nvSpPr>
            <p:cNvPr id="5" name="Freeform 5"/>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6" name="TextBox 6"/>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ITXXXXXXXX</a:t>
              </a:r>
              <a:r>
                <a:rPr lang="en-US" sz="2700">
                  <a:solidFill>
                    <a:srgbClr val="000000"/>
                  </a:solidFill>
                  <a:latin typeface="Cambria"/>
                  <a:ea typeface="Cambria"/>
                  <a:cs typeface="Cambria"/>
                  <a:sym typeface="Cambria"/>
                </a:rPr>
                <a:t>   |   &lt;</a:t>
              </a:r>
              <a:r>
                <a:rPr lang="en-US" sz="2700" b="1">
                  <a:solidFill>
                    <a:srgbClr val="000000"/>
                  </a:solidFill>
                  <a:latin typeface="Cambria Bold"/>
                  <a:ea typeface="Cambria Bold"/>
                  <a:cs typeface="Cambria Bold"/>
                  <a:sym typeface="Cambria Bold"/>
                </a:rPr>
                <a:t>&lt;Student Name&gt;&gt;   </a:t>
              </a:r>
              <a:r>
                <a:rPr lang="en-US" sz="2700">
                  <a:solidFill>
                    <a:srgbClr val="000000"/>
                  </a:solidFill>
                  <a:latin typeface="Cambria"/>
                  <a:ea typeface="Cambria"/>
                  <a:cs typeface="Cambria"/>
                  <a:sym typeface="Cambria"/>
                </a:rPr>
                <a:t>|   &lt;&lt;Project ID&gt;&gt;</a:t>
              </a:r>
            </a:p>
          </p:txBody>
        </p:sp>
      </p:grpSp>
      <p:sp>
        <p:nvSpPr>
          <p:cNvPr id="7" name="TextBox 7"/>
          <p:cNvSpPr txBox="1"/>
          <p:nvPr/>
        </p:nvSpPr>
        <p:spPr>
          <a:xfrm>
            <a:off x="642766" y="598170"/>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Application of Domain Knowledge</a:t>
            </a:r>
          </a:p>
        </p:txBody>
      </p:sp>
      <p:grpSp>
        <p:nvGrpSpPr>
          <p:cNvPr id="8" name="Group 8"/>
          <p:cNvGrpSpPr/>
          <p:nvPr/>
        </p:nvGrpSpPr>
        <p:grpSpPr>
          <a:xfrm>
            <a:off x="551326" y="1026109"/>
            <a:ext cx="17736674" cy="2631491"/>
            <a:chOff x="0" y="0"/>
            <a:chExt cx="23648899" cy="3508654"/>
          </a:xfrm>
        </p:grpSpPr>
        <p:sp>
          <p:nvSpPr>
            <p:cNvPr id="9" name="Freeform 9"/>
            <p:cNvSpPr/>
            <p:nvPr/>
          </p:nvSpPr>
          <p:spPr>
            <a:xfrm>
              <a:off x="0" y="0"/>
              <a:ext cx="23648896" cy="3508652"/>
            </a:xfrm>
            <a:custGeom>
              <a:avLst/>
              <a:gdLst/>
              <a:ahLst/>
              <a:cxnLst/>
              <a:rect l="l" t="t" r="r" b="b"/>
              <a:pathLst>
                <a:path w="23648896" h="3508652">
                  <a:moveTo>
                    <a:pt x="0" y="0"/>
                  </a:moveTo>
                  <a:lnTo>
                    <a:pt x="23648896" y="0"/>
                  </a:lnTo>
                  <a:lnTo>
                    <a:pt x="23648896" y="3508652"/>
                  </a:lnTo>
                  <a:lnTo>
                    <a:pt x="0" y="3508652"/>
                  </a:lnTo>
                  <a:close/>
                </a:path>
              </a:pathLst>
            </a:custGeom>
            <a:blipFill>
              <a:blip r:embed="rId3">
                <a:alphaModFix amt="0"/>
              </a:blip>
              <a:stretch>
                <a:fillRect t="-81332" b="-81332"/>
              </a:stretch>
            </a:blipFill>
          </p:spPr>
        </p:sp>
        <p:sp>
          <p:nvSpPr>
            <p:cNvPr id="10" name="TextBox 10"/>
            <p:cNvSpPr txBox="1"/>
            <p:nvPr/>
          </p:nvSpPr>
          <p:spPr>
            <a:xfrm>
              <a:off x="0" y="-19050"/>
              <a:ext cx="23648899" cy="3527704"/>
            </a:xfrm>
            <a:prstGeom prst="rect">
              <a:avLst/>
            </a:prstGeom>
          </p:spPr>
          <p:txBody>
            <a:bodyPr lIns="0" tIns="0" rIns="0" bIns="0" rtlCol="0" anchor="ct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Local Traffic Patterns: Colombo peak hours and Poya days calibrate travel time scoring for realistic ETA predictions.</a:t>
              </a:r>
            </a:p>
            <a:p>
              <a:pPr marL="488632" lvl="1" indent="-244316" algn="l">
                <a:lnSpc>
                  <a:spcPts val="3240"/>
                </a:lnSpc>
                <a:buFont typeface="Arial"/>
                <a:buChar char="•"/>
              </a:pPr>
              <a:r>
                <a:rPr lang="en-US" sz="2700">
                  <a:solidFill>
                    <a:srgbClr val="000000"/>
                  </a:solidFill>
                  <a:latin typeface="Cambria"/>
                  <a:ea typeface="Cambria"/>
                  <a:cs typeface="Cambria"/>
                  <a:sym typeface="Cambria"/>
                </a:rPr>
                <a:t>Weather-Service Impact: Heavy rain makes roofing unsafe (0.1) while AC repair remains viable (0.5) for safe matching.</a:t>
              </a:r>
            </a:p>
            <a:p>
              <a:pPr marL="488632" lvl="1" indent="-244316" algn="l">
                <a:lnSpc>
                  <a:spcPts val="3240"/>
                </a:lnSpc>
                <a:buFont typeface="Arial"/>
                <a:buChar char="•"/>
              </a:pPr>
              <a:r>
                <a:rPr lang="en-US" sz="2700">
                  <a:solidFill>
                    <a:srgbClr val="000000"/>
                  </a:solidFill>
                  <a:latin typeface="Cambria"/>
                  <a:ea typeface="Cambria"/>
                  <a:cs typeface="Cambria"/>
                  <a:sym typeface="Cambria"/>
                </a:rPr>
                <a:t>Provider &amp; User Behavior: Flexible work hours, emergency urgency, and Sinhala/Tamil preferences shape availability forecasting and language support.</a:t>
              </a:r>
            </a:p>
            <a:p>
              <a:pPr marL="488632" lvl="1" indent="-244316" algn="l">
                <a:lnSpc>
                  <a:spcPts val="3240"/>
                </a:lnSpc>
              </a:pPr>
              <a:endParaRPr lang="en-US" sz="2700">
                <a:solidFill>
                  <a:srgbClr val="000000"/>
                </a:solidFill>
                <a:latin typeface="Cambria"/>
                <a:ea typeface="Cambria"/>
                <a:cs typeface="Cambria"/>
                <a:sym typeface="Cambria"/>
              </a:endParaRPr>
            </a:p>
          </p:txBody>
        </p:sp>
      </p:grpSp>
      <p:sp>
        <p:nvSpPr>
          <p:cNvPr id="11" name="TextBox 11"/>
          <p:cNvSpPr txBox="1"/>
          <p:nvPr/>
        </p:nvSpPr>
        <p:spPr>
          <a:xfrm>
            <a:off x="642766" y="3244567"/>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Technologies Used</a:t>
            </a:r>
          </a:p>
        </p:txBody>
      </p:sp>
      <p:sp>
        <p:nvSpPr>
          <p:cNvPr id="12" name="TextBox 12"/>
          <p:cNvSpPr txBox="1"/>
          <p:nvPr/>
        </p:nvSpPr>
        <p:spPr>
          <a:xfrm>
            <a:off x="891540" y="3723380"/>
            <a:ext cx="17231058" cy="2974600"/>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Google Maps Distance Matrix API – Real-time travel time with traffic</a:t>
            </a:r>
          </a:p>
          <a:p>
            <a:pPr marL="488632" lvl="1" indent="-244316" algn="l">
              <a:lnSpc>
                <a:spcPts val="3240"/>
              </a:lnSpc>
              <a:buFont typeface="Arial"/>
              <a:buChar char="•"/>
            </a:pPr>
            <a:r>
              <a:rPr lang="en-US" sz="2700">
                <a:solidFill>
                  <a:srgbClr val="000000"/>
                </a:solidFill>
                <a:latin typeface="Cambria"/>
                <a:ea typeface="Cambria"/>
                <a:cs typeface="Cambria"/>
                <a:sym typeface="Cambria"/>
              </a:rPr>
              <a:t>WebSocket (</a:t>
            </a:r>
            <a:r>
              <a:rPr lang="en-US" sz="2700" u="sng">
                <a:solidFill>
                  <a:srgbClr val="F49100"/>
                </a:solidFill>
                <a:latin typeface="Cambria"/>
                <a:ea typeface="Cambria"/>
                <a:cs typeface="Cambria"/>
                <a:sym typeface="Cambria"/>
                <a:hlinkClick r:id="rId4" tooltip="https://socket.io/"/>
              </a:rPr>
              <a:t>Socket.io</a:t>
            </a:r>
            <a:r>
              <a:rPr lang="en-US" sz="2700">
                <a:solidFill>
                  <a:srgbClr val="000000"/>
                </a:solidFill>
                <a:latin typeface="Cambria"/>
                <a:ea typeface="Cambria"/>
                <a:cs typeface="Cambria"/>
                <a:sym typeface="Cambria"/>
              </a:rPr>
              <a:t>) – Live provider tracking and status updates</a:t>
            </a:r>
          </a:p>
          <a:p>
            <a:pPr marL="488632" lvl="1" indent="-244316" algn="l">
              <a:lnSpc>
                <a:spcPts val="3240"/>
              </a:lnSpc>
              <a:buFont typeface="Arial"/>
              <a:buChar char="•"/>
            </a:pPr>
            <a:r>
              <a:rPr lang="en-US" sz="2700">
                <a:solidFill>
                  <a:srgbClr val="000000"/>
                </a:solidFill>
                <a:latin typeface="Cambria"/>
                <a:ea typeface="Cambria"/>
                <a:cs typeface="Cambria"/>
                <a:sym typeface="Cambria"/>
              </a:rPr>
              <a:t>LSTM – Provider availability forecasting</a:t>
            </a:r>
          </a:p>
          <a:p>
            <a:pPr marL="488632" lvl="1" indent="-244316" algn="l">
              <a:lnSpc>
                <a:spcPts val="3240"/>
              </a:lnSpc>
              <a:buFont typeface="Arial"/>
              <a:buChar char="•"/>
            </a:pPr>
            <a:r>
              <a:rPr lang="en-US" sz="2700">
                <a:solidFill>
                  <a:srgbClr val="000000"/>
                </a:solidFill>
                <a:latin typeface="Cambria"/>
                <a:ea typeface="Cambria"/>
                <a:cs typeface="Cambria"/>
                <a:sym typeface="Cambria"/>
              </a:rPr>
              <a:t>OpenWeather API – Real-time weather conditions</a:t>
            </a:r>
          </a:p>
          <a:p>
            <a:pPr marL="488632" lvl="1" indent="-244316" algn="l">
              <a:lnSpc>
                <a:spcPts val="3240"/>
              </a:lnSpc>
              <a:buFont typeface="Arial"/>
              <a:buChar char="•"/>
            </a:pPr>
            <a:r>
              <a:rPr lang="en-US" sz="2700">
                <a:solidFill>
                  <a:srgbClr val="000000"/>
                </a:solidFill>
                <a:latin typeface="Cambria"/>
                <a:ea typeface="Cambria"/>
                <a:cs typeface="Cambria"/>
                <a:sym typeface="Cambria"/>
              </a:rPr>
              <a:t>SARIMA / ARIMA – Demand forecasting and load balancing</a:t>
            </a:r>
          </a:p>
          <a:p>
            <a:pPr marL="488632" lvl="1" indent="-244316" algn="l">
              <a:lnSpc>
                <a:spcPts val="3240"/>
              </a:lnSpc>
              <a:buFont typeface="Arial"/>
              <a:buChar char="•"/>
            </a:pPr>
            <a:r>
              <a:rPr lang="en-US" sz="2700">
                <a:solidFill>
                  <a:srgbClr val="000000"/>
                </a:solidFill>
                <a:latin typeface="Cambria"/>
                <a:ea typeface="Cambria"/>
                <a:cs typeface="Cambria"/>
                <a:sym typeface="Cambria"/>
              </a:rPr>
              <a:t>PostgreSQL + PostGIS – Spatial data storage</a:t>
            </a:r>
          </a:p>
          <a:p>
            <a:pPr marL="488632" lvl="1" indent="-244316" algn="l">
              <a:lnSpc>
                <a:spcPts val="3240"/>
              </a:lnSpc>
              <a:buFont typeface="Arial"/>
              <a:buChar char="•"/>
            </a:pPr>
            <a:r>
              <a:rPr lang="en-US" sz="2700">
                <a:solidFill>
                  <a:srgbClr val="000000"/>
                </a:solidFill>
                <a:latin typeface="Cambria"/>
                <a:ea typeface="Cambria"/>
                <a:cs typeface="Cambria"/>
                <a:sym typeface="Cambria"/>
              </a:rPr>
              <a:t>Redis – Real-time status caching</a:t>
            </a:r>
          </a:p>
        </p:txBody>
      </p:sp>
      <p:sp>
        <p:nvSpPr>
          <p:cNvPr id="13" name="TextBox 13"/>
          <p:cNvSpPr txBox="1"/>
          <p:nvPr/>
        </p:nvSpPr>
        <p:spPr>
          <a:xfrm>
            <a:off x="629326" y="6673567"/>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Evaluation and Validation</a:t>
            </a:r>
          </a:p>
        </p:txBody>
      </p:sp>
      <p:grpSp>
        <p:nvGrpSpPr>
          <p:cNvPr id="14" name="Group 14"/>
          <p:cNvGrpSpPr/>
          <p:nvPr/>
        </p:nvGrpSpPr>
        <p:grpSpPr>
          <a:xfrm>
            <a:off x="551326" y="7200900"/>
            <a:ext cx="10078574" cy="1800492"/>
            <a:chOff x="0" y="0"/>
            <a:chExt cx="13438099" cy="2400656"/>
          </a:xfrm>
        </p:grpSpPr>
        <p:sp>
          <p:nvSpPr>
            <p:cNvPr id="15" name="Freeform 15"/>
            <p:cNvSpPr/>
            <p:nvPr/>
          </p:nvSpPr>
          <p:spPr>
            <a:xfrm>
              <a:off x="0" y="0"/>
              <a:ext cx="13438096" cy="2400658"/>
            </a:xfrm>
            <a:custGeom>
              <a:avLst/>
              <a:gdLst/>
              <a:ahLst/>
              <a:cxnLst/>
              <a:rect l="l" t="t" r="r" b="b"/>
              <a:pathLst>
                <a:path w="13438096" h="2400658">
                  <a:moveTo>
                    <a:pt x="0" y="0"/>
                  </a:moveTo>
                  <a:lnTo>
                    <a:pt x="13438096" y="0"/>
                  </a:lnTo>
                  <a:lnTo>
                    <a:pt x="13438096" y="2400658"/>
                  </a:lnTo>
                  <a:lnTo>
                    <a:pt x="0" y="2400658"/>
                  </a:lnTo>
                  <a:close/>
                </a:path>
              </a:pathLst>
            </a:custGeom>
            <a:blipFill>
              <a:blip r:embed="rId3">
                <a:alphaModFix amt="0"/>
              </a:blip>
              <a:stretch>
                <a:fillRect t="-59070" b="-59070"/>
              </a:stretch>
            </a:blipFill>
          </p:spPr>
        </p:sp>
        <p:sp>
          <p:nvSpPr>
            <p:cNvPr id="16" name="TextBox 16"/>
            <p:cNvSpPr txBox="1"/>
            <p:nvPr/>
          </p:nvSpPr>
          <p:spPr>
            <a:xfrm>
              <a:off x="0" y="-19050"/>
              <a:ext cx="13438099" cy="2419706"/>
            </a:xfrm>
            <a:prstGeom prst="rect">
              <a:avLst/>
            </a:prstGeom>
          </p:spPr>
          <p:txBody>
            <a:bodyPr lIns="0" tIns="0" rIns="0" bIns="0" rtlCol="0" anchor="ct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Unit, Integration &amp; Performance Testing — 80% coverage, &lt;2s response for 1000+ users</a:t>
              </a:r>
            </a:p>
            <a:p>
              <a:pPr marL="488632" lvl="1" indent="-244316" algn="l">
                <a:lnSpc>
                  <a:spcPts val="3240"/>
                </a:lnSpc>
                <a:buFont typeface="Arial"/>
                <a:buChar char="•"/>
              </a:pPr>
              <a:r>
                <a:rPr lang="en-US" sz="2700">
                  <a:solidFill>
                    <a:srgbClr val="000000"/>
                  </a:solidFill>
                  <a:latin typeface="Cambria"/>
                  <a:ea typeface="Cambria"/>
                  <a:cs typeface="Cambria"/>
                  <a:sym typeface="Cambria"/>
                </a:rPr>
                <a:t>Accuracy, Pilot &amp; User Testing — MAE ≤5 min, 90% weather accuracy, 87.6% booking success, 90% satisfaction</a:t>
              </a:r>
            </a:p>
          </p:txBody>
        </p:sp>
      </p:grpSp>
      <p:sp>
        <p:nvSpPr>
          <p:cNvPr id="17" name="TextBox 17"/>
          <p:cNvSpPr txBox="1"/>
          <p:nvPr/>
        </p:nvSpPr>
        <p:spPr>
          <a:xfrm>
            <a:off x="11000365" y="6477895"/>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Data Availability and Security</a:t>
            </a:r>
          </a:p>
        </p:txBody>
      </p:sp>
      <p:grpSp>
        <p:nvGrpSpPr>
          <p:cNvPr id="18" name="Group 18"/>
          <p:cNvGrpSpPr/>
          <p:nvPr/>
        </p:nvGrpSpPr>
        <p:grpSpPr>
          <a:xfrm>
            <a:off x="10908925" y="6724755"/>
            <a:ext cx="7315200" cy="3046990"/>
            <a:chOff x="0" y="0"/>
            <a:chExt cx="9753600" cy="4062654"/>
          </a:xfrm>
        </p:grpSpPr>
        <p:sp>
          <p:nvSpPr>
            <p:cNvPr id="19" name="Freeform 19"/>
            <p:cNvSpPr/>
            <p:nvPr/>
          </p:nvSpPr>
          <p:spPr>
            <a:xfrm>
              <a:off x="0" y="0"/>
              <a:ext cx="9753600" cy="4062650"/>
            </a:xfrm>
            <a:custGeom>
              <a:avLst/>
              <a:gdLst/>
              <a:ahLst/>
              <a:cxnLst/>
              <a:rect l="l" t="t" r="r" b="b"/>
              <a:pathLst>
                <a:path w="9753600" h="4062650">
                  <a:moveTo>
                    <a:pt x="0" y="0"/>
                  </a:moveTo>
                  <a:lnTo>
                    <a:pt x="9753600" y="0"/>
                  </a:lnTo>
                  <a:lnTo>
                    <a:pt x="9753600" y="4062650"/>
                  </a:lnTo>
                  <a:lnTo>
                    <a:pt x="0" y="4062650"/>
                  </a:lnTo>
                  <a:close/>
                </a:path>
              </a:pathLst>
            </a:custGeom>
            <a:blipFill>
              <a:blip r:embed="rId3">
                <a:alphaModFix amt="0"/>
              </a:blip>
              <a:stretch>
                <a:fillRect l="-3442" r="-3442"/>
              </a:stretch>
            </a:blipFill>
          </p:spPr>
        </p:sp>
        <p:sp>
          <p:nvSpPr>
            <p:cNvPr id="20" name="TextBox 20"/>
            <p:cNvSpPr txBox="1"/>
            <p:nvPr/>
          </p:nvSpPr>
          <p:spPr>
            <a:xfrm>
              <a:off x="0" y="-19050"/>
              <a:ext cx="9753600" cy="4081704"/>
            </a:xfrm>
            <a:prstGeom prst="rect">
              <a:avLst/>
            </a:prstGeom>
          </p:spPr>
          <p:txBody>
            <a:bodyPr lIns="0" tIns="0" rIns="0" bIns="0" rtlCol="0" anchor="ct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No PII used in training (personally identifiable information removed) </a:t>
              </a:r>
            </a:p>
            <a:p>
              <a:pPr marL="488632" lvl="1" indent="-244316" algn="l">
                <a:lnSpc>
                  <a:spcPts val="3240"/>
                </a:lnSpc>
                <a:buFont typeface="Arial"/>
                <a:buChar char="•"/>
              </a:pPr>
              <a:r>
                <a:rPr lang="en-US" sz="2700">
                  <a:solidFill>
                    <a:srgbClr val="000000"/>
                  </a:solidFill>
                  <a:latin typeface="Cambria"/>
                  <a:ea typeface="Cambria"/>
                  <a:cs typeface="Cambria"/>
                  <a:sym typeface="Cambria"/>
                </a:rPr>
                <a:t>AES-256 encryption for stored data </a:t>
              </a:r>
            </a:p>
            <a:p>
              <a:pPr marL="488632" lvl="1" indent="-244316" algn="l">
                <a:lnSpc>
                  <a:spcPts val="3240"/>
                </a:lnSpc>
                <a:buFont typeface="Arial"/>
                <a:buChar char="•"/>
              </a:pPr>
              <a:r>
                <a:rPr lang="en-US" sz="2700">
                  <a:solidFill>
                    <a:srgbClr val="000000"/>
                  </a:solidFill>
                  <a:latin typeface="Cambria"/>
                  <a:ea typeface="Cambria"/>
                  <a:cs typeface="Cambria"/>
                  <a:sym typeface="Cambria"/>
                </a:rPr>
                <a:t>TLS 1.3 for all data transmission</a:t>
              </a:r>
            </a:p>
            <a:p>
              <a:pPr marL="488632" lvl="1" indent="-244316" algn="l">
                <a:lnSpc>
                  <a:spcPts val="3240"/>
                </a:lnSpc>
                <a:buFont typeface="Arial"/>
                <a:buChar char="•"/>
              </a:pPr>
              <a:r>
                <a:rPr lang="en-US" sz="2700">
                  <a:solidFill>
                    <a:srgbClr val="000000"/>
                  </a:solidFill>
                  <a:latin typeface="Cambria"/>
                  <a:ea typeface="Cambria"/>
                  <a:cs typeface="Cambria"/>
                  <a:sym typeface="Cambria"/>
                </a:rPr>
                <a:t>Secondary data analysis — no human subject experimentation</a:t>
              </a:r>
            </a:p>
            <a:p>
              <a:pPr marL="488632" lvl="1" indent="-244316" algn="l">
                <a:lnSpc>
                  <a:spcPts val="3240"/>
                </a:lnSpc>
                <a:buFont typeface="Arial"/>
                <a:buChar char="•"/>
              </a:pPr>
              <a:r>
                <a:rPr lang="en-US" sz="2700">
                  <a:solidFill>
                    <a:srgbClr val="000000"/>
                  </a:solidFill>
                  <a:latin typeface="Cambria"/>
                  <a:ea typeface="Cambria"/>
                  <a:cs typeface="Cambria"/>
                  <a:sym typeface="Cambria"/>
                </a:rPr>
                <a:t>No PII used in provider outputs</a:t>
              </a:r>
            </a:p>
          </p:txBody>
        </p:sp>
      </p:grpSp>
      <p:sp>
        <p:nvSpPr>
          <p:cNvPr id="21" name="TextBox 21"/>
          <p:cNvSpPr txBox="1"/>
          <p:nvPr/>
        </p:nvSpPr>
        <p:spPr>
          <a:xfrm>
            <a:off x="642766" y="143770"/>
            <a:ext cx="16525094" cy="37528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Temporal and Contextual Matching System for Service Provider Recommendations(Availability, Location, Weather, and TimeFactors).</a:t>
            </a:r>
          </a:p>
        </p:txBody>
      </p:sp>
      <p:grpSp>
        <p:nvGrpSpPr>
          <p:cNvPr id="22" name="Group 22"/>
          <p:cNvGrpSpPr/>
          <p:nvPr/>
        </p:nvGrpSpPr>
        <p:grpSpPr>
          <a:xfrm>
            <a:off x="3932996" y="9707166"/>
            <a:ext cx="8724900" cy="439064"/>
            <a:chOff x="0" y="0"/>
            <a:chExt cx="11633200" cy="585419"/>
          </a:xfrm>
        </p:grpSpPr>
        <p:sp>
          <p:nvSpPr>
            <p:cNvPr id="23" name="Freeform 23"/>
            <p:cNvSpPr/>
            <p:nvPr/>
          </p:nvSpPr>
          <p:spPr>
            <a:xfrm>
              <a:off x="25400" y="25400"/>
              <a:ext cx="11582400" cy="534670"/>
            </a:xfrm>
            <a:custGeom>
              <a:avLst/>
              <a:gdLst/>
              <a:ahLst/>
              <a:cxnLst/>
              <a:rect l="l" t="t" r="r" b="b"/>
              <a:pathLst>
                <a:path w="11582400" h="534670">
                  <a:moveTo>
                    <a:pt x="0" y="0"/>
                  </a:moveTo>
                  <a:lnTo>
                    <a:pt x="11582400" y="0"/>
                  </a:lnTo>
                  <a:lnTo>
                    <a:pt x="11582400" y="534670"/>
                  </a:lnTo>
                  <a:lnTo>
                    <a:pt x="0" y="534670"/>
                  </a:lnTo>
                  <a:close/>
                </a:path>
              </a:pathLst>
            </a:custGeom>
            <a:solidFill>
              <a:srgbClr val="FFFFFF"/>
            </a:solidFill>
          </p:spPr>
        </p:sp>
        <p:sp>
          <p:nvSpPr>
            <p:cNvPr id="24" name="Freeform 24"/>
            <p:cNvSpPr/>
            <p:nvPr/>
          </p:nvSpPr>
          <p:spPr>
            <a:xfrm>
              <a:off x="0" y="0"/>
              <a:ext cx="11633200" cy="585470"/>
            </a:xfrm>
            <a:custGeom>
              <a:avLst/>
              <a:gdLst/>
              <a:ahLst/>
              <a:cxnLst/>
              <a:rect l="l" t="t" r="r" b="b"/>
              <a:pathLst>
                <a:path w="11633200" h="585470">
                  <a:moveTo>
                    <a:pt x="25400" y="0"/>
                  </a:moveTo>
                  <a:lnTo>
                    <a:pt x="11607800" y="0"/>
                  </a:lnTo>
                  <a:cubicBezTo>
                    <a:pt x="11621770" y="0"/>
                    <a:pt x="11633200" y="11430"/>
                    <a:pt x="11633200" y="25400"/>
                  </a:cubicBezTo>
                  <a:lnTo>
                    <a:pt x="11633200" y="560070"/>
                  </a:lnTo>
                  <a:cubicBezTo>
                    <a:pt x="11633200" y="574040"/>
                    <a:pt x="11621770" y="585470"/>
                    <a:pt x="11607800" y="585470"/>
                  </a:cubicBezTo>
                  <a:lnTo>
                    <a:pt x="25400" y="585470"/>
                  </a:lnTo>
                  <a:cubicBezTo>
                    <a:pt x="11430" y="585470"/>
                    <a:pt x="0" y="574040"/>
                    <a:pt x="0" y="560070"/>
                  </a:cubicBezTo>
                  <a:lnTo>
                    <a:pt x="0" y="25400"/>
                  </a:lnTo>
                  <a:cubicBezTo>
                    <a:pt x="0" y="11430"/>
                    <a:pt x="11430" y="0"/>
                    <a:pt x="25400" y="0"/>
                  </a:cubicBezTo>
                  <a:moveTo>
                    <a:pt x="25400" y="50800"/>
                  </a:moveTo>
                  <a:lnTo>
                    <a:pt x="25400" y="25400"/>
                  </a:lnTo>
                  <a:lnTo>
                    <a:pt x="50800" y="25400"/>
                  </a:lnTo>
                  <a:lnTo>
                    <a:pt x="50800" y="560070"/>
                  </a:lnTo>
                  <a:lnTo>
                    <a:pt x="25400" y="560070"/>
                  </a:lnTo>
                  <a:lnTo>
                    <a:pt x="25400" y="534670"/>
                  </a:lnTo>
                  <a:lnTo>
                    <a:pt x="11607800" y="534670"/>
                  </a:lnTo>
                  <a:lnTo>
                    <a:pt x="11607800" y="560070"/>
                  </a:lnTo>
                  <a:lnTo>
                    <a:pt x="11582400" y="560070"/>
                  </a:lnTo>
                  <a:lnTo>
                    <a:pt x="11582400" y="25400"/>
                  </a:lnTo>
                  <a:lnTo>
                    <a:pt x="11607800" y="25400"/>
                  </a:lnTo>
                  <a:lnTo>
                    <a:pt x="11607800" y="50800"/>
                  </a:lnTo>
                  <a:lnTo>
                    <a:pt x="25400" y="50800"/>
                  </a:lnTo>
                  <a:close/>
                </a:path>
              </a:pathLst>
            </a:custGeom>
            <a:solidFill>
              <a:srgbClr val="FFFFFF"/>
            </a:solidFill>
          </p:spPr>
        </p:sp>
      </p:grpSp>
      <p:grpSp>
        <p:nvGrpSpPr>
          <p:cNvPr id="25" name="Group 25"/>
          <p:cNvGrpSpPr/>
          <p:nvPr/>
        </p:nvGrpSpPr>
        <p:grpSpPr>
          <a:xfrm>
            <a:off x="3948655" y="9739312"/>
            <a:ext cx="10224545" cy="547688"/>
            <a:chOff x="0" y="0"/>
            <a:chExt cx="13632726" cy="730250"/>
          </a:xfrm>
        </p:grpSpPr>
        <p:sp>
          <p:nvSpPr>
            <p:cNvPr id="26" name="Freeform 26"/>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27" name="TextBox 27"/>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IT22190048</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Masakorala A H  </a:t>
              </a:r>
              <a:r>
                <a:rPr lang="en-US" sz="2700">
                  <a:solidFill>
                    <a:srgbClr val="000000"/>
                  </a:solidFill>
                  <a:latin typeface="Cambria"/>
                  <a:ea typeface="Cambria"/>
                  <a:cs typeface="Cambria"/>
                  <a:sym typeface="Cambria"/>
                </a:rPr>
                <a:t>|   RP26-IT-072</a:t>
              </a:r>
            </a:p>
          </p:txBody>
        </p:sp>
      </p:grpSp>
      <p:sp>
        <p:nvSpPr>
          <p:cNvPr id="28" name="TextBox 28"/>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3948655" y="9739312"/>
            <a:ext cx="10224545" cy="547688"/>
            <a:chOff x="0" y="0"/>
            <a:chExt cx="13632726" cy="730250"/>
          </a:xfrm>
        </p:grpSpPr>
        <p:sp>
          <p:nvSpPr>
            <p:cNvPr id="5" name="Freeform 5"/>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6" name="TextBox 6"/>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ITXXXXXXXX</a:t>
              </a:r>
              <a:r>
                <a:rPr lang="en-US" sz="2700">
                  <a:solidFill>
                    <a:srgbClr val="000000"/>
                  </a:solidFill>
                  <a:latin typeface="Cambria"/>
                  <a:ea typeface="Cambria"/>
                  <a:cs typeface="Cambria"/>
                  <a:sym typeface="Cambria"/>
                </a:rPr>
                <a:t>   |   &lt;</a:t>
              </a:r>
              <a:r>
                <a:rPr lang="en-US" sz="2700" b="1">
                  <a:solidFill>
                    <a:srgbClr val="000000"/>
                  </a:solidFill>
                  <a:latin typeface="Cambria Bold"/>
                  <a:ea typeface="Cambria Bold"/>
                  <a:cs typeface="Cambria Bold"/>
                  <a:sym typeface="Cambria Bold"/>
                </a:rPr>
                <a:t>&lt;Student Name&gt;&gt;   </a:t>
              </a:r>
              <a:r>
                <a:rPr lang="en-US" sz="2700">
                  <a:solidFill>
                    <a:srgbClr val="000000"/>
                  </a:solidFill>
                  <a:latin typeface="Cambria"/>
                  <a:ea typeface="Cambria"/>
                  <a:cs typeface="Cambria"/>
                  <a:sym typeface="Cambria"/>
                </a:rPr>
                <a:t>|   &lt;&lt;Project ID&gt;&gt;</a:t>
              </a:r>
            </a:p>
          </p:txBody>
        </p:sp>
      </p:grpSp>
      <p:sp>
        <p:nvSpPr>
          <p:cNvPr id="7" name="TextBox 7"/>
          <p:cNvSpPr txBox="1"/>
          <p:nvPr/>
        </p:nvSpPr>
        <p:spPr>
          <a:xfrm>
            <a:off x="642766" y="729967"/>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System Overview</a:t>
            </a:r>
          </a:p>
        </p:txBody>
      </p:sp>
      <p:sp>
        <p:nvSpPr>
          <p:cNvPr id="8" name="TextBox 8"/>
          <p:cNvSpPr txBox="1"/>
          <p:nvPr/>
        </p:nvSpPr>
        <p:spPr>
          <a:xfrm>
            <a:off x="642766" y="1056380"/>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Inputs </a:t>
            </a:r>
          </a:p>
        </p:txBody>
      </p:sp>
      <p:sp>
        <p:nvSpPr>
          <p:cNvPr id="9" name="TextBox 9"/>
          <p:cNvSpPr txBox="1"/>
          <p:nvPr/>
        </p:nvSpPr>
        <p:spPr>
          <a:xfrm>
            <a:off x="1005840" y="1474489"/>
            <a:ext cx="11018520" cy="1728102"/>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User service request (AC repair, plumbing, electrical) with location, urgency, and timestamp</a:t>
            </a:r>
          </a:p>
          <a:p>
            <a:pPr marL="488632" lvl="1" indent="-244316" algn="l">
              <a:lnSpc>
                <a:spcPts val="3240"/>
              </a:lnSpc>
            </a:pPr>
            <a:endParaRPr lang="en-US" sz="2700">
              <a:solidFill>
                <a:srgbClr val="000000"/>
              </a:solidFill>
              <a:latin typeface="Cambria"/>
              <a:ea typeface="Cambria"/>
              <a:cs typeface="Cambria"/>
              <a:sym typeface="Cambria"/>
            </a:endParaRPr>
          </a:p>
          <a:p>
            <a:pPr marL="488632" lvl="1" indent="-244316" algn="l">
              <a:lnSpc>
                <a:spcPts val="3240"/>
              </a:lnSpc>
            </a:pPr>
            <a:endParaRPr lang="en-US" sz="2700">
              <a:solidFill>
                <a:srgbClr val="000000"/>
              </a:solidFill>
              <a:latin typeface="Cambria"/>
              <a:ea typeface="Cambria"/>
              <a:cs typeface="Cambria"/>
              <a:sym typeface="Cambria"/>
            </a:endParaRPr>
          </a:p>
        </p:txBody>
      </p:sp>
      <p:sp>
        <p:nvSpPr>
          <p:cNvPr id="10" name="TextBox 10"/>
          <p:cNvSpPr txBox="1"/>
          <p:nvPr/>
        </p:nvSpPr>
        <p:spPr>
          <a:xfrm>
            <a:off x="662940" y="2436495"/>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Process</a:t>
            </a:r>
          </a:p>
        </p:txBody>
      </p:sp>
      <p:sp>
        <p:nvSpPr>
          <p:cNvPr id="11" name="TextBox 11"/>
          <p:cNvSpPr txBox="1"/>
          <p:nvPr/>
        </p:nvSpPr>
        <p:spPr>
          <a:xfrm>
            <a:off x="1005840" y="2884170"/>
            <a:ext cx="11018520" cy="2974600"/>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Parallel data collection: Google Maps for distance &amp; traffic, OpenWeather for conditions, WebSocket for provider availability</a:t>
            </a:r>
          </a:p>
          <a:p>
            <a:pPr marL="488632" lvl="1" indent="-244316" algn="l">
              <a:lnSpc>
                <a:spcPts val="3240"/>
              </a:lnSpc>
              <a:buFont typeface="Arial"/>
              <a:buChar char="•"/>
            </a:pPr>
            <a:r>
              <a:rPr lang="en-US" sz="2700">
                <a:solidFill>
                  <a:srgbClr val="000000"/>
                </a:solidFill>
                <a:latin typeface="Cambria"/>
                <a:ea typeface="Cambria"/>
                <a:cs typeface="Cambria"/>
                <a:sym typeface="Cambria"/>
              </a:rPr>
              <a:t>Weighted scoring: Distance (40%) + Availability (30%) + Weather (20%) + Demand (10%)</a:t>
            </a:r>
          </a:p>
          <a:p>
            <a:pPr marL="488632" lvl="1" indent="-244316" algn="l">
              <a:lnSpc>
                <a:spcPts val="3240"/>
              </a:lnSpc>
              <a:buFont typeface="Arial"/>
              <a:buChar char="•"/>
            </a:pPr>
            <a:r>
              <a:rPr lang="en-US" sz="2700">
                <a:solidFill>
                  <a:srgbClr val="000000"/>
                </a:solidFill>
                <a:latin typeface="Cambria"/>
                <a:ea typeface="Cambria"/>
                <a:cs typeface="Cambria"/>
                <a:sym typeface="Cambria"/>
              </a:rPr>
              <a:t>SARIMA demand forecasting and load balancing</a:t>
            </a:r>
          </a:p>
          <a:p>
            <a:pPr marL="488632" lvl="1" indent="-244316" algn="l">
              <a:lnSpc>
                <a:spcPts val="3240"/>
              </a:lnSpc>
            </a:pPr>
            <a:endParaRPr lang="en-US" sz="2700">
              <a:solidFill>
                <a:srgbClr val="000000"/>
              </a:solidFill>
              <a:latin typeface="Cambria"/>
              <a:ea typeface="Cambria"/>
              <a:cs typeface="Cambria"/>
              <a:sym typeface="Cambria"/>
            </a:endParaRPr>
          </a:p>
          <a:p>
            <a:pPr marL="488632" lvl="1" indent="-244316" algn="l">
              <a:lnSpc>
                <a:spcPts val="3240"/>
              </a:lnSpc>
            </a:pPr>
            <a:endParaRPr lang="en-US" sz="2700">
              <a:solidFill>
                <a:srgbClr val="000000"/>
              </a:solidFill>
              <a:latin typeface="Cambria"/>
              <a:ea typeface="Cambria"/>
              <a:cs typeface="Cambria"/>
              <a:sym typeface="Cambria"/>
            </a:endParaRPr>
          </a:p>
        </p:txBody>
      </p:sp>
      <p:sp>
        <p:nvSpPr>
          <p:cNvPr id="12" name="TextBox 12"/>
          <p:cNvSpPr txBox="1"/>
          <p:nvPr/>
        </p:nvSpPr>
        <p:spPr>
          <a:xfrm>
            <a:off x="636041" y="5179695"/>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Output </a:t>
            </a:r>
          </a:p>
        </p:txBody>
      </p:sp>
      <p:sp>
        <p:nvSpPr>
          <p:cNvPr id="13" name="TextBox 13"/>
          <p:cNvSpPr txBox="1"/>
          <p:nvPr/>
        </p:nvSpPr>
        <p:spPr>
          <a:xfrm>
            <a:off x="1005840" y="5569525"/>
            <a:ext cx="11563121" cy="897103"/>
          </a:xfrm>
          <a:prstGeom prst="rect">
            <a:avLst/>
          </a:prstGeom>
        </p:spPr>
        <p:txBody>
          <a:bodyPr lIns="0" tIns="0" rIns="0" bIns="0" rtlCol="0" anchor="t">
            <a:spAutoFit/>
          </a:bodyPr>
          <a:lstStyle/>
          <a:p>
            <a:pPr algn="l">
              <a:lnSpc>
                <a:spcPts val="3240"/>
              </a:lnSpc>
            </a:pPr>
            <a:r>
              <a:rPr lang="en-US" sz="2700">
                <a:solidFill>
                  <a:srgbClr val="000000"/>
                </a:solidFill>
                <a:latin typeface="Cambria"/>
                <a:ea typeface="Cambria"/>
                <a:cs typeface="Cambria"/>
                <a:sym typeface="Cambria"/>
              </a:rPr>
              <a:t>Top 10 ranked providers with contextual scores, ETA, availability status, and weather compatibility</a:t>
            </a:r>
          </a:p>
        </p:txBody>
      </p:sp>
      <p:sp>
        <p:nvSpPr>
          <p:cNvPr id="14" name="TextBox 14"/>
          <p:cNvSpPr txBox="1"/>
          <p:nvPr/>
        </p:nvSpPr>
        <p:spPr>
          <a:xfrm>
            <a:off x="662940" y="6559267"/>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Dependencies and Shared Components</a:t>
            </a:r>
          </a:p>
        </p:txBody>
      </p:sp>
      <p:sp>
        <p:nvSpPr>
          <p:cNvPr id="15" name="TextBox 15"/>
          <p:cNvSpPr txBox="1"/>
          <p:nvPr/>
        </p:nvSpPr>
        <p:spPr>
          <a:xfrm>
            <a:off x="662940" y="7110679"/>
            <a:ext cx="11018520" cy="2559101"/>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Google Maps API, OpenWeather API, Time &amp; Date API — external services</a:t>
            </a:r>
          </a:p>
          <a:p>
            <a:pPr marL="488632" lvl="1" indent="-244316" algn="l">
              <a:lnSpc>
                <a:spcPts val="3240"/>
              </a:lnSpc>
              <a:buFont typeface="Arial"/>
              <a:buChar char="•"/>
            </a:pPr>
            <a:r>
              <a:rPr lang="en-US" sz="2700">
                <a:solidFill>
                  <a:srgbClr val="000000"/>
                </a:solidFill>
                <a:latin typeface="Cambria"/>
                <a:ea typeface="Cambria"/>
                <a:cs typeface="Cambria"/>
                <a:sym typeface="Cambria"/>
              </a:rPr>
              <a:t>PostgreSQL + PostGIS, Redis Cache, WebSocket Server — shared data &amp; tracking</a:t>
            </a:r>
          </a:p>
          <a:p>
            <a:pPr marL="488632" lvl="1" indent="-244316" algn="l">
              <a:lnSpc>
                <a:spcPts val="3240"/>
              </a:lnSpc>
              <a:buFont typeface="Arial"/>
              <a:buChar char="•"/>
            </a:pPr>
            <a:r>
              <a:rPr lang="en-US" sz="2700">
                <a:solidFill>
                  <a:srgbClr val="000000"/>
                </a:solidFill>
                <a:latin typeface="Cambria"/>
                <a:ea typeface="Cambria"/>
                <a:cs typeface="Cambria"/>
                <a:sym typeface="Cambria"/>
              </a:rPr>
              <a:t>API Gateway, Load Balancer, Message Queue — shared infrastructure</a:t>
            </a:r>
          </a:p>
          <a:p>
            <a:pPr marL="488632" lvl="1" indent="-244316" algn="l">
              <a:lnSpc>
                <a:spcPts val="3240"/>
              </a:lnSpc>
            </a:pPr>
            <a:endParaRPr lang="en-US" sz="2700">
              <a:solidFill>
                <a:srgbClr val="000000"/>
              </a:solidFill>
              <a:latin typeface="Cambria"/>
              <a:ea typeface="Cambria"/>
              <a:cs typeface="Cambria"/>
              <a:sym typeface="Cambria"/>
            </a:endParaRPr>
          </a:p>
          <a:p>
            <a:pPr marL="488632" lvl="1" indent="-244316" algn="l">
              <a:lnSpc>
                <a:spcPts val="3240"/>
              </a:lnSpc>
            </a:pPr>
            <a:endParaRPr lang="en-US" sz="2700">
              <a:solidFill>
                <a:srgbClr val="000000"/>
              </a:solidFill>
              <a:latin typeface="Cambria"/>
              <a:ea typeface="Cambria"/>
              <a:cs typeface="Cambria"/>
              <a:sym typeface="Cambria"/>
            </a:endParaRPr>
          </a:p>
        </p:txBody>
      </p:sp>
      <p:sp>
        <p:nvSpPr>
          <p:cNvPr id="16" name="TextBox 16"/>
          <p:cNvSpPr txBox="1"/>
          <p:nvPr/>
        </p:nvSpPr>
        <p:spPr>
          <a:xfrm>
            <a:off x="642766" y="153295"/>
            <a:ext cx="11610194" cy="365760"/>
          </a:xfrm>
          <a:prstGeom prst="rect">
            <a:avLst/>
          </a:prstGeom>
        </p:spPr>
        <p:txBody>
          <a:bodyPr lIns="0" tIns="0" rIns="0" bIns="0" rtlCol="0" anchor="t">
            <a:spAutoFit/>
          </a:bodyPr>
          <a:lstStyle/>
          <a:p>
            <a:pPr algn="l">
              <a:lnSpc>
                <a:spcPts val="1980"/>
              </a:lnSpc>
            </a:pPr>
            <a:r>
              <a:rPr lang="en-US" sz="1650" b="1">
                <a:solidFill>
                  <a:srgbClr val="000000"/>
                </a:solidFill>
                <a:latin typeface="Cambria Bold"/>
                <a:ea typeface="Cambria Bold"/>
                <a:cs typeface="Cambria Bold"/>
                <a:sym typeface="Cambria Bold"/>
              </a:rPr>
              <a:t>Temporal and Contextual Matching System for Service Provider Recommendations(Availability, Location, Weather, and TimeFactors).</a:t>
            </a:r>
          </a:p>
        </p:txBody>
      </p:sp>
      <p:grpSp>
        <p:nvGrpSpPr>
          <p:cNvPr id="17" name="Group 17"/>
          <p:cNvGrpSpPr/>
          <p:nvPr/>
        </p:nvGrpSpPr>
        <p:grpSpPr>
          <a:xfrm>
            <a:off x="4095750" y="9696450"/>
            <a:ext cx="8267700" cy="609600"/>
            <a:chOff x="0" y="0"/>
            <a:chExt cx="11023600" cy="812800"/>
          </a:xfrm>
        </p:grpSpPr>
        <p:sp>
          <p:nvSpPr>
            <p:cNvPr id="18" name="Freeform 18"/>
            <p:cNvSpPr/>
            <p:nvPr/>
          </p:nvSpPr>
          <p:spPr>
            <a:xfrm>
              <a:off x="25400" y="25400"/>
              <a:ext cx="10972800" cy="762000"/>
            </a:xfrm>
            <a:custGeom>
              <a:avLst/>
              <a:gdLst/>
              <a:ahLst/>
              <a:cxnLst/>
              <a:rect l="l" t="t" r="r" b="b"/>
              <a:pathLst>
                <a:path w="10972800" h="762000">
                  <a:moveTo>
                    <a:pt x="0" y="0"/>
                  </a:moveTo>
                  <a:lnTo>
                    <a:pt x="10972800" y="0"/>
                  </a:lnTo>
                  <a:lnTo>
                    <a:pt x="10972800" y="762000"/>
                  </a:lnTo>
                  <a:lnTo>
                    <a:pt x="0" y="762000"/>
                  </a:lnTo>
                  <a:close/>
                </a:path>
              </a:pathLst>
            </a:custGeom>
            <a:solidFill>
              <a:srgbClr val="FFFFFF"/>
            </a:solidFill>
          </p:spPr>
        </p:sp>
        <p:sp>
          <p:nvSpPr>
            <p:cNvPr id="19" name="Freeform 19"/>
            <p:cNvSpPr/>
            <p:nvPr/>
          </p:nvSpPr>
          <p:spPr>
            <a:xfrm>
              <a:off x="0" y="0"/>
              <a:ext cx="11023600" cy="812800"/>
            </a:xfrm>
            <a:custGeom>
              <a:avLst/>
              <a:gdLst/>
              <a:ahLst/>
              <a:cxnLst/>
              <a:rect l="l" t="t" r="r" b="b"/>
              <a:pathLst>
                <a:path w="11023600" h="812800">
                  <a:moveTo>
                    <a:pt x="25400" y="0"/>
                  </a:moveTo>
                  <a:lnTo>
                    <a:pt x="10998200" y="0"/>
                  </a:lnTo>
                  <a:cubicBezTo>
                    <a:pt x="11012170" y="0"/>
                    <a:pt x="11023600" y="11430"/>
                    <a:pt x="11023600" y="25400"/>
                  </a:cubicBezTo>
                  <a:lnTo>
                    <a:pt x="11023600" y="787400"/>
                  </a:lnTo>
                  <a:cubicBezTo>
                    <a:pt x="11023600" y="801370"/>
                    <a:pt x="11012170" y="812800"/>
                    <a:pt x="10998200" y="812800"/>
                  </a:cubicBezTo>
                  <a:lnTo>
                    <a:pt x="25400" y="812800"/>
                  </a:lnTo>
                  <a:cubicBezTo>
                    <a:pt x="11430" y="812800"/>
                    <a:pt x="0" y="801370"/>
                    <a:pt x="0" y="787400"/>
                  </a:cubicBezTo>
                  <a:lnTo>
                    <a:pt x="0" y="25400"/>
                  </a:lnTo>
                  <a:cubicBezTo>
                    <a:pt x="0" y="11430"/>
                    <a:pt x="11430" y="0"/>
                    <a:pt x="25400" y="0"/>
                  </a:cubicBezTo>
                  <a:moveTo>
                    <a:pt x="25400" y="50800"/>
                  </a:moveTo>
                  <a:lnTo>
                    <a:pt x="25400" y="25400"/>
                  </a:lnTo>
                  <a:lnTo>
                    <a:pt x="50800" y="25400"/>
                  </a:lnTo>
                  <a:lnTo>
                    <a:pt x="50800" y="787400"/>
                  </a:lnTo>
                  <a:lnTo>
                    <a:pt x="25400" y="787400"/>
                  </a:lnTo>
                  <a:lnTo>
                    <a:pt x="25400" y="762000"/>
                  </a:lnTo>
                  <a:lnTo>
                    <a:pt x="10998200" y="762000"/>
                  </a:lnTo>
                  <a:lnTo>
                    <a:pt x="10998200" y="787400"/>
                  </a:lnTo>
                  <a:lnTo>
                    <a:pt x="10972800" y="787400"/>
                  </a:lnTo>
                  <a:lnTo>
                    <a:pt x="10972800" y="25400"/>
                  </a:lnTo>
                  <a:lnTo>
                    <a:pt x="10998200" y="25400"/>
                  </a:lnTo>
                  <a:lnTo>
                    <a:pt x="10998200" y="50800"/>
                  </a:lnTo>
                  <a:lnTo>
                    <a:pt x="25400" y="50800"/>
                  </a:lnTo>
                  <a:close/>
                </a:path>
              </a:pathLst>
            </a:custGeom>
            <a:solidFill>
              <a:srgbClr val="FFFFFF"/>
            </a:solidFill>
          </p:spPr>
        </p:sp>
      </p:grpSp>
      <p:grpSp>
        <p:nvGrpSpPr>
          <p:cNvPr id="20" name="Group 20"/>
          <p:cNvGrpSpPr/>
          <p:nvPr/>
        </p:nvGrpSpPr>
        <p:grpSpPr>
          <a:xfrm>
            <a:off x="3932996" y="9707166"/>
            <a:ext cx="8724900" cy="439064"/>
            <a:chOff x="0" y="0"/>
            <a:chExt cx="11633200" cy="585419"/>
          </a:xfrm>
        </p:grpSpPr>
        <p:sp>
          <p:nvSpPr>
            <p:cNvPr id="21" name="Freeform 21"/>
            <p:cNvSpPr/>
            <p:nvPr/>
          </p:nvSpPr>
          <p:spPr>
            <a:xfrm>
              <a:off x="25400" y="25400"/>
              <a:ext cx="11582400" cy="534670"/>
            </a:xfrm>
            <a:custGeom>
              <a:avLst/>
              <a:gdLst/>
              <a:ahLst/>
              <a:cxnLst/>
              <a:rect l="l" t="t" r="r" b="b"/>
              <a:pathLst>
                <a:path w="11582400" h="534670">
                  <a:moveTo>
                    <a:pt x="0" y="0"/>
                  </a:moveTo>
                  <a:lnTo>
                    <a:pt x="11582400" y="0"/>
                  </a:lnTo>
                  <a:lnTo>
                    <a:pt x="11582400" y="534670"/>
                  </a:lnTo>
                  <a:lnTo>
                    <a:pt x="0" y="534670"/>
                  </a:lnTo>
                  <a:close/>
                </a:path>
              </a:pathLst>
            </a:custGeom>
            <a:solidFill>
              <a:srgbClr val="FFFFFF"/>
            </a:solidFill>
          </p:spPr>
        </p:sp>
        <p:sp>
          <p:nvSpPr>
            <p:cNvPr id="22" name="Freeform 22"/>
            <p:cNvSpPr/>
            <p:nvPr/>
          </p:nvSpPr>
          <p:spPr>
            <a:xfrm>
              <a:off x="0" y="0"/>
              <a:ext cx="11633200" cy="585470"/>
            </a:xfrm>
            <a:custGeom>
              <a:avLst/>
              <a:gdLst/>
              <a:ahLst/>
              <a:cxnLst/>
              <a:rect l="l" t="t" r="r" b="b"/>
              <a:pathLst>
                <a:path w="11633200" h="585470">
                  <a:moveTo>
                    <a:pt x="25400" y="0"/>
                  </a:moveTo>
                  <a:lnTo>
                    <a:pt x="11607800" y="0"/>
                  </a:lnTo>
                  <a:cubicBezTo>
                    <a:pt x="11621770" y="0"/>
                    <a:pt x="11633200" y="11430"/>
                    <a:pt x="11633200" y="25400"/>
                  </a:cubicBezTo>
                  <a:lnTo>
                    <a:pt x="11633200" y="560070"/>
                  </a:lnTo>
                  <a:cubicBezTo>
                    <a:pt x="11633200" y="574040"/>
                    <a:pt x="11621770" y="585470"/>
                    <a:pt x="11607800" y="585470"/>
                  </a:cubicBezTo>
                  <a:lnTo>
                    <a:pt x="25400" y="585470"/>
                  </a:lnTo>
                  <a:cubicBezTo>
                    <a:pt x="11430" y="585470"/>
                    <a:pt x="0" y="574040"/>
                    <a:pt x="0" y="560070"/>
                  </a:cubicBezTo>
                  <a:lnTo>
                    <a:pt x="0" y="25400"/>
                  </a:lnTo>
                  <a:cubicBezTo>
                    <a:pt x="0" y="11430"/>
                    <a:pt x="11430" y="0"/>
                    <a:pt x="25400" y="0"/>
                  </a:cubicBezTo>
                  <a:moveTo>
                    <a:pt x="25400" y="50800"/>
                  </a:moveTo>
                  <a:lnTo>
                    <a:pt x="25400" y="25400"/>
                  </a:lnTo>
                  <a:lnTo>
                    <a:pt x="50800" y="25400"/>
                  </a:lnTo>
                  <a:lnTo>
                    <a:pt x="50800" y="560070"/>
                  </a:lnTo>
                  <a:lnTo>
                    <a:pt x="25400" y="560070"/>
                  </a:lnTo>
                  <a:lnTo>
                    <a:pt x="25400" y="534670"/>
                  </a:lnTo>
                  <a:lnTo>
                    <a:pt x="11607800" y="534670"/>
                  </a:lnTo>
                  <a:lnTo>
                    <a:pt x="11607800" y="560070"/>
                  </a:lnTo>
                  <a:lnTo>
                    <a:pt x="11582400" y="560070"/>
                  </a:lnTo>
                  <a:lnTo>
                    <a:pt x="11582400" y="25400"/>
                  </a:lnTo>
                  <a:lnTo>
                    <a:pt x="11607800" y="25400"/>
                  </a:lnTo>
                  <a:lnTo>
                    <a:pt x="11607800" y="50800"/>
                  </a:lnTo>
                  <a:lnTo>
                    <a:pt x="25400" y="50800"/>
                  </a:lnTo>
                  <a:close/>
                </a:path>
              </a:pathLst>
            </a:custGeom>
            <a:solidFill>
              <a:srgbClr val="FFFFFF"/>
            </a:solidFill>
          </p:spPr>
        </p:sp>
      </p:grpSp>
      <p:grpSp>
        <p:nvGrpSpPr>
          <p:cNvPr id="23" name="Group 23"/>
          <p:cNvGrpSpPr/>
          <p:nvPr/>
        </p:nvGrpSpPr>
        <p:grpSpPr>
          <a:xfrm>
            <a:off x="3948655" y="9739312"/>
            <a:ext cx="10224545" cy="547688"/>
            <a:chOff x="0" y="0"/>
            <a:chExt cx="13632726" cy="730250"/>
          </a:xfrm>
        </p:grpSpPr>
        <p:sp>
          <p:nvSpPr>
            <p:cNvPr id="24" name="Freeform 24"/>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25" name="TextBox 25"/>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IT22190048</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Masakorala A H  </a:t>
              </a:r>
              <a:r>
                <a:rPr lang="en-US" sz="2700">
                  <a:solidFill>
                    <a:srgbClr val="000000"/>
                  </a:solidFill>
                  <a:latin typeface="Cambria"/>
                  <a:ea typeface="Cambria"/>
                  <a:cs typeface="Cambria"/>
                  <a:sym typeface="Cambria"/>
                </a:rPr>
                <a:t>|   RP26-IT-072</a:t>
              </a:r>
            </a:p>
          </p:txBody>
        </p:sp>
      </p:grpSp>
      <p:grpSp>
        <p:nvGrpSpPr>
          <p:cNvPr id="26" name="Group 26"/>
          <p:cNvGrpSpPr/>
          <p:nvPr/>
        </p:nvGrpSpPr>
        <p:grpSpPr>
          <a:xfrm>
            <a:off x="13373100" y="107575"/>
            <a:ext cx="4000500" cy="9722225"/>
            <a:chOff x="0" y="0"/>
            <a:chExt cx="5334000" cy="12962966"/>
          </a:xfrm>
        </p:grpSpPr>
        <p:sp>
          <p:nvSpPr>
            <p:cNvPr id="27" name="Freeform 27"/>
            <p:cNvSpPr/>
            <p:nvPr/>
          </p:nvSpPr>
          <p:spPr>
            <a:xfrm>
              <a:off x="0" y="0"/>
              <a:ext cx="5334000" cy="12963017"/>
            </a:xfrm>
            <a:custGeom>
              <a:avLst/>
              <a:gdLst/>
              <a:ahLst/>
              <a:cxnLst/>
              <a:rect l="l" t="t" r="r" b="b"/>
              <a:pathLst>
                <a:path w="5334000" h="12963017">
                  <a:moveTo>
                    <a:pt x="0" y="0"/>
                  </a:moveTo>
                  <a:lnTo>
                    <a:pt x="5334000" y="0"/>
                  </a:lnTo>
                  <a:lnTo>
                    <a:pt x="5334000" y="12963017"/>
                  </a:lnTo>
                  <a:lnTo>
                    <a:pt x="0" y="12963017"/>
                  </a:lnTo>
                  <a:lnTo>
                    <a:pt x="0" y="0"/>
                  </a:lnTo>
                  <a:close/>
                </a:path>
              </a:pathLst>
            </a:custGeom>
            <a:blipFill>
              <a:blip r:embed="rId4"/>
              <a:stretch>
                <a:fillRect t="-38" b="-38"/>
              </a:stretch>
            </a:blipFill>
          </p:spPr>
        </p:sp>
      </p:grpSp>
      <p:sp>
        <p:nvSpPr>
          <p:cNvPr id="28" name="TextBox 28"/>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0" y="9723311"/>
            <a:ext cx="15142904" cy="565033"/>
            <a:chOff x="0" y="0"/>
            <a:chExt cx="20190538" cy="753377"/>
          </a:xfrm>
        </p:grpSpPr>
        <p:sp>
          <p:nvSpPr>
            <p:cNvPr id="5" name="Freeform 5"/>
            <p:cNvSpPr/>
            <p:nvPr/>
          </p:nvSpPr>
          <p:spPr>
            <a:xfrm>
              <a:off x="0" y="0"/>
              <a:ext cx="20190538" cy="753364"/>
            </a:xfrm>
            <a:custGeom>
              <a:avLst/>
              <a:gdLst/>
              <a:ahLst/>
              <a:cxnLst/>
              <a:rect l="l" t="t" r="r" b="b"/>
              <a:pathLst>
                <a:path w="20190538" h="753364">
                  <a:moveTo>
                    <a:pt x="0" y="753364"/>
                  </a:moveTo>
                  <a:lnTo>
                    <a:pt x="12671982" y="0"/>
                  </a:lnTo>
                  <a:lnTo>
                    <a:pt x="20190538" y="753364"/>
                  </a:lnTo>
                  <a:close/>
                </a:path>
              </a:pathLst>
            </a:custGeom>
            <a:solidFill>
              <a:srgbClr val="FFFFFF">
                <a:alpha val="3922"/>
              </a:srgbClr>
            </a:solidFill>
          </p:spPr>
        </p:sp>
      </p:grpSp>
      <p:sp>
        <p:nvSpPr>
          <p:cNvPr id="6" name="TextBox 6"/>
          <p:cNvSpPr txBox="1"/>
          <p:nvPr/>
        </p:nvSpPr>
        <p:spPr>
          <a:xfrm>
            <a:off x="675561" y="668122"/>
            <a:ext cx="15523283" cy="1377096"/>
          </a:xfrm>
          <a:prstGeom prst="rect">
            <a:avLst/>
          </a:prstGeom>
        </p:spPr>
        <p:txBody>
          <a:bodyPr lIns="0" tIns="0" rIns="0" bIns="0" rtlCol="0" anchor="t">
            <a:spAutoFit/>
          </a:bodyPr>
          <a:lstStyle/>
          <a:p>
            <a:pPr algn="l">
              <a:lnSpc>
                <a:spcPts val="5040"/>
              </a:lnSpc>
            </a:pPr>
            <a:r>
              <a:rPr lang="en-US" sz="4200" b="1">
                <a:solidFill>
                  <a:srgbClr val="000000"/>
                </a:solidFill>
                <a:latin typeface="Cambria Bold"/>
                <a:ea typeface="Cambria Bold"/>
                <a:cs typeface="Cambria Bold"/>
                <a:sym typeface="Cambria Bold"/>
              </a:rPr>
              <a:t>Dynamic Skill Verification &amp; Credibility Evaluation</a:t>
            </a:r>
          </a:p>
        </p:txBody>
      </p:sp>
      <p:sp>
        <p:nvSpPr>
          <p:cNvPr id="7" name="TextBox 7"/>
          <p:cNvSpPr txBox="1"/>
          <p:nvPr/>
        </p:nvSpPr>
        <p:spPr>
          <a:xfrm>
            <a:off x="836924" y="2266864"/>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Contribution to the Overall Solution</a:t>
            </a:r>
          </a:p>
        </p:txBody>
      </p:sp>
      <p:sp>
        <p:nvSpPr>
          <p:cNvPr id="8" name="TextBox 8"/>
          <p:cNvSpPr txBox="1"/>
          <p:nvPr/>
        </p:nvSpPr>
        <p:spPr>
          <a:xfrm>
            <a:off x="777240" y="2884170"/>
            <a:ext cx="15637583" cy="2974600"/>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Ensures only qualified and verified providers are selected</a:t>
            </a:r>
          </a:p>
          <a:p>
            <a:pPr marL="488632" lvl="1" indent="-244316" algn="l">
              <a:lnSpc>
                <a:spcPts val="3240"/>
              </a:lnSpc>
              <a:buFont typeface="Arial"/>
              <a:buChar char="•"/>
            </a:pPr>
            <a:r>
              <a:rPr lang="en-US" sz="2700">
                <a:solidFill>
                  <a:srgbClr val="000000"/>
                </a:solidFill>
                <a:latin typeface="Cambria"/>
                <a:ea typeface="Cambria"/>
                <a:cs typeface="Cambria"/>
                <a:sym typeface="Cambria"/>
              </a:rPr>
              <a:t>Filters out unreliable or unverified service providers</a:t>
            </a:r>
          </a:p>
          <a:p>
            <a:pPr marL="488632" lvl="1" indent="-244316" algn="l">
              <a:lnSpc>
                <a:spcPts val="3240"/>
              </a:lnSpc>
              <a:buFont typeface="Arial"/>
              <a:buChar char="•"/>
            </a:pPr>
            <a:r>
              <a:rPr lang="en-US" sz="2700">
                <a:solidFill>
                  <a:srgbClr val="000000"/>
                </a:solidFill>
                <a:latin typeface="Cambria"/>
                <a:ea typeface="Cambria"/>
                <a:cs typeface="Cambria"/>
                <a:sym typeface="Cambria"/>
              </a:rPr>
              <a:t>Improves accuracy of the recommendation system</a:t>
            </a:r>
          </a:p>
          <a:p>
            <a:pPr marL="488632" lvl="1" indent="-244316" algn="l">
              <a:lnSpc>
                <a:spcPts val="3240"/>
              </a:lnSpc>
              <a:buFont typeface="Arial"/>
              <a:buChar char="•"/>
            </a:pPr>
            <a:r>
              <a:rPr lang="en-US" sz="2700">
                <a:solidFill>
                  <a:srgbClr val="000000"/>
                </a:solidFill>
                <a:latin typeface="Cambria"/>
                <a:ea typeface="Cambria"/>
                <a:cs typeface="Cambria"/>
                <a:sym typeface="Cambria"/>
              </a:rPr>
              <a:t>Enhances user trust and decision-making</a:t>
            </a:r>
          </a:p>
          <a:p>
            <a:pPr marL="488632" lvl="1" indent="-244316" algn="l">
              <a:lnSpc>
                <a:spcPts val="3240"/>
              </a:lnSpc>
              <a:buFont typeface="Arial"/>
              <a:buChar char="•"/>
            </a:pPr>
            <a:r>
              <a:rPr lang="en-US" sz="2700">
                <a:solidFill>
                  <a:srgbClr val="000000"/>
                </a:solidFill>
                <a:latin typeface="Cambria"/>
                <a:ea typeface="Cambria"/>
                <a:cs typeface="Cambria"/>
                <a:sym typeface="Cambria"/>
              </a:rPr>
              <a:t>Provides a credibility score for better ranking</a:t>
            </a:r>
          </a:p>
          <a:p>
            <a:pPr marL="488632" lvl="1" indent="-244316" algn="l">
              <a:lnSpc>
                <a:spcPts val="3240"/>
              </a:lnSpc>
              <a:buFont typeface="Arial"/>
              <a:buChar char="•"/>
            </a:pPr>
            <a:r>
              <a:rPr lang="en-US" sz="2700">
                <a:solidFill>
                  <a:srgbClr val="000000"/>
                </a:solidFill>
                <a:latin typeface="Cambria"/>
                <a:ea typeface="Cambria"/>
                <a:cs typeface="Cambria"/>
                <a:sym typeface="Cambria"/>
              </a:rPr>
              <a:t>Supports final selection of Top 5 providers in the system</a:t>
            </a:r>
          </a:p>
          <a:p>
            <a:pPr marL="488632" lvl="1" indent="-244316" algn="l">
              <a:lnSpc>
                <a:spcPts val="3240"/>
              </a:lnSpc>
            </a:pPr>
            <a:endParaRPr lang="en-US" sz="2700">
              <a:solidFill>
                <a:srgbClr val="000000"/>
              </a:solidFill>
              <a:latin typeface="Cambria"/>
              <a:ea typeface="Cambria"/>
              <a:cs typeface="Cambria"/>
              <a:sym typeface="Cambria"/>
            </a:endParaRPr>
          </a:p>
        </p:txBody>
      </p:sp>
      <p:sp>
        <p:nvSpPr>
          <p:cNvPr id="9" name="TextBox 9"/>
          <p:cNvSpPr txBox="1"/>
          <p:nvPr/>
        </p:nvSpPr>
        <p:spPr>
          <a:xfrm>
            <a:off x="777240" y="6014599"/>
            <a:ext cx="88468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Novelty of the component</a:t>
            </a:r>
          </a:p>
        </p:txBody>
      </p:sp>
      <p:sp>
        <p:nvSpPr>
          <p:cNvPr id="10" name="TextBox 10"/>
          <p:cNvSpPr txBox="1"/>
          <p:nvPr/>
        </p:nvSpPr>
        <p:spPr>
          <a:xfrm>
            <a:off x="561261" y="6903663"/>
            <a:ext cx="15637583" cy="2974600"/>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Ensures only qualified and verified providers are selected</a:t>
            </a:r>
          </a:p>
          <a:p>
            <a:pPr marL="488632" lvl="1" indent="-244316" algn="l">
              <a:lnSpc>
                <a:spcPts val="3240"/>
              </a:lnSpc>
              <a:buFont typeface="Arial"/>
              <a:buChar char="•"/>
            </a:pPr>
            <a:r>
              <a:rPr lang="en-US" sz="2700">
                <a:solidFill>
                  <a:srgbClr val="000000"/>
                </a:solidFill>
                <a:latin typeface="Cambria"/>
                <a:ea typeface="Cambria"/>
                <a:cs typeface="Cambria"/>
                <a:sym typeface="Cambria"/>
              </a:rPr>
              <a:t>Filters out unreliable or unverified service providers</a:t>
            </a:r>
          </a:p>
          <a:p>
            <a:pPr marL="488632" lvl="1" indent="-244316" algn="l">
              <a:lnSpc>
                <a:spcPts val="3240"/>
              </a:lnSpc>
              <a:buFont typeface="Arial"/>
              <a:buChar char="•"/>
            </a:pPr>
            <a:r>
              <a:rPr lang="en-US" sz="2700">
                <a:solidFill>
                  <a:srgbClr val="000000"/>
                </a:solidFill>
                <a:latin typeface="Cambria"/>
                <a:ea typeface="Cambria"/>
                <a:cs typeface="Cambria"/>
                <a:sym typeface="Cambria"/>
              </a:rPr>
              <a:t>Improves accuracy of the recommendation system</a:t>
            </a:r>
          </a:p>
          <a:p>
            <a:pPr marL="488632" lvl="1" indent="-244316" algn="l">
              <a:lnSpc>
                <a:spcPts val="3240"/>
              </a:lnSpc>
              <a:buFont typeface="Arial"/>
              <a:buChar char="•"/>
            </a:pPr>
            <a:r>
              <a:rPr lang="en-US" sz="2700">
                <a:solidFill>
                  <a:srgbClr val="000000"/>
                </a:solidFill>
                <a:latin typeface="Cambria"/>
                <a:ea typeface="Cambria"/>
                <a:cs typeface="Cambria"/>
                <a:sym typeface="Cambria"/>
              </a:rPr>
              <a:t>Enhances user trust and decision-making</a:t>
            </a:r>
          </a:p>
          <a:p>
            <a:pPr marL="488632" lvl="1" indent="-244316" algn="l">
              <a:lnSpc>
                <a:spcPts val="3240"/>
              </a:lnSpc>
              <a:buFont typeface="Arial"/>
              <a:buChar char="•"/>
            </a:pPr>
            <a:r>
              <a:rPr lang="en-US" sz="2700">
                <a:solidFill>
                  <a:srgbClr val="000000"/>
                </a:solidFill>
                <a:latin typeface="Cambria"/>
                <a:ea typeface="Cambria"/>
                <a:cs typeface="Cambria"/>
                <a:sym typeface="Cambria"/>
              </a:rPr>
              <a:t>Provides a credibility score for better ranking</a:t>
            </a:r>
          </a:p>
          <a:p>
            <a:pPr marL="488632" lvl="1" indent="-244316" algn="l">
              <a:lnSpc>
                <a:spcPts val="3240"/>
              </a:lnSpc>
              <a:buFont typeface="Arial"/>
              <a:buChar char="•"/>
            </a:pPr>
            <a:r>
              <a:rPr lang="en-US" sz="2700">
                <a:solidFill>
                  <a:srgbClr val="000000"/>
                </a:solidFill>
                <a:latin typeface="Cambria"/>
                <a:ea typeface="Cambria"/>
                <a:cs typeface="Cambria"/>
                <a:sym typeface="Cambria"/>
              </a:rPr>
              <a:t>Supports final selection of Top 5 providers in the system</a:t>
            </a:r>
          </a:p>
          <a:p>
            <a:pPr marL="488632" lvl="1" indent="-244316" algn="l">
              <a:lnSpc>
                <a:spcPts val="3240"/>
              </a:lnSpc>
            </a:pPr>
            <a:endParaRPr lang="en-US" sz="2700">
              <a:solidFill>
                <a:srgbClr val="000000"/>
              </a:solidFill>
              <a:latin typeface="Cambria"/>
              <a:ea typeface="Cambria"/>
              <a:cs typeface="Cambria"/>
              <a:sym typeface="Cambria"/>
            </a:endParaRPr>
          </a:p>
        </p:txBody>
      </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grpSp>
        <p:nvGrpSpPr>
          <p:cNvPr id="12" name="Group 12"/>
          <p:cNvGrpSpPr/>
          <p:nvPr/>
        </p:nvGrpSpPr>
        <p:grpSpPr>
          <a:xfrm>
            <a:off x="4643147" y="9653845"/>
            <a:ext cx="10224545" cy="547688"/>
            <a:chOff x="0" y="0"/>
            <a:chExt cx="13632726" cy="730250"/>
          </a:xfrm>
        </p:grpSpPr>
        <p:sp>
          <p:nvSpPr>
            <p:cNvPr id="13" name="Freeform 13"/>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14" name="TextBox 14"/>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IT22117182</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Roopasinghe. E.M.N.S</a:t>
              </a:r>
              <a:r>
                <a:rPr lang="en-US" sz="2700">
                  <a:solidFill>
                    <a:srgbClr val="000000"/>
                  </a:solidFill>
                  <a:latin typeface="Cambria"/>
                  <a:ea typeface="Cambria"/>
                  <a:cs typeface="Cambria"/>
                  <a:sym typeface="Cambria"/>
                </a:rPr>
                <a:t>|   RP26-IT-072</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0" y="9723311"/>
            <a:ext cx="15312390" cy="565033"/>
            <a:chOff x="0" y="0"/>
            <a:chExt cx="20416520" cy="753377"/>
          </a:xfrm>
        </p:grpSpPr>
        <p:sp>
          <p:nvSpPr>
            <p:cNvPr id="5" name="Freeform 5"/>
            <p:cNvSpPr/>
            <p:nvPr/>
          </p:nvSpPr>
          <p:spPr>
            <a:xfrm>
              <a:off x="0" y="0"/>
              <a:ext cx="20416520" cy="753364"/>
            </a:xfrm>
            <a:custGeom>
              <a:avLst/>
              <a:gdLst/>
              <a:ahLst/>
              <a:cxnLst/>
              <a:rect l="l" t="t" r="r" b="b"/>
              <a:pathLst>
                <a:path w="20416520" h="753364">
                  <a:moveTo>
                    <a:pt x="0" y="753364"/>
                  </a:moveTo>
                  <a:lnTo>
                    <a:pt x="12813812" y="0"/>
                  </a:lnTo>
                  <a:lnTo>
                    <a:pt x="20416520" y="753364"/>
                  </a:lnTo>
                  <a:close/>
                </a:path>
              </a:pathLst>
            </a:custGeom>
            <a:solidFill>
              <a:srgbClr val="FFFFFF">
                <a:alpha val="3922"/>
              </a:srgbClr>
            </a:solidFill>
          </p:spPr>
        </p:sp>
      </p:grpSp>
      <p:sp>
        <p:nvSpPr>
          <p:cNvPr id="6" name="TextBox 6"/>
          <p:cNvSpPr txBox="1"/>
          <p:nvPr/>
        </p:nvSpPr>
        <p:spPr>
          <a:xfrm>
            <a:off x="648948" y="1559338"/>
            <a:ext cx="15933420" cy="2143601"/>
          </a:xfrm>
          <a:prstGeom prst="rect">
            <a:avLst/>
          </a:prstGeom>
        </p:spPr>
        <p:txBody>
          <a:bodyPr lIns="0" tIns="0" rIns="0" bIns="0" rtlCol="0" anchor="t">
            <a:spAutoFit/>
          </a:bodyPr>
          <a:lstStyle/>
          <a:p>
            <a:pPr algn="just">
              <a:lnSpc>
                <a:spcPts val="3240"/>
              </a:lnSpc>
            </a:pPr>
            <a:r>
              <a:rPr lang="en-US" sz="2700">
                <a:solidFill>
                  <a:srgbClr val="000000"/>
                </a:solidFill>
                <a:latin typeface="Cambria"/>
                <a:ea typeface="Cambria"/>
                <a:cs typeface="Cambria"/>
                <a:sym typeface="Cambria"/>
              </a:rPr>
              <a:t>Existing service platforms in Sri Lanka mainly operate as basic listing systems where users select providers based on ratings and reviews. However, these platforms do not properly verify the skills, qualifications, or credibility of service providers. As a result, ratings can be misleading, biased, or even fake, making it difficult for users to identify reliable professionals. This lack of verification and transparency often leads to poor service quality and reduced user trust in the platform.</a:t>
            </a:r>
          </a:p>
        </p:txBody>
      </p:sp>
      <p:sp>
        <p:nvSpPr>
          <p:cNvPr id="7" name="TextBox 7"/>
          <p:cNvSpPr txBox="1"/>
          <p:nvPr/>
        </p:nvSpPr>
        <p:spPr>
          <a:xfrm>
            <a:off x="648948" y="4099779"/>
            <a:ext cx="88468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Research Objectives</a:t>
            </a:r>
          </a:p>
        </p:txBody>
      </p:sp>
      <p:sp>
        <p:nvSpPr>
          <p:cNvPr id="8" name="TextBox 8"/>
          <p:cNvSpPr txBox="1"/>
          <p:nvPr/>
        </p:nvSpPr>
        <p:spPr>
          <a:xfrm>
            <a:off x="1082821" y="4838548"/>
            <a:ext cx="29032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Main Objective : </a:t>
            </a:r>
          </a:p>
        </p:txBody>
      </p:sp>
      <p:sp>
        <p:nvSpPr>
          <p:cNvPr id="9" name="TextBox 9"/>
          <p:cNvSpPr txBox="1"/>
          <p:nvPr/>
        </p:nvSpPr>
        <p:spPr>
          <a:xfrm>
            <a:off x="4320540" y="4852102"/>
            <a:ext cx="12733020" cy="897103"/>
          </a:xfrm>
          <a:prstGeom prst="rect">
            <a:avLst/>
          </a:prstGeom>
        </p:spPr>
        <p:txBody>
          <a:bodyPr lIns="0" tIns="0" rIns="0" bIns="0" rtlCol="0" anchor="t">
            <a:spAutoFit/>
          </a:bodyPr>
          <a:lstStyle/>
          <a:p>
            <a:pPr algn="l">
              <a:lnSpc>
                <a:spcPts val="3240"/>
              </a:lnSpc>
            </a:pPr>
            <a:r>
              <a:rPr lang="en-US" sz="2700">
                <a:solidFill>
                  <a:srgbClr val="000000"/>
                </a:solidFill>
                <a:latin typeface="Cambria"/>
                <a:ea typeface="Cambria"/>
                <a:cs typeface="Cambria"/>
                <a:sym typeface="Cambria"/>
              </a:rPr>
              <a:t>To design and develop a credibility evaluation system that accurately identifies and ranks the most suitable service providers.</a:t>
            </a:r>
          </a:p>
        </p:txBody>
      </p:sp>
      <p:sp>
        <p:nvSpPr>
          <p:cNvPr id="10" name="TextBox 10"/>
          <p:cNvSpPr txBox="1"/>
          <p:nvPr/>
        </p:nvSpPr>
        <p:spPr>
          <a:xfrm>
            <a:off x="1106148" y="6103125"/>
            <a:ext cx="29032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Sub Objectives :   </a:t>
            </a:r>
          </a:p>
        </p:txBody>
      </p:sp>
      <p:sp>
        <p:nvSpPr>
          <p:cNvPr id="11" name="TextBox 11"/>
          <p:cNvSpPr txBox="1"/>
          <p:nvPr/>
        </p:nvSpPr>
        <p:spPr>
          <a:xfrm>
            <a:off x="648948" y="1055370"/>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Problem Definition</a:t>
            </a:r>
          </a:p>
        </p:txBody>
      </p:sp>
      <p:sp>
        <p:nvSpPr>
          <p:cNvPr id="12" name="TextBox 12"/>
          <p:cNvSpPr txBox="1"/>
          <p:nvPr/>
        </p:nvSpPr>
        <p:spPr>
          <a:xfrm>
            <a:off x="4140927" y="6019933"/>
            <a:ext cx="13761720" cy="2143601"/>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Perform aspect-level sentiment analysis using Bi-LSTM models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Detect and filter fake or suspicious reviews using anomaly detection techniques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Generate accurate sentiment scores based on verified reviews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Improve provider ranking using sentiment-based adjustments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Provide explainable insights for better user decision-making </a:t>
            </a:r>
          </a:p>
        </p:txBody>
      </p:sp>
      <p:sp>
        <p:nvSpPr>
          <p:cNvPr id="13" name="TextBox 13"/>
          <p:cNvSpPr txBox="1"/>
          <p:nvPr/>
        </p:nvSpPr>
        <p:spPr>
          <a:xfrm>
            <a:off x="91440" y="27137"/>
            <a:ext cx="15361920" cy="37528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DYNAMIC SKILL VERIFICATION &amp; CREDIBILITY EVALUATION</a:t>
            </a:r>
          </a:p>
        </p:txBody>
      </p:sp>
      <p:sp>
        <p:nvSpPr>
          <p:cNvPr id="14" name="TextBox 14"/>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grpSp>
        <p:nvGrpSpPr>
          <p:cNvPr id="15" name="Group 15"/>
          <p:cNvGrpSpPr/>
          <p:nvPr/>
        </p:nvGrpSpPr>
        <p:grpSpPr>
          <a:xfrm>
            <a:off x="4643147" y="9653845"/>
            <a:ext cx="10224545" cy="547688"/>
            <a:chOff x="0" y="0"/>
            <a:chExt cx="13632726" cy="730250"/>
          </a:xfrm>
        </p:grpSpPr>
        <p:sp>
          <p:nvSpPr>
            <p:cNvPr id="16" name="Freeform 16"/>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17" name="TextBox 17"/>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IT22117182</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Roopasinghe. E.M.N.S</a:t>
              </a:r>
              <a:r>
                <a:rPr lang="en-US" sz="2700">
                  <a:solidFill>
                    <a:srgbClr val="000000"/>
                  </a:solidFill>
                  <a:latin typeface="Cambria"/>
                  <a:ea typeface="Cambria"/>
                  <a:cs typeface="Cambria"/>
                  <a:sym typeface="Cambria"/>
                </a:rPr>
                <a:t>|   RP26-IT-072</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0" y="9723311"/>
            <a:ext cx="15142904" cy="565033"/>
            <a:chOff x="0" y="0"/>
            <a:chExt cx="20190538" cy="753377"/>
          </a:xfrm>
        </p:grpSpPr>
        <p:sp>
          <p:nvSpPr>
            <p:cNvPr id="5" name="Freeform 5"/>
            <p:cNvSpPr/>
            <p:nvPr/>
          </p:nvSpPr>
          <p:spPr>
            <a:xfrm>
              <a:off x="0" y="0"/>
              <a:ext cx="20190538" cy="753364"/>
            </a:xfrm>
            <a:custGeom>
              <a:avLst/>
              <a:gdLst/>
              <a:ahLst/>
              <a:cxnLst/>
              <a:rect l="l" t="t" r="r" b="b"/>
              <a:pathLst>
                <a:path w="20190538" h="753364">
                  <a:moveTo>
                    <a:pt x="0" y="753364"/>
                  </a:moveTo>
                  <a:lnTo>
                    <a:pt x="12671982" y="0"/>
                  </a:lnTo>
                  <a:lnTo>
                    <a:pt x="20190538" y="753364"/>
                  </a:lnTo>
                  <a:close/>
                </a:path>
              </a:pathLst>
            </a:custGeom>
            <a:solidFill>
              <a:srgbClr val="FFFFFF">
                <a:alpha val="3922"/>
              </a:srgbClr>
            </a:solidFill>
          </p:spPr>
        </p:sp>
      </p:grpSp>
      <p:sp>
        <p:nvSpPr>
          <p:cNvPr id="6" name="TextBox 6"/>
          <p:cNvSpPr txBox="1"/>
          <p:nvPr/>
        </p:nvSpPr>
        <p:spPr>
          <a:xfrm>
            <a:off x="624183" y="576167"/>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Application of Domain Knowledge</a:t>
            </a:r>
          </a:p>
        </p:txBody>
      </p:sp>
      <p:sp>
        <p:nvSpPr>
          <p:cNvPr id="7" name="TextBox 7"/>
          <p:cNvSpPr txBox="1"/>
          <p:nvPr/>
        </p:nvSpPr>
        <p:spPr>
          <a:xfrm>
            <a:off x="642766" y="1170813"/>
            <a:ext cx="8638394" cy="4636589"/>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Based on Recommender Systems concepts</a:t>
            </a:r>
          </a:p>
          <a:p>
            <a:pPr marL="488632" lvl="1" indent="-244316" algn="l">
              <a:lnSpc>
                <a:spcPts val="3240"/>
              </a:lnSpc>
              <a:buFont typeface="Arial"/>
              <a:buChar char="•"/>
            </a:pPr>
            <a:r>
              <a:rPr lang="en-US" sz="2700">
                <a:solidFill>
                  <a:srgbClr val="000000"/>
                </a:solidFill>
                <a:latin typeface="Cambria"/>
                <a:ea typeface="Cambria"/>
                <a:cs typeface="Cambria"/>
                <a:sym typeface="Cambria"/>
              </a:rPr>
              <a:t>Uses data analysis techniques to evaluate provider information</a:t>
            </a:r>
          </a:p>
          <a:p>
            <a:pPr marL="488632" lvl="1" indent="-244316" algn="l">
              <a:lnSpc>
                <a:spcPts val="3240"/>
              </a:lnSpc>
              <a:buFont typeface="Arial"/>
              <a:buChar char="•"/>
            </a:pPr>
            <a:r>
              <a:rPr lang="en-US" sz="2700">
                <a:solidFill>
                  <a:srgbClr val="000000"/>
                </a:solidFill>
                <a:latin typeface="Cambria"/>
                <a:ea typeface="Cambria"/>
                <a:cs typeface="Cambria"/>
                <a:sym typeface="Cambria"/>
              </a:rPr>
              <a:t>Applies evaluation of:</a:t>
            </a:r>
          </a:p>
          <a:p>
            <a:pPr marL="2546033" lvl="4" indent="-509207" algn="l">
              <a:lnSpc>
                <a:spcPts val="3240"/>
              </a:lnSpc>
              <a:buFont typeface="Arial"/>
              <a:buChar char="•"/>
            </a:pPr>
            <a:r>
              <a:rPr lang="en-US" sz="2700">
                <a:solidFill>
                  <a:srgbClr val="000000"/>
                </a:solidFill>
                <a:latin typeface="Cambria"/>
                <a:ea typeface="Cambria"/>
                <a:cs typeface="Cambria"/>
                <a:sym typeface="Cambria"/>
              </a:rPr>
              <a:t>Certifications</a:t>
            </a:r>
          </a:p>
          <a:p>
            <a:pPr marL="2546033" lvl="4" indent="-509207" algn="l">
              <a:lnSpc>
                <a:spcPts val="3240"/>
              </a:lnSpc>
              <a:buFont typeface="Arial"/>
              <a:buChar char="•"/>
            </a:pPr>
            <a:r>
              <a:rPr lang="en-US" sz="2700">
                <a:solidFill>
                  <a:srgbClr val="000000"/>
                </a:solidFill>
                <a:latin typeface="Cambria"/>
                <a:ea typeface="Cambria"/>
                <a:cs typeface="Cambria"/>
                <a:sym typeface="Cambria"/>
              </a:rPr>
              <a:t>Experience</a:t>
            </a:r>
          </a:p>
          <a:p>
            <a:pPr marL="2546033" lvl="4" indent="-509207" algn="l">
              <a:lnSpc>
                <a:spcPts val="3240"/>
              </a:lnSpc>
              <a:buFont typeface="Arial"/>
              <a:buChar char="•"/>
            </a:pPr>
            <a:r>
              <a:rPr lang="en-US" sz="2700">
                <a:solidFill>
                  <a:srgbClr val="000000"/>
                </a:solidFill>
                <a:latin typeface="Cambria"/>
                <a:ea typeface="Cambria"/>
                <a:cs typeface="Cambria"/>
                <a:sym typeface="Cambria"/>
              </a:rPr>
              <a:t>Performance history</a:t>
            </a:r>
          </a:p>
          <a:p>
            <a:pPr marL="488632" lvl="1" indent="-244316" algn="l">
              <a:lnSpc>
                <a:spcPts val="3240"/>
              </a:lnSpc>
              <a:buFont typeface="Arial"/>
              <a:buChar char="•"/>
            </a:pPr>
            <a:r>
              <a:rPr lang="en-US" sz="2700">
                <a:solidFill>
                  <a:srgbClr val="000000"/>
                </a:solidFill>
                <a:latin typeface="Cambria"/>
                <a:ea typeface="Cambria"/>
                <a:cs typeface="Cambria"/>
                <a:sym typeface="Cambria"/>
              </a:rPr>
              <a:t>Uses a multi-factor credibility scoring model</a:t>
            </a:r>
          </a:p>
          <a:p>
            <a:pPr marL="488632" lvl="1" indent="-244316" algn="l">
              <a:lnSpc>
                <a:spcPts val="3240"/>
              </a:lnSpc>
              <a:buFont typeface="Arial"/>
              <a:buChar char="•"/>
            </a:pPr>
            <a:r>
              <a:rPr lang="en-US" sz="2700">
                <a:solidFill>
                  <a:srgbClr val="000000"/>
                </a:solidFill>
                <a:latin typeface="Cambria"/>
                <a:ea typeface="Cambria"/>
                <a:cs typeface="Cambria"/>
                <a:sym typeface="Cambria"/>
              </a:rPr>
              <a:t>Combines multiple factors into a single credibility score</a:t>
            </a:r>
          </a:p>
          <a:p>
            <a:pPr marL="488632" lvl="1" indent="-244316" algn="l">
              <a:lnSpc>
                <a:spcPts val="3240"/>
              </a:lnSpc>
              <a:buFont typeface="Arial"/>
              <a:buChar char="•"/>
            </a:pPr>
            <a:r>
              <a:rPr lang="en-US" sz="2700">
                <a:solidFill>
                  <a:srgbClr val="000000"/>
                </a:solidFill>
                <a:latin typeface="Cambria"/>
                <a:ea typeface="Cambria"/>
                <a:cs typeface="Cambria"/>
                <a:sym typeface="Cambria"/>
              </a:rPr>
              <a:t>Supports data-driven and reliable recommendations</a:t>
            </a:r>
          </a:p>
          <a:p>
            <a:pPr marL="488632" lvl="1" indent="-244316" algn="l">
              <a:lnSpc>
                <a:spcPts val="3240"/>
              </a:lnSpc>
            </a:pPr>
            <a:endParaRPr lang="en-US" sz="2700">
              <a:solidFill>
                <a:srgbClr val="000000"/>
              </a:solidFill>
              <a:latin typeface="Cambria"/>
              <a:ea typeface="Cambria"/>
              <a:cs typeface="Cambria"/>
              <a:sym typeface="Cambria"/>
            </a:endParaRPr>
          </a:p>
        </p:txBody>
      </p:sp>
      <p:sp>
        <p:nvSpPr>
          <p:cNvPr id="8" name="TextBox 8"/>
          <p:cNvSpPr txBox="1"/>
          <p:nvPr/>
        </p:nvSpPr>
        <p:spPr>
          <a:xfrm>
            <a:off x="11535804" y="591445"/>
            <a:ext cx="45034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Evaluation and Validation</a:t>
            </a:r>
          </a:p>
        </p:txBody>
      </p:sp>
      <p:sp>
        <p:nvSpPr>
          <p:cNvPr id="9" name="TextBox 9"/>
          <p:cNvSpPr txBox="1"/>
          <p:nvPr/>
        </p:nvSpPr>
        <p:spPr>
          <a:xfrm>
            <a:off x="10064277" y="1319974"/>
            <a:ext cx="7446483" cy="3390100"/>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Accuracy – measures how correctly the system identifies credible providers</a:t>
            </a:r>
          </a:p>
          <a:p>
            <a:pPr marL="488632" lvl="1" indent="-244316" algn="l">
              <a:lnSpc>
                <a:spcPts val="3240"/>
              </a:lnSpc>
              <a:buFont typeface="Arial"/>
              <a:buChar char="•"/>
            </a:pPr>
            <a:r>
              <a:rPr lang="en-US" sz="2700">
                <a:solidFill>
                  <a:srgbClr val="000000"/>
                </a:solidFill>
                <a:latin typeface="Cambria"/>
                <a:ea typeface="Cambria"/>
                <a:cs typeface="Cambria"/>
                <a:sym typeface="Cambria"/>
              </a:rPr>
              <a:t>Precision – measures how many recommended providers are relevant</a:t>
            </a:r>
          </a:p>
          <a:p>
            <a:pPr marL="488632" lvl="1" indent="-244316" algn="l">
              <a:lnSpc>
                <a:spcPts val="3240"/>
              </a:lnSpc>
              <a:buFont typeface="Arial"/>
              <a:buChar char="•"/>
            </a:pPr>
            <a:r>
              <a:rPr lang="en-US" sz="2700">
                <a:solidFill>
                  <a:srgbClr val="000000"/>
                </a:solidFill>
                <a:latin typeface="Cambria"/>
                <a:ea typeface="Cambria"/>
                <a:cs typeface="Cambria"/>
                <a:sym typeface="Cambria"/>
              </a:rPr>
              <a:t>Recall – measures how well the system finds all trustworthy providers</a:t>
            </a:r>
          </a:p>
          <a:p>
            <a:pPr marL="488632" lvl="1" indent="-244316" algn="l">
              <a:lnSpc>
                <a:spcPts val="3240"/>
              </a:lnSpc>
              <a:buFont typeface="Arial"/>
              <a:buChar char="•"/>
            </a:pPr>
            <a:r>
              <a:rPr lang="en-US" sz="2700">
                <a:solidFill>
                  <a:srgbClr val="000000"/>
                </a:solidFill>
                <a:latin typeface="Cambria"/>
                <a:ea typeface="Cambria"/>
                <a:cs typeface="Cambria"/>
                <a:sym typeface="Cambria"/>
              </a:rPr>
              <a:t>F1 Score – provides a balanced evaluation of precision and recall</a:t>
            </a:r>
          </a:p>
        </p:txBody>
      </p:sp>
      <p:sp>
        <p:nvSpPr>
          <p:cNvPr id="10" name="TextBox 10"/>
          <p:cNvSpPr txBox="1"/>
          <p:nvPr/>
        </p:nvSpPr>
        <p:spPr>
          <a:xfrm>
            <a:off x="582197" y="5591632"/>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Technologies Used</a:t>
            </a:r>
          </a:p>
        </p:txBody>
      </p:sp>
      <p:sp>
        <p:nvSpPr>
          <p:cNvPr id="11" name="TextBox 11"/>
          <p:cNvSpPr txBox="1"/>
          <p:nvPr/>
        </p:nvSpPr>
        <p:spPr>
          <a:xfrm>
            <a:off x="624183" y="6163189"/>
            <a:ext cx="9895694" cy="2974600"/>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Python – used for implementing the credibility evaluation model</a:t>
            </a:r>
          </a:p>
          <a:p>
            <a:pPr marL="488632" lvl="1" indent="-244316" algn="l">
              <a:lnSpc>
                <a:spcPts val="3240"/>
              </a:lnSpc>
              <a:buFont typeface="Arial"/>
              <a:buChar char="•"/>
            </a:pPr>
            <a:r>
              <a:rPr lang="en-US" sz="2700">
                <a:solidFill>
                  <a:srgbClr val="000000"/>
                </a:solidFill>
                <a:latin typeface="Cambria"/>
                <a:ea typeface="Cambria"/>
                <a:cs typeface="Cambria"/>
                <a:sym typeface="Cambria"/>
              </a:rPr>
              <a:t>Pandas – for data processing and handling datasets</a:t>
            </a:r>
          </a:p>
          <a:p>
            <a:pPr marL="488632" lvl="1" indent="-244316" algn="l">
              <a:lnSpc>
                <a:spcPts val="3240"/>
              </a:lnSpc>
              <a:buFont typeface="Arial"/>
              <a:buChar char="•"/>
            </a:pPr>
            <a:r>
              <a:rPr lang="en-US" sz="2700">
                <a:solidFill>
                  <a:srgbClr val="000000"/>
                </a:solidFill>
                <a:latin typeface="Cambria"/>
                <a:ea typeface="Cambria"/>
                <a:cs typeface="Cambria"/>
                <a:sym typeface="Cambria"/>
              </a:rPr>
              <a:t>NumPy – for numerical calculations and score computation</a:t>
            </a:r>
          </a:p>
          <a:p>
            <a:pPr marL="488632" lvl="1" indent="-244316" algn="l">
              <a:lnSpc>
                <a:spcPts val="3240"/>
              </a:lnSpc>
              <a:buFont typeface="Arial"/>
              <a:buChar char="•"/>
            </a:pPr>
            <a:r>
              <a:rPr lang="en-US" sz="2700">
                <a:solidFill>
                  <a:srgbClr val="000000"/>
                </a:solidFill>
                <a:latin typeface="Cambria"/>
                <a:ea typeface="Cambria"/>
                <a:cs typeface="Cambria"/>
                <a:sym typeface="Cambria"/>
              </a:rPr>
              <a:t>Jupyter Notebook – for development, testing, and visualization</a:t>
            </a:r>
          </a:p>
          <a:p>
            <a:pPr marL="488632" lvl="1" indent="-244316" algn="l">
              <a:lnSpc>
                <a:spcPts val="3240"/>
              </a:lnSpc>
              <a:buFont typeface="Arial"/>
              <a:buChar char="•"/>
            </a:pPr>
            <a:r>
              <a:rPr lang="en-US" sz="2700">
                <a:solidFill>
                  <a:srgbClr val="000000"/>
                </a:solidFill>
                <a:latin typeface="Cambria"/>
                <a:ea typeface="Cambria"/>
                <a:cs typeface="Cambria"/>
                <a:sym typeface="Cambria"/>
              </a:rPr>
              <a:t>MySQL / MongoDB – for storing provider data and performance records</a:t>
            </a:r>
          </a:p>
        </p:txBody>
      </p:sp>
      <p:sp>
        <p:nvSpPr>
          <p:cNvPr id="12" name="TextBox 12"/>
          <p:cNvSpPr txBox="1"/>
          <p:nvPr/>
        </p:nvSpPr>
        <p:spPr>
          <a:xfrm>
            <a:off x="11165862" y="5609196"/>
            <a:ext cx="5243312"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Data Availability and Security</a:t>
            </a:r>
          </a:p>
        </p:txBody>
      </p:sp>
      <p:sp>
        <p:nvSpPr>
          <p:cNvPr id="13" name="TextBox 13"/>
          <p:cNvSpPr txBox="1"/>
          <p:nvPr/>
        </p:nvSpPr>
        <p:spPr>
          <a:xfrm>
            <a:off x="10702757" y="6262840"/>
            <a:ext cx="6705381" cy="2143601"/>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Uses anonymized provider data (certifications, experience, performance)</a:t>
            </a:r>
          </a:p>
          <a:p>
            <a:pPr marL="488632" lvl="1" indent="-244316" algn="l">
              <a:lnSpc>
                <a:spcPts val="3240"/>
              </a:lnSpc>
              <a:buFont typeface="Arial"/>
              <a:buChar char="•"/>
            </a:pPr>
            <a:r>
              <a:rPr lang="en-US" sz="2700">
                <a:solidFill>
                  <a:srgbClr val="000000"/>
                </a:solidFill>
                <a:latin typeface="Cambria"/>
                <a:ea typeface="Cambria"/>
                <a:cs typeface="Cambria"/>
                <a:sym typeface="Cambria"/>
              </a:rPr>
              <a:t>Data from public or simulated sources</a:t>
            </a:r>
          </a:p>
          <a:p>
            <a:pPr marL="488632" lvl="1" indent="-244316" algn="l">
              <a:lnSpc>
                <a:spcPts val="3240"/>
              </a:lnSpc>
              <a:buFont typeface="Arial"/>
              <a:buChar char="•"/>
            </a:pPr>
            <a:r>
              <a:rPr lang="en-US" sz="2700">
                <a:solidFill>
                  <a:srgbClr val="000000"/>
                </a:solidFill>
                <a:latin typeface="Cambria"/>
                <a:ea typeface="Cambria"/>
                <a:cs typeface="Cambria"/>
                <a:sym typeface="Cambria"/>
              </a:rPr>
              <a:t>No personal identifiable information (PII)</a:t>
            </a:r>
          </a:p>
          <a:p>
            <a:pPr marL="488632" lvl="1" indent="-244316" algn="l">
              <a:lnSpc>
                <a:spcPts val="3240"/>
              </a:lnSpc>
              <a:buFont typeface="Arial"/>
              <a:buChar char="•"/>
            </a:pPr>
            <a:r>
              <a:rPr lang="en-US" sz="2700">
                <a:solidFill>
                  <a:srgbClr val="000000"/>
                </a:solidFill>
                <a:latin typeface="Cambria"/>
                <a:ea typeface="Cambria"/>
                <a:cs typeface="Cambria"/>
                <a:sym typeface="Cambria"/>
              </a:rPr>
              <a:t>Ensures privacy and secure data handling</a:t>
            </a:r>
          </a:p>
        </p:txBody>
      </p:sp>
      <p:sp>
        <p:nvSpPr>
          <p:cNvPr id="14" name="TextBox 14"/>
          <p:cNvSpPr txBox="1"/>
          <p:nvPr/>
        </p:nvSpPr>
        <p:spPr>
          <a:xfrm>
            <a:off x="91440" y="27137"/>
            <a:ext cx="15361920" cy="37528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DYNAMIC SKILL VERIFICATION &amp; CREDIBILITY EVALUATION</a:t>
            </a:r>
          </a:p>
        </p:txBody>
      </p:sp>
      <p:sp>
        <p:nvSpPr>
          <p:cNvPr id="15" name="TextBox 15"/>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grpSp>
        <p:nvGrpSpPr>
          <p:cNvPr id="16" name="Group 16"/>
          <p:cNvGrpSpPr/>
          <p:nvPr/>
        </p:nvGrpSpPr>
        <p:grpSpPr>
          <a:xfrm>
            <a:off x="4643147" y="9653845"/>
            <a:ext cx="10224545" cy="547688"/>
            <a:chOff x="0" y="0"/>
            <a:chExt cx="13632726" cy="730250"/>
          </a:xfrm>
        </p:grpSpPr>
        <p:sp>
          <p:nvSpPr>
            <p:cNvPr id="17" name="Freeform 17"/>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18" name="TextBox 18"/>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IT22117182</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Roopasinghe. E.M.N.S</a:t>
              </a:r>
              <a:r>
                <a:rPr lang="en-US" sz="2700">
                  <a:solidFill>
                    <a:srgbClr val="000000"/>
                  </a:solidFill>
                  <a:latin typeface="Cambria"/>
                  <a:ea typeface="Cambria"/>
                  <a:cs typeface="Cambria"/>
                  <a:sym typeface="Cambria"/>
                </a:rPr>
                <a:t>|   RP26-IT-072</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0" y="9723311"/>
            <a:ext cx="14918254" cy="565033"/>
            <a:chOff x="0" y="0"/>
            <a:chExt cx="19891005" cy="753377"/>
          </a:xfrm>
        </p:grpSpPr>
        <p:sp>
          <p:nvSpPr>
            <p:cNvPr id="5" name="Freeform 5"/>
            <p:cNvSpPr/>
            <p:nvPr/>
          </p:nvSpPr>
          <p:spPr>
            <a:xfrm>
              <a:off x="0" y="0"/>
              <a:ext cx="19891006" cy="753364"/>
            </a:xfrm>
            <a:custGeom>
              <a:avLst/>
              <a:gdLst/>
              <a:ahLst/>
              <a:cxnLst/>
              <a:rect l="l" t="t" r="r" b="b"/>
              <a:pathLst>
                <a:path w="19891006" h="753364">
                  <a:moveTo>
                    <a:pt x="0" y="753364"/>
                  </a:moveTo>
                  <a:lnTo>
                    <a:pt x="12483989" y="0"/>
                  </a:lnTo>
                  <a:lnTo>
                    <a:pt x="19891006" y="753364"/>
                  </a:lnTo>
                  <a:close/>
                </a:path>
              </a:pathLst>
            </a:custGeom>
            <a:solidFill>
              <a:srgbClr val="FFFFFF">
                <a:alpha val="3922"/>
              </a:srgbClr>
            </a:solidFill>
          </p:spPr>
        </p:sp>
      </p:grpSp>
      <p:grpSp>
        <p:nvGrpSpPr>
          <p:cNvPr id="6" name="Group 6"/>
          <p:cNvGrpSpPr/>
          <p:nvPr/>
        </p:nvGrpSpPr>
        <p:grpSpPr>
          <a:xfrm>
            <a:off x="4643147" y="9653845"/>
            <a:ext cx="10224545" cy="547688"/>
            <a:chOff x="0" y="0"/>
            <a:chExt cx="13632726" cy="730250"/>
          </a:xfrm>
        </p:grpSpPr>
        <p:sp>
          <p:nvSpPr>
            <p:cNvPr id="7" name="Freeform 7"/>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8" name="TextBox 8"/>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IT22117182</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Roopasinghe. E.M.N.S</a:t>
              </a:r>
              <a:r>
                <a:rPr lang="en-US" sz="2700">
                  <a:solidFill>
                    <a:srgbClr val="000000"/>
                  </a:solidFill>
                  <a:latin typeface="Cambria"/>
                  <a:ea typeface="Cambria"/>
                  <a:cs typeface="Cambria"/>
                  <a:sym typeface="Cambria"/>
                </a:rPr>
                <a:t>|   RP26-IT-072</a:t>
              </a:r>
            </a:p>
          </p:txBody>
        </p:sp>
      </p:grpSp>
      <p:sp>
        <p:nvSpPr>
          <p:cNvPr id="9" name="TextBox 9"/>
          <p:cNvSpPr txBox="1"/>
          <p:nvPr/>
        </p:nvSpPr>
        <p:spPr>
          <a:xfrm>
            <a:off x="91440" y="27137"/>
            <a:ext cx="15361920" cy="37528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DYNAMIC SKILL VERIFICATION &amp; CREDIBILITY EVALUATION</a:t>
            </a:r>
          </a:p>
        </p:txBody>
      </p:sp>
      <p:sp>
        <p:nvSpPr>
          <p:cNvPr id="10" name="TextBox 10"/>
          <p:cNvSpPr txBox="1"/>
          <p:nvPr/>
        </p:nvSpPr>
        <p:spPr>
          <a:xfrm>
            <a:off x="708422" y="731015"/>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System Overview</a:t>
            </a:r>
          </a:p>
        </p:txBody>
      </p:sp>
      <p:sp>
        <p:nvSpPr>
          <p:cNvPr id="11" name="TextBox 11"/>
          <p:cNvSpPr txBox="1"/>
          <p:nvPr/>
        </p:nvSpPr>
        <p:spPr>
          <a:xfrm>
            <a:off x="684752" y="1633890"/>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Inputs </a:t>
            </a:r>
          </a:p>
        </p:txBody>
      </p:sp>
      <p:sp>
        <p:nvSpPr>
          <p:cNvPr id="12" name="TextBox 12"/>
          <p:cNvSpPr txBox="1"/>
          <p:nvPr/>
        </p:nvSpPr>
        <p:spPr>
          <a:xfrm>
            <a:off x="1062990" y="2375478"/>
            <a:ext cx="7246620" cy="897103"/>
          </a:xfrm>
          <a:prstGeom prst="rect">
            <a:avLst/>
          </a:prstGeom>
        </p:spPr>
        <p:txBody>
          <a:bodyPr lIns="0" tIns="0" rIns="0" bIns="0" rtlCol="0" anchor="t">
            <a:spAutoFit/>
          </a:bodyPr>
          <a:lstStyle/>
          <a:p>
            <a:pPr algn="l">
              <a:lnSpc>
                <a:spcPts val="3240"/>
              </a:lnSpc>
            </a:pPr>
            <a:r>
              <a:rPr lang="en-US" sz="2700">
                <a:solidFill>
                  <a:srgbClr val="000000"/>
                </a:solidFill>
                <a:latin typeface="Cambria"/>
                <a:ea typeface="Cambria"/>
                <a:cs typeface="Cambria"/>
                <a:sym typeface="Cambria"/>
              </a:rPr>
              <a:t>Service provider data (certifications, experience, performance)</a:t>
            </a:r>
          </a:p>
        </p:txBody>
      </p:sp>
      <p:sp>
        <p:nvSpPr>
          <p:cNvPr id="13" name="TextBox 13"/>
          <p:cNvSpPr txBox="1"/>
          <p:nvPr/>
        </p:nvSpPr>
        <p:spPr>
          <a:xfrm>
            <a:off x="642766" y="3597783"/>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Process</a:t>
            </a:r>
          </a:p>
        </p:txBody>
      </p:sp>
      <p:sp>
        <p:nvSpPr>
          <p:cNvPr id="14" name="TextBox 14"/>
          <p:cNvSpPr txBox="1"/>
          <p:nvPr/>
        </p:nvSpPr>
        <p:spPr>
          <a:xfrm>
            <a:off x="1082821" y="4352287"/>
            <a:ext cx="7120652" cy="1312602"/>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Verify credentials</a:t>
            </a:r>
          </a:p>
          <a:p>
            <a:pPr marL="488632" lvl="1" indent="-244316" algn="l">
              <a:lnSpc>
                <a:spcPts val="3240"/>
              </a:lnSpc>
              <a:buFont typeface="Arial"/>
              <a:buChar char="•"/>
            </a:pPr>
            <a:r>
              <a:rPr lang="en-US" sz="2700">
                <a:solidFill>
                  <a:srgbClr val="000000"/>
                </a:solidFill>
                <a:latin typeface="Cambria"/>
                <a:ea typeface="Cambria"/>
                <a:cs typeface="Cambria"/>
                <a:sym typeface="Cambria"/>
              </a:rPr>
              <a:t>Analyze performance and trust factors</a:t>
            </a:r>
          </a:p>
          <a:p>
            <a:pPr marL="488632" lvl="1" indent="-244316" algn="l">
              <a:lnSpc>
                <a:spcPts val="3240"/>
              </a:lnSpc>
              <a:buFont typeface="Arial"/>
              <a:buChar char="•"/>
            </a:pPr>
            <a:r>
              <a:rPr lang="en-US" sz="2700">
                <a:solidFill>
                  <a:srgbClr val="000000"/>
                </a:solidFill>
                <a:latin typeface="Cambria"/>
                <a:ea typeface="Cambria"/>
                <a:cs typeface="Cambria"/>
                <a:sym typeface="Cambria"/>
              </a:rPr>
              <a:t>Calculate credibility score</a:t>
            </a:r>
          </a:p>
        </p:txBody>
      </p:sp>
      <p:sp>
        <p:nvSpPr>
          <p:cNvPr id="15" name="TextBox 15"/>
          <p:cNvSpPr txBox="1"/>
          <p:nvPr/>
        </p:nvSpPr>
        <p:spPr>
          <a:xfrm>
            <a:off x="642766" y="6009884"/>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Output </a:t>
            </a:r>
          </a:p>
        </p:txBody>
      </p:sp>
      <p:sp>
        <p:nvSpPr>
          <p:cNvPr id="16" name="TextBox 16"/>
          <p:cNvSpPr txBox="1"/>
          <p:nvPr/>
        </p:nvSpPr>
        <p:spPr>
          <a:xfrm>
            <a:off x="1108472" y="6654679"/>
            <a:ext cx="7589520" cy="897103"/>
          </a:xfrm>
          <a:prstGeom prst="rect">
            <a:avLst/>
          </a:prstGeom>
        </p:spPr>
        <p:txBody>
          <a:bodyPr lIns="0" tIns="0" rIns="0" bIns="0" rtlCol="0" anchor="t">
            <a:spAutoFit/>
          </a:bodyPr>
          <a:lstStyle/>
          <a:p>
            <a:pPr algn="l">
              <a:lnSpc>
                <a:spcPts val="3240"/>
              </a:lnSpc>
            </a:pPr>
            <a:r>
              <a:rPr lang="en-US" sz="2700">
                <a:solidFill>
                  <a:srgbClr val="000000"/>
                </a:solidFill>
                <a:latin typeface="Cambria"/>
                <a:ea typeface="Cambria"/>
                <a:cs typeface="Cambria"/>
                <a:sym typeface="Cambria"/>
              </a:rPr>
              <a:t>Ranked list of verified and reliable service providers</a:t>
            </a:r>
          </a:p>
        </p:txBody>
      </p:sp>
      <p:sp>
        <p:nvSpPr>
          <p:cNvPr id="17" name="TextBox 17"/>
          <p:cNvSpPr txBox="1"/>
          <p:nvPr/>
        </p:nvSpPr>
        <p:spPr>
          <a:xfrm>
            <a:off x="9978390" y="643652"/>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Dependencies and Shared Components</a:t>
            </a:r>
          </a:p>
        </p:txBody>
      </p:sp>
      <p:sp>
        <p:nvSpPr>
          <p:cNvPr id="18" name="TextBox 18"/>
          <p:cNvSpPr txBox="1"/>
          <p:nvPr/>
        </p:nvSpPr>
        <p:spPr>
          <a:xfrm>
            <a:off x="9978390" y="1554690"/>
            <a:ext cx="6160770" cy="3390100"/>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Uses shared database for provider data and records</a:t>
            </a:r>
          </a:p>
          <a:p>
            <a:pPr marL="488632" lvl="1" indent="-244316" algn="l">
              <a:lnSpc>
                <a:spcPts val="3240"/>
              </a:lnSpc>
              <a:buFont typeface="Arial"/>
              <a:buChar char="•"/>
            </a:pPr>
            <a:r>
              <a:rPr lang="en-US" sz="2700">
                <a:solidFill>
                  <a:srgbClr val="000000"/>
                </a:solidFill>
                <a:latin typeface="Cambria"/>
                <a:ea typeface="Cambria"/>
                <a:cs typeface="Cambria"/>
                <a:sym typeface="Cambria"/>
              </a:rPr>
              <a:t>Depends on service provider dataset</a:t>
            </a:r>
          </a:p>
          <a:p>
            <a:pPr marL="488632" lvl="1" indent="-244316" algn="l">
              <a:lnSpc>
                <a:spcPts val="3240"/>
              </a:lnSpc>
              <a:buFont typeface="Arial"/>
              <a:buChar char="•"/>
            </a:pPr>
            <a:r>
              <a:rPr lang="en-US" sz="2700">
                <a:solidFill>
                  <a:srgbClr val="000000"/>
                </a:solidFill>
                <a:latin typeface="Cambria"/>
                <a:ea typeface="Cambria"/>
                <a:cs typeface="Cambria"/>
                <a:sym typeface="Cambria"/>
              </a:rPr>
              <a:t>Uses historical performance data</a:t>
            </a:r>
          </a:p>
          <a:p>
            <a:pPr marL="488632" lvl="1" indent="-244316" algn="l">
              <a:lnSpc>
                <a:spcPts val="3240"/>
              </a:lnSpc>
              <a:buFont typeface="Arial"/>
              <a:buChar char="•"/>
            </a:pPr>
            <a:r>
              <a:rPr lang="en-US" sz="2700">
                <a:solidFill>
                  <a:srgbClr val="000000"/>
                </a:solidFill>
                <a:latin typeface="Cambria"/>
                <a:ea typeface="Cambria"/>
                <a:cs typeface="Cambria"/>
                <a:sym typeface="Cambria"/>
              </a:rPr>
              <a:t>Integrated with backend system (API)</a:t>
            </a:r>
          </a:p>
          <a:p>
            <a:pPr marL="488632" lvl="1" indent="-244316" algn="l">
              <a:lnSpc>
                <a:spcPts val="3240"/>
              </a:lnSpc>
              <a:buFont typeface="Arial"/>
              <a:buChar char="•"/>
            </a:pPr>
            <a:r>
              <a:rPr lang="en-US" sz="2700">
                <a:solidFill>
                  <a:srgbClr val="000000"/>
                </a:solidFill>
                <a:latin typeface="Cambria"/>
                <a:ea typeface="Cambria"/>
                <a:cs typeface="Cambria"/>
                <a:sym typeface="Cambria"/>
              </a:rPr>
              <a:t>Works with other components in the ML pipeline</a:t>
            </a:r>
          </a:p>
          <a:p>
            <a:pPr marL="488632" lvl="1" indent="-244316" algn="l">
              <a:lnSpc>
                <a:spcPts val="3240"/>
              </a:lnSpc>
            </a:pPr>
            <a:endParaRPr lang="en-US" sz="2700">
              <a:solidFill>
                <a:srgbClr val="000000"/>
              </a:solidFill>
              <a:latin typeface="Cambria"/>
              <a:ea typeface="Cambria"/>
              <a:cs typeface="Cambria"/>
              <a:sym typeface="Cambria"/>
            </a:endParaRPr>
          </a:p>
        </p:txBody>
      </p:sp>
      <p:sp>
        <p:nvSpPr>
          <p:cNvPr id="19" name="TextBox 19"/>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1828800" y="284756"/>
            <a:ext cx="17907000" cy="1229521"/>
            <a:chOff x="0" y="-55035"/>
            <a:chExt cx="23876000" cy="1639361"/>
          </a:xfrm>
        </p:grpSpPr>
        <p:sp>
          <p:nvSpPr>
            <p:cNvPr id="5" name="Freeform 5"/>
            <p:cNvSpPr/>
            <p:nvPr/>
          </p:nvSpPr>
          <p:spPr>
            <a:xfrm>
              <a:off x="0" y="0"/>
              <a:ext cx="23368000" cy="1584326"/>
            </a:xfrm>
            <a:custGeom>
              <a:avLst/>
              <a:gdLst/>
              <a:ahLst/>
              <a:cxnLst/>
              <a:rect l="l" t="t" r="r" b="b"/>
              <a:pathLst>
                <a:path w="23368000" h="1584326">
                  <a:moveTo>
                    <a:pt x="0" y="0"/>
                  </a:moveTo>
                  <a:lnTo>
                    <a:pt x="23368000" y="0"/>
                  </a:lnTo>
                  <a:lnTo>
                    <a:pt x="23368000" y="1584326"/>
                  </a:lnTo>
                  <a:lnTo>
                    <a:pt x="0" y="1584326"/>
                  </a:lnTo>
                  <a:close/>
                </a:path>
              </a:pathLst>
            </a:custGeom>
            <a:blipFill>
              <a:blip r:embed="rId3">
                <a:alphaModFix amt="0"/>
              </a:blip>
              <a:stretch>
                <a:fillRect t="-237394" b="-237394"/>
              </a:stretch>
            </a:blipFill>
          </p:spPr>
        </p:sp>
        <p:sp>
          <p:nvSpPr>
            <p:cNvPr id="6" name="TextBox 6"/>
            <p:cNvSpPr txBox="1"/>
            <p:nvPr/>
          </p:nvSpPr>
          <p:spPr>
            <a:xfrm>
              <a:off x="508000" y="-55035"/>
              <a:ext cx="23368000" cy="1622425"/>
            </a:xfrm>
            <a:prstGeom prst="rect">
              <a:avLst/>
            </a:prstGeom>
          </p:spPr>
          <p:txBody>
            <a:bodyPr lIns="0" tIns="0" rIns="0" bIns="0" rtlCol="0" anchor="ctr"/>
            <a:lstStyle/>
            <a:p>
              <a:pPr algn="ctr">
                <a:lnSpc>
                  <a:spcPts val="7920"/>
                </a:lnSpc>
              </a:pPr>
              <a:r>
                <a:rPr lang="en-US" sz="6600" b="1" dirty="0">
                  <a:solidFill>
                    <a:srgbClr val="000000"/>
                  </a:solidFill>
                  <a:latin typeface="Arimo Bold"/>
                  <a:ea typeface="Arimo Bold"/>
                  <a:cs typeface="Arimo Bold"/>
                  <a:sym typeface="Arimo Bold"/>
                </a:rPr>
                <a:t>IT22914200 | THARUSHIKA W.A.M</a:t>
              </a:r>
            </a:p>
          </p:txBody>
        </p:sp>
      </p:grpSp>
      <p:sp>
        <p:nvSpPr>
          <p:cNvPr id="7" name="TextBox 7"/>
          <p:cNvSpPr txBox="1"/>
          <p:nvPr/>
        </p:nvSpPr>
        <p:spPr>
          <a:xfrm>
            <a:off x="615877" y="1602781"/>
            <a:ext cx="10151183" cy="1377096"/>
          </a:xfrm>
          <a:prstGeom prst="rect">
            <a:avLst/>
          </a:prstGeom>
        </p:spPr>
        <p:txBody>
          <a:bodyPr lIns="0" tIns="0" rIns="0" bIns="0" rtlCol="0" anchor="t">
            <a:spAutoFit/>
          </a:bodyPr>
          <a:lstStyle/>
          <a:p>
            <a:pPr algn="l">
              <a:lnSpc>
                <a:spcPts val="5040"/>
              </a:lnSpc>
            </a:pPr>
            <a:r>
              <a:rPr lang="en-US" sz="4200" b="1">
                <a:solidFill>
                  <a:srgbClr val="000000"/>
                </a:solidFill>
                <a:latin typeface="Cambria Bold"/>
                <a:ea typeface="Cambria Bold"/>
                <a:cs typeface="Cambria Bold"/>
                <a:sym typeface="Cambria Bold"/>
              </a:rPr>
              <a:t>Bi-LSTM Based Sentiment Analysis &amp; Review Credibility   Module</a:t>
            </a:r>
          </a:p>
          <a:p>
            <a:pPr algn="l">
              <a:lnSpc>
                <a:spcPts val="5040"/>
              </a:lnSpc>
            </a:pPr>
            <a:endParaRPr lang="en-US" sz="4200" b="1">
              <a:solidFill>
                <a:srgbClr val="000000"/>
              </a:solidFill>
              <a:latin typeface="Cambria Bold"/>
              <a:ea typeface="Cambria Bold"/>
              <a:cs typeface="Cambria Bold"/>
              <a:sym typeface="Cambria Bold"/>
            </a:endParaRPr>
          </a:p>
        </p:txBody>
      </p:sp>
      <p:sp>
        <p:nvSpPr>
          <p:cNvPr id="8" name="TextBox 8"/>
          <p:cNvSpPr txBox="1"/>
          <p:nvPr/>
        </p:nvSpPr>
        <p:spPr>
          <a:xfrm>
            <a:off x="636051" y="3154928"/>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Contribution to the Overall Solution</a:t>
            </a:r>
          </a:p>
        </p:txBody>
      </p:sp>
      <p:grpSp>
        <p:nvGrpSpPr>
          <p:cNvPr id="9" name="Group 9"/>
          <p:cNvGrpSpPr/>
          <p:nvPr/>
        </p:nvGrpSpPr>
        <p:grpSpPr>
          <a:xfrm>
            <a:off x="571500" y="3311378"/>
            <a:ext cx="17722205" cy="3278909"/>
            <a:chOff x="0" y="-309229"/>
            <a:chExt cx="23629607" cy="4371879"/>
          </a:xfrm>
        </p:grpSpPr>
        <p:sp>
          <p:nvSpPr>
            <p:cNvPr id="10" name="Freeform 10"/>
            <p:cNvSpPr/>
            <p:nvPr/>
          </p:nvSpPr>
          <p:spPr>
            <a:xfrm>
              <a:off x="0" y="0"/>
              <a:ext cx="23570440" cy="4062650"/>
            </a:xfrm>
            <a:custGeom>
              <a:avLst/>
              <a:gdLst/>
              <a:ahLst/>
              <a:cxnLst/>
              <a:rect l="l" t="t" r="r" b="b"/>
              <a:pathLst>
                <a:path w="23570440" h="4062650">
                  <a:moveTo>
                    <a:pt x="0" y="0"/>
                  </a:moveTo>
                  <a:lnTo>
                    <a:pt x="23570440" y="0"/>
                  </a:lnTo>
                  <a:lnTo>
                    <a:pt x="23570440" y="4062650"/>
                  </a:lnTo>
                  <a:lnTo>
                    <a:pt x="0" y="4062650"/>
                  </a:lnTo>
                  <a:close/>
                </a:path>
              </a:pathLst>
            </a:custGeom>
            <a:blipFill>
              <a:blip r:embed="rId3">
                <a:alphaModFix amt="0"/>
              </a:blip>
              <a:stretch>
                <a:fillRect t="-63047" b="-63047"/>
              </a:stretch>
            </a:blipFill>
          </p:spPr>
        </p:sp>
        <p:sp>
          <p:nvSpPr>
            <p:cNvPr id="11" name="TextBox 11"/>
            <p:cNvSpPr txBox="1"/>
            <p:nvPr/>
          </p:nvSpPr>
          <p:spPr>
            <a:xfrm>
              <a:off x="59169" y="-309229"/>
              <a:ext cx="23570438" cy="4081703"/>
            </a:xfrm>
            <a:prstGeom prst="rect">
              <a:avLst/>
            </a:prstGeom>
          </p:spPr>
          <p:txBody>
            <a:bodyPr lIns="0" tIns="0" rIns="0" bIns="0" rtlCol="0" anchor="ctr"/>
            <a:lstStyle/>
            <a:p>
              <a:pPr algn="l">
                <a:lnSpc>
                  <a:spcPts val="3240"/>
                </a:lnSpc>
              </a:pPr>
              <a:endParaRPr dirty="0"/>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Improves the final provider selection by incorporating aspect-based sentiment insights derived from customer reviews. </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Detects and filters fake or suspicious reviews, preventing manipulation of provider rankings.</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Analyses multiple aspects such as quality, punctuality, price, communication, and professionalism, instead of relying on a single rating.</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Adjusts provider scores using verified sentiment data, ensuring only the most reliable providers are recommended.</a:t>
              </a:r>
            </a:p>
          </p:txBody>
        </p:sp>
      </p:grpSp>
      <p:sp>
        <p:nvSpPr>
          <p:cNvPr id="12" name="TextBox 12"/>
          <p:cNvSpPr txBox="1"/>
          <p:nvPr/>
        </p:nvSpPr>
        <p:spPr>
          <a:xfrm>
            <a:off x="662940" y="6557039"/>
            <a:ext cx="88468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Novelty of the component</a:t>
            </a:r>
          </a:p>
        </p:txBody>
      </p:sp>
      <p:grpSp>
        <p:nvGrpSpPr>
          <p:cNvPr id="13" name="Group 13"/>
          <p:cNvGrpSpPr/>
          <p:nvPr/>
        </p:nvGrpSpPr>
        <p:grpSpPr>
          <a:xfrm>
            <a:off x="571500" y="6603388"/>
            <a:ext cx="17677828" cy="2631491"/>
            <a:chOff x="0" y="0"/>
            <a:chExt cx="23570438" cy="3508654"/>
          </a:xfrm>
        </p:grpSpPr>
        <p:sp>
          <p:nvSpPr>
            <p:cNvPr id="14" name="Freeform 14"/>
            <p:cNvSpPr/>
            <p:nvPr/>
          </p:nvSpPr>
          <p:spPr>
            <a:xfrm>
              <a:off x="0" y="0"/>
              <a:ext cx="23570440" cy="3508652"/>
            </a:xfrm>
            <a:custGeom>
              <a:avLst/>
              <a:gdLst/>
              <a:ahLst/>
              <a:cxnLst/>
              <a:rect l="l" t="t" r="r" b="b"/>
              <a:pathLst>
                <a:path w="23570440" h="3508652">
                  <a:moveTo>
                    <a:pt x="0" y="0"/>
                  </a:moveTo>
                  <a:lnTo>
                    <a:pt x="23570440" y="0"/>
                  </a:lnTo>
                  <a:lnTo>
                    <a:pt x="23570440" y="3508652"/>
                  </a:lnTo>
                  <a:lnTo>
                    <a:pt x="0" y="3508652"/>
                  </a:lnTo>
                  <a:close/>
                </a:path>
              </a:pathLst>
            </a:custGeom>
            <a:blipFill>
              <a:blip r:embed="rId3">
                <a:alphaModFix amt="0"/>
              </a:blip>
              <a:stretch>
                <a:fillRect t="-80896" b="-80896"/>
              </a:stretch>
            </a:blipFill>
          </p:spPr>
        </p:sp>
        <p:sp>
          <p:nvSpPr>
            <p:cNvPr id="15" name="TextBox 15"/>
            <p:cNvSpPr txBox="1"/>
            <p:nvPr/>
          </p:nvSpPr>
          <p:spPr>
            <a:xfrm>
              <a:off x="0" y="-19050"/>
              <a:ext cx="23570438" cy="3527704"/>
            </a:xfrm>
            <a:prstGeom prst="rect">
              <a:avLst/>
            </a:prstGeom>
          </p:spPr>
          <p:txBody>
            <a:bodyPr lIns="0" tIns="0" rIns="0" bIns="0" rtlCol="0" anchor="ctr"/>
            <a:lstStyle/>
            <a:p>
              <a:pPr algn="l">
                <a:lnSpc>
                  <a:spcPts val="3240"/>
                </a:lnSpc>
              </a:pPr>
              <a:endParaRPr/>
            </a:p>
            <a:p>
              <a:pPr marL="488632" lvl="1" indent="-244316" algn="l">
                <a:lnSpc>
                  <a:spcPts val="3240"/>
                </a:lnSpc>
                <a:buFont typeface="Arial"/>
                <a:buChar char="•"/>
              </a:pPr>
              <a:r>
                <a:rPr lang="en-US" sz="2700">
                  <a:solidFill>
                    <a:srgbClr val="000000"/>
                  </a:solidFill>
                  <a:latin typeface="Cambria"/>
                  <a:ea typeface="Cambria"/>
                  <a:cs typeface="Cambria"/>
                  <a:sym typeface="Cambria"/>
                </a:rPr>
                <a:t>Moves beyond traditional star-based rating systems.</a:t>
              </a:r>
            </a:p>
            <a:p>
              <a:pPr marL="488632" lvl="1" indent="-244316" algn="l">
                <a:lnSpc>
                  <a:spcPts val="3240"/>
                </a:lnSpc>
                <a:buFont typeface="Arial"/>
                <a:buChar char="•"/>
              </a:pPr>
              <a:r>
                <a:rPr lang="en-US" sz="2700">
                  <a:solidFill>
                    <a:srgbClr val="000000"/>
                  </a:solidFill>
                  <a:latin typeface="Cambria"/>
                  <a:ea typeface="Cambria"/>
                  <a:cs typeface="Cambria"/>
                  <a:sym typeface="Cambria"/>
                </a:rPr>
                <a:t>Introduces aspect-level sentiment analysis (punctuality, quality, etc.)</a:t>
              </a:r>
            </a:p>
            <a:p>
              <a:pPr marL="488632" lvl="1" indent="-244316" algn="l">
                <a:lnSpc>
                  <a:spcPts val="3240"/>
                </a:lnSpc>
                <a:buFont typeface="Arial"/>
                <a:buChar char="•"/>
              </a:pPr>
              <a:r>
                <a:rPr lang="en-US" sz="2700">
                  <a:solidFill>
                    <a:srgbClr val="000000"/>
                  </a:solidFill>
                  <a:latin typeface="Cambria"/>
                  <a:ea typeface="Cambria"/>
                  <a:cs typeface="Cambria"/>
                  <a:sym typeface="Cambria"/>
                </a:rPr>
                <a:t>Integrates fake review detection using Isolation Forest.</a:t>
              </a:r>
            </a:p>
            <a:p>
              <a:pPr marL="488632" lvl="1" indent="-244316" algn="l">
                <a:lnSpc>
                  <a:spcPts val="3240"/>
                </a:lnSpc>
                <a:buFont typeface="Arial"/>
                <a:buChar char="•"/>
              </a:pPr>
              <a:r>
                <a:rPr lang="en-US" sz="2700">
                  <a:solidFill>
                    <a:srgbClr val="000000"/>
                  </a:solidFill>
                  <a:latin typeface="Cambria"/>
                  <a:ea typeface="Cambria"/>
                  <a:cs typeface="Cambria"/>
                  <a:sym typeface="Cambria"/>
                </a:rPr>
                <a:t>Produces trustworthy and explainable sentiment scores.</a:t>
              </a:r>
            </a:p>
            <a:p>
              <a:pPr marL="488632" lvl="1" indent="-244316" algn="l">
                <a:lnSpc>
                  <a:spcPts val="3240"/>
                </a:lnSpc>
                <a:buFont typeface="Arial"/>
                <a:buChar char="•"/>
              </a:pPr>
              <a:r>
                <a:rPr lang="en-US" sz="2700">
                  <a:solidFill>
                    <a:srgbClr val="000000"/>
                  </a:solidFill>
                  <a:latin typeface="Cambria"/>
                  <a:ea typeface="Cambria"/>
                  <a:cs typeface="Cambria"/>
                  <a:sym typeface="Cambria"/>
                </a:rPr>
                <a:t>Enhances transparency and user trust in decision-making.</a:t>
              </a:r>
            </a:p>
          </p:txBody>
        </p:sp>
      </p:grpSp>
      <p:grpSp>
        <p:nvGrpSpPr>
          <p:cNvPr id="16" name="Group 16"/>
          <p:cNvGrpSpPr/>
          <p:nvPr/>
        </p:nvGrpSpPr>
        <p:grpSpPr>
          <a:xfrm>
            <a:off x="5086350" y="9710633"/>
            <a:ext cx="10224545" cy="547688"/>
            <a:chOff x="0" y="0"/>
            <a:chExt cx="13632726" cy="730250"/>
          </a:xfrm>
        </p:grpSpPr>
        <p:sp>
          <p:nvSpPr>
            <p:cNvPr id="17" name="Freeform 17"/>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18" name="TextBox 18"/>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IT22914200</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Tharushika W.A.M.</a:t>
              </a:r>
              <a:r>
                <a:rPr lang="en-US" sz="2700">
                  <a:solidFill>
                    <a:srgbClr val="000000"/>
                  </a:solidFill>
                  <a:latin typeface="Cambria"/>
                  <a:ea typeface="Cambria"/>
                  <a:cs typeface="Cambria"/>
                  <a:sym typeface="Cambria"/>
                </a:rPr>
                <a:t>|   RP26-IT-072</a:t>
              </a:r>
            </a:p>
          </p:txBody>
        </p:sp>
      </p:grpSp>
      <p:grpSp>
        <p:nvGrpSpPr>
          <p:cNvPr id="19" name="Group 19"/>
          <p:cNvGrpSpPr/>
          <p:nvPr/>
        </p:nvGrpSpPr>
        <p:grpSpPr>
          <a:xfrm>
            <a:off x="15282910" y="284759"/>
            <a:ext cx="2628900" cy="3475911"/>
            <a:chOff x="0" y="0"/>
            <a:chExt cx="3505200" cy="4634548"/>
          </a:xfrm>
        </p:grpSpPr>
        <p:sp>
          <p:nvSpPr>
            <p:cNvPr id="20" name="Freeform 20"/>
            <p:cNvSpPr/>
            <p:nvPr/>
          </p:nvSpPr>
          <p:spPr>
            <a:xfrm>
              <a:off x="0" y="0"/>
              <a:ext cx="3505200" cy="4634611"/>
            </a:xfrm>
            <a:custGeom>
              <a:avLst/>
              <a:gdLst/>
              <a:ahLst/>
              <a:cxnLst/>
              <a:rect l="l" t="t" r="r" b="b"/>
              <a:pathLst>
                <a:path w="3505200" h="4634611">
                  <a:moveTo>
                    <a:pt x="0" y="0"/>
                  </a:moveTo>
                  <a:lnTo>
                    <a:pt x="3505200" y="0"/>
                  </a:lnTo>
                  <a:lnTo>
                    <a:pt x="3505200" y="4634611"/>
                  </a:lnTo>
                  <a:lnTo>
                    <a:pt x="0" y="4634611"/>
                  </a:lnTo>
                  <a:lnTo>
                    <a:pt x="0" y="0"/>
                  </a:lnTo>
                  <a:close/>
                </a:path>
              </a:pathLst>
            </a:custGeom>
            <a:blipFill>
              <a:blip r:embed="rId4"/>
              <a:stretch>
                <a:fillRect t="-3" b="-1"/>
              </a:stretch>
            </a:blipFill>
          </p:spPr>
        </p:sp>
      </p:grpSp>
      <p:sp>
        <p:nvSpPr>
          <p:cNvPr id="21" name="TextBox 2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sp>
        <p:nvSpPr>
          <p:cNvPr id="4" name="TextBox 4"/>
          <p:cNvSpPr txBox="1"/>
          <p:nvPr/>
        </p:nvSpPr>
        <p:spPr>
          <a:xfrm>
            <a:off x="662940" y="602237"/>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Problem Definition</a:t>
            </a:r>
          </a:p>
        </p:txBody>
      </p:sp>
      <p:grpSp>
        <p:nvGrpSpPr>
          <p:cNvPr id="5" name="Group 5"/>
          <p:cNvGrpSpPr/>
          <p:nvPr/>
        </p:nvGrpSpPr>
        <p:grpSpPr>
          <a:xfrm>
            <a:off x="531162" y="1129570"/>
            <a:ext cx="17064314" cy="2631491"/>
            <a:chOff x="0" y="0"/>
            <a:chExt cx="22752418" cy="3508654"/>
          </a:xfrm>
        </p:grpSpPr>
        <p:sp>
          <p:nvSpPr>
            <p:cNvPr id="6" name="Freeform 6"/>
            <p:cNvSpPr/>
            <p:nvPr/>
          </p:nvSpPr>
          <p:spPr>
            <a:xfrm>
              <a:off x="0" y="0"/>
              <a:ext cx="22752424" cy="3508652"/>
            </a:xfrm>
            <a:custGeom>
              <a:avLst/>
              <a:gdLst/>
              <a:ahLst/>
              <a:cxnLst/>
              <a:rect l="l" t="t" r="r" b="b"/>
              <a:pathLst>
                <a:path w="22752424" h="3508652">
                  <a:moveTo>
                    <a:pt x="0" y="0"/>
                  </a:moveTo>
                  <a:lnTo>
                    <a:pt x="22752424" y="0"/>
                  </a:lnTo>
                  <a:lnTo>
                    <a:pt x="22752424" y="3508652"/>
                  </a:lnTo>
                  <a:lnTo>
                    <a:pt x="0" y="3508652"/>
                  </a:lnTo>
                  <a:close/>
                </a:path>
              </a:pathLst>
            </a:custGeom>
            <a:blipFill>
              <a:blip r:embed="rId3">
                <a:alphaModFix amt="0"/>
              </a:blip>
              <a:stretch>
                <a:fillRect t="-76353" b="-76353"/>
              </a:stretch>
            </a:blipFill>
          </p:spPr>
        </p:sp>
        <p:sp>
          <p:nvSpPr>
            <p:cNvPr id="7" name="TextBox 7"/>
            <p:cNvSpPr txBox="1"/>
            <p:nvPr/>
          </p:nvSpPr>
          <p:spPr>
            <a:xfrm>
              <a:off x="0" y="-19050"/>
              <a:ext cx="22752418" cy="3527704"/>
            </a:xfrm>
            <a:prstGeom prst="rect">
              <a:avLst/>
            </a:prstGeom>
          </p:spPr>
          <p:txBody>
            <a:bodyPr lIns="0" tIns="0" rIns="0" bIns="0" rtlCol="0" anchor="ctr"/>
            <a:lstStyle/>
            <a:p>
              <a:pPr algn="l">
                <a:lnSpc>
                  <a:spcPts val="3240"/>
                </a:lnSpc>
              </a:pPr>
              <a:r>
                <a:rPr lang="en-US" sz="2700">
                  <a:solidFill>
                    <a:srgbClr val="000000"/>
                  </a:solidFill>
                  <a:latin typeface="Cambria"/>
                  <a:ea typeface="Cambria"/>
                  <a:cs typeface="Cambria"/>
                  <a:sym typeface="Cambria"/>
                </a:rPr>
                <a:t>Existing service platforms rely heavily on simple star ratings and unverified reviews, which do not reflect the true quality of service providers. These ratings are often misleading due to fake reviews, spam, and lack</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of detailed feedb.2ack analysis, resulting in poor decision-making and reduced user trust.</a:t>
              </a:r>
            </a:p>
            <a:p>
              <a:pPr algn="l">
                <a:lnSpc>
                  <a:spcPts val="3240"/>
                </a:lnSpc>
              </a:pPr>
              <a:r>
                <a:rPr lang="en-US" sz="2700">
                  <a:solidFill>
                    <a:srgbClr val="000000"/>
                  </a:solidFill>
                  <a:latin typeface="Cambria"/>
                  <a:ea typeface="Cambria"/>
                  <a:cs typeface="Cambria"/>
                  <a:sym typeface="Cambria"/>
                </a:rPr>
                <a:t>Users are unable to understand specific strengths and weaknesses of providers (e.g., punctuality, quality, ), as current systems do not analyse reviews at a deeper level.</a:t>
              </a:r>
            </a:p>
            <a:p>
              <a:pPr algn="l">
                <a:lnSpc>
                  <a:spcPts val="3240"/>
                </a:lnSpc>
              </a:pPr>
              <a:endParaRPr lang="en-US" sz="2700">
                <a:solidFill>
                  <a:srgbClr val="000000"/>
                </a:solidFill>
                <a:latin typeface="Cambria"/>
                <a:ea typeface="Cambria"/>
                <a:cs typeface="Cambria"/>
                <a:sym typeface="Cambria"/>
              </a:endParaRPr>
            </a:p>
          </p:txBody>
        </p:sp>
      </p:grpSp>
      <p:sp>
        <p:nvSpPr>
          <p:cNvPr id="8" name="TextBox 8"/>
          <p:cNvSpPr txBox="1"/>
          <p:nvPr/>
        </p:nvSpPr>
        <p:spPr>
          <a:xfrm>
            <a:off x="622602" y="3375184"/>
            <a:ext cx="88468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Research Objectives</a:t>
            </a:r>
          </a:p>
        </p:txBody>
      </p:sp>
      <p:sp>
        <p:nvSpPr>
          <p:cNvPr id="9" name="TextBox 9"/>
          <p:cNvSpPr txBox="1"/>
          <p:nvPr/>
        </p:nvSpPr>
        <p:spPr>
          <a:xfrm>
            <a:off x="915076" y="4144909"/>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Main Objective : </a:t>
            </a:r>
          </a:p>
        </p:txBody>
      </p:sp>
      <p:sp>
        <p:nvSpPr>
          <p:cNvPr id="10" name="TextBox 10"/>
          <p:cNvSpPr txBox="1"/>
          <p:nvPr/>
        </p:nvSpPr>
        <p:spPr>
          <a:xfrm>
            <a:off x="3863340" y="4135384"/>
            <a:ext cx="13761720" cy="897103"/>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To design and develop an intelligent sentiment analysis module that extracts trustworthy</a:t>
            </a:r>
            <a:r>
              <a:rPr lang="en-US" sz="2700" b="1">
                <a:solidFill>
                  <a:srgbClr val="000000"/>
                </a:solidFill>
                <a:latin typeface="Cambria Bold"/>
                <a:ea typeface="Cambria Bold"/>
                <a:cs typeface="Cambria Bold"/>
                <a:sym typeface="Cambria Bold"/>
              </a:rPr>
              <a:t>, </a:t>
            </a:r>
            <a:r>
              <a:rPr lang="en-US" sz="2700">
                <a:solidFill>
                  <a:srgbClr val="000000"/>
                </a:solidFill>
                <a:latin typeface="Cambria"/>
                <a:ea typeface="Cambria"/>
                <a:cs typeface="Cambria"/>
                <a:sym typeface="Cambria"/>
              </a:rPr>
              <a:t>aspect-based insights from customer reviews and enhances service provider ranking.</a:t>
            </a:r>
          </a:p>
        </p:txBody>
      </p:sp>
      <p:sp>
        <p:nvSpPr>
          <p:cNvPr id="11" name="TextBox 11"/>
          <p:cNvSpPr txBox="1"/>
          <p:nvPr/>
        </p:nvSpPr>
        <p:spPr>
          <a:xfrm>
            <a:off x="918429" y="5458006"/>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Sub Objectives :   </a:t>
            </a:r>
          </a:p>
        </p:txBody>
      </p:sp>
      <p:sp>
        <p:nvSpPr>
          <p:cNvPr id="12" name="TextBox 12"/>
          <p:cNvSpPr txBox="1"/>
          <p:nvPr/>
        </p:nvSpPr>
        <p:spPr>
          <a:xfrm>
            <a:off x="3863340" y="5398770"/>
            <a:ext cx="13761720" cy="2143601"/>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Perform aspect-level sentiment analysis using Bi-LSTM models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Detect and filter fake or suspicious reviews using anomaly detection techniques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Generate accurate sentiment scores based on verified reviews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Improve provider ranking using sentiment-based adjustments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Provide explainable insights for better user decision-making </a:t>
            </a:r>
          </a:p>
        </p:txBody>
      </p:sp>
      <p:grpSp>
        <p:nvGrpSpPr>
          <p:cNvPr id="13" name="Group 13"/>
          <p:cNvGrpSpPr/>
          <p:nvPr/>
        </p:nvGrpSpPr>
        <p:grpSpPr>
          <a:xfrm>
            <a:off x="-1499349" y="120625"/>
            <a:ext cx="11087100" cy="457200"/>
            <a:chOff x="0" y="0"/>
            <a:chExt cx="14782800" cy="609600"/>
          </a:xfrm>
        </p:grpSpPr>
        <p:sp>
          <p:nvSpPr>
            <p:cNvPr id="14" name="Freeform 14"/>
            <p:cNvSpPr/>
            <p:nvPr/>
          </p:nvSpPr>
          <p:spPr>
            <a:xfrm>
              <a:off x="0" y="0"/>
              <a:ext cx="14782800" cy="609600"/>
            </a:xfrm>
            <a:custGeom>
              <a:avLst/>
              <a:gdLst/>
              <a:ahLst/>
              <a:cxnLst/>
              <a:rect l="l" t="t" r="r" b="b"/>
              <a:pathLst>
                <a:path w="14782800" h="609600">
                  <a:moveTo>
                    <a:pt x="0" y="0"/>
                  </a:moveTo>
                  <a:lnTo>
                    <a:pt x="14782800" y="0"/>
                  </a:lnTo>
                  <a:lnTo>
                    <a:pt x="14782800" y="609600"/>
                  </a:lnTo>
                  <a:lnTo>
                    <a:pt x="0" y="609600"/>
                  </a:lnTo>
                  <a:close/>
                </a:path>
              </a:pathLst>
            </a:custGeom>
            <a:blipFill>
              <a:blip r:embed="rId3">
                <a:alphaModFix amt="0"/>
              </a:blip>
              <a:stretch>
                <a:fillRect t="-422512" b="-422512"/>
              </a:stretch>
            </a:blipFill>
          </p:spPr>
        </p:sp>
        <p:sp>
          <p:nvSpPr>
            <p:cNvPr id="15" name="TextBox 15"/>
            <p:cNvSpPr txBox="1"/>
            <p:nvPr/>
          </p:nvSpPr>
          <p:spPr>
            <a:xfrm>
              <a:off x="0" y="-9525"/>
              <a:ext cx="14782800" cy="619125"/>
            </a:xfrm>
            <a:prstGeom prst="rect">
              <a:avLst/>
            </a:prstGeom>
          </p:spPr>
          <p:txBody>
            <a:bodyPr lIns="0" tIns="0" rIns="0" bIns="0" rtlCol="0" anchor="ctr"/>
            <a:lstStyle/>
            <a:p>
              <a:pPr algn="ctr">
                <a:lnSpc>
                  <a:spcPts val="2160"/>
                </a:lnSpc>
              </a:pPr>
              <a:r>
                <a:rPr lang="en-US" sz="1800" b="1">
                  <a:solidFill>
                    <a:srgbClr val="000000"/>
                  </a:solidFill>
                  <a:latin typeface="Cambria Bold"/>
                  <a:ea typeface="Cambria Bold"/>
                  <a:cs typeface="Cambria Bold"/>
                  <a:sym typeface="Cambria Bold"/>
                </a:rPr>
                <a:t>Bi-LSTM Based Sentiment Analysis &amp; Review Credibility   Module</a:t>
              </a:r>
            </a:p>
          </p:txBody>
        </p:sp>
      </p:grpSp>
      <p:grpSp>
        <p:nvGrpSpPr>
          <p:cNvPr id="16" name="Group 16"/>
          <p:cNvGrpSpPr/>
          <p:nvPr/>
        </p:nvGrpSpPr>
        <p:grpSpPr>
          <a:xfrm>
            <a:off x="5046012" y="9710633"/>
            <a:ext cx="10224545" cy="547688"/>
            <a:chOff x="0" y="0"/>
            <a:chExt cx="13632726" cy="730250"/>
          </a:xfrm>
        </p:grpSpPr>
        <p:sp>
          <p:nvSpPr>
            <p:cNvPr id="17" name="Freeform 17"/>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18" name="TextBox 18"/>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IT22914200</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Tharushika W.A.M.</a:t>
              </a:r>
              <a:r>
                <a:rPr lang="en-US" sz="2700">
                  <a:solidFill>
                    <a:srgbClr val="000000"/>
                  </a:solidFill>
                  <a:latin typeface="Cambria"/>
                  <a:ea typeface="Cambria"/>
                  <a:cs typeface="Cambria"/>
                  <a:sym typeface="Cambria"/>
                </a:rPr>
                <a:t>|   RP26-IT-072</a:t>
              </a:r>
            </a:p>
          </p:txBody>
        </p:sp>
      </p:grpSp>
      <p:sp>
        <p:nvSpPr>
          <p:cNvPr id="19" name="TextBox 19"/>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1485900" y="96803"/>
            <a:ext cx="11087100" cy="457200"/>
            <a:chOff x="0" y="0"/>
            <a:chExt cx="14782800" cy="609600"/>
          </a:xfrm>
        </p:grpSpPr>
        <p:sp>
          <p:nvSpPr>
            <p:cNvPr id="5" name="Freeform 5"/>
            <p:cNvSpPr/>
            <p:nvPr/>
          </p:nvSpPr>
          <p:spPr>
            <a:xfrm>
              <a:off x="0" y="0"/>
              <a:ext cx="14782800" cy="609600"/>
            </a:xfrm>
            <a:custGeom>
              <a:avLst/>
              <a:gdLst/>
              <a:ahLst/>
              <a:cxnLst/>
              <a:rect l="l" t="t" r="r" b="b"/>
              <a:pathLst>
                <a:path w="14782800" h="609600">
                  <a:moveTo>
                    <a:pt x="0" y="0"/>
                  </a:moveTo>
                  <a:lnTo>
                    <a:pt x="14782800" y="0"/>
                  </a:lnTo>
                  <a:lnTo>
                    <a:pt x="14782800" y="609600"/>
                  </a:lnTo>
                  <a:lnTo>
                    <a:pt x="0" y="609600"/>
                  </a:lnTo>
                  <a:close/>
                </a:path>
              </a:pathLst>
            </a:custGeom>
            <a:blipFill>
              <a:blip r:embed="rId3">
                <a:alphaModFix amt="0"/>
              </a:blip>
              <a:stretch>
                <a:fillRect t="-422512" b="-422512"/>
              </a:stretch>
            </a:blipFill>
          </p:spPr>
        </p:sp>
        <p:sp>
          <p:nvSpPr>
            <p:cNvPr id="6" name="TextBox 6"/>
            <p:cNvSpPr txBox="1"/>
            <p:nvPr/>
          </p:nvSpPr>
          <p:spPr>
            <a:xfrm>
              <a:off x="0" y="-9525"/>
              <a:ext cx="14782800" cy="619125"/>
            </a:xfrm>
            <a:prstGeom prst="rect">
              <a:avLst/>
            </a:prstGeom>
          </p:spPr>
          <p:txBody>
            <a:bodyPr lIns="0" tIns="0" rIns="0" bIns="0" rtlCol="0" anchor="ctr"/>
            <a:lstStyle/>
            <a:p>
              <a:pPr algn="ctr">
                <a:lnSpc>
                  <a:spcPts val="2160"/>
                </a:lnSpc>
              </a:pPr>
              <a:r>
                <a:rPr lang="en-US" sz="1800" b="1">
                  <a:solidFill>
                    <a:srgbClr val="000000"/>
                  </a:solidFill>
                  <a:latin typeface="Cambria Bold"/>
                  <a:ea typeface="Cambria Bold"/>
                  <a:cs typeface="Cambria Bold"/>
                  <a:sym typeface="Cambria Bold"/>
                </a:rPr>
                <a:t>Bi-LSTM Based Sentiment Analysis &amp; Review Credibility   Module</a:t>
              </a:r>
            </a:p>
          </p:txBody>
        </p:sp>
      </p:grpSp>
      <p:sp>
        <p:nvSpPr>
          <p:cNvPr id="7" name="TextBox 7"/>
          <p:cNvSpPr txBox="1"/>
          <p:nvPr/>
        </p:nvSpPr>
        <p:spPr>
          <a:xfrm>
            <a:off x="626297" y="664521"/>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Application of Domain Knowledge</a:t>
            </a:r>
          </a:p>
        </p:txBody>
      </p:sp>
      <p:grpSp>
        <p:nvGrpSpPr>
          <p:cNvPr id="8" name="Group 8"/>
          <p:cNvGrpSpPr/>
          <p:nvPr/>
        </p:nvGrpSpPr>
        <p:grpSpPr>
          <a:xfrm>
            <a:off x="537191" y="1395774"/>
            <a:ext cx="16936574" cy="2215991"/>
            <a:chOff x="0" y="0"/>
            <a:chExt cx="22582099" cy="2954655"/>
          </a:xfrm>
        </p:grpSpPr>
        <p:sp>
          <p:nvSpPr>
            <p:cNvPr id="9" name="Freeform 9"/>
            <p:cNvSpPr/>
            <p:nvPr/>
          </p:nvSpPr>
          <p:spPr>
            <a:xfrm>
              <a:off x="0" y="0"/>
              <a:ext cx="22582094" cy="2954656"/>
            </a:xfrm>
            <a:custGeom>
              <a:avLst/>
              <a:gdLst/>
              <a:ahLst/>
              <a:cxnLst/>
              <a:rect l="l" t="t" r="r" b="b"/>
              <a:pathLst>
                <a:path w="22582094" h="2954656">
                  <a:moveTo>
                    <a:pt x="0" y="0"/>
                  </a:moveTo>
                  <a:lnTo>
                    <a:pt x="22582094" y="0"/>
                  </a:lnTo>
                  <a:lnTo>
                    <a:pt x="22582094" y="2954656"/>
                  </a:lnTo>
                  <a:lnTo>
                    <a:pt x="0" y="2954656"/>
                  </a:lnTo>
                  <a:close/>
                </a:path>
              </a:pathLst>
            </a:custGeom>
            <a:blipFill>
              <a:blip r:embed="rId3">
                <a:alphaModFix amt="0"/>
              </a:blip>
              <a:stretch>
                <a:fillRect t="-98921" b="-98921"/>
              </a:stretch>
            </a:blipFill>
          </p:spPr>
        </p:sp>
        <p:sp>
          <p:nvSpPr>
            <p:cNvPr id="10" name="TextBox 10"/>
            <p:cNvSpPr txBox="1"/>
            <p:nvPr/>
          </p:nvSpPr>
          <p:spPr>
            <a:xfrm>
              <a:off x="0" y="-19050"/>
              <a:ext cx="22582099" cy="2973705"/>
            </a:xfrm>
            <a:prstGeom prst="rect">
              <a:avLst/>
            </a:prstGeom>
          </p:spPr>
          <p:txBody>
            <a:bodyPr lIns="0" tIns="0" rIns="0" bIns="0" rtlCol="0" anchor="ctr"/>
            <a:lstStyle/>
            <a:p>
              <a:pPr algn="l">
                <a:lnSpc>
                  <a:spcPts val="3240"/>
                </a:lnSpc>
              </a:pPr>
              <a:r>
                <a:rPr lang="en-US" sz="2700">
                  <a:solidFill>
                    <a:srgbClr val="000000"/>
                  </a:solidFill>
                  <a:latin typeface="Cambria"/>
                  <a:ea typeface="Cambria"/>
                  <a:cs typeface="Cambria"/>
                  <a:sym typeface="Cambria"/>
                </a:rPr>
                <a:t>This component is built using concepts from:</a:t>
              </a:r>
            </a:p>
            <a:p>
              <a:pPr marL="488632" lvl="1" indent="-244316" algn="l">
                <a:lnSpc>
                  <a:spcPts val="3240"/>
                </a:lnSpc>
                <a:buFont typeface="Arial"/>
                <a:buChar char="•"/>
              </a:pPr>
              <a:r>
                <a:rPr lang="en-US" sz="2700">
                  <a:solidFill>
                    <a:srgbClr val="000000"/>
                  </a:solidFill>
                  <a:latin typeface="Cambria"/>
                  <a:ea typeface="Cambria"/>
                  <a:cs typeface="Cambria"/>
                  <a:sym typeface="Cambria"/>
                </a:rPr>
                <a:t>Natural Language Processing (NLP) </a:t>
              </a:r>
            </a:p>
            <a:p>
              <a:pPr marL="488632" lvl="1" indent="-244316" algn="l">
                <a:lnSpc>
                  <a:spcPts val="3240"/>
                </a:lnSpc>
                <a:buFont typeface="Arial"/>
                <a:buChar char="•"/>
              </a:pPr>
              <a:r>
                <a:rPr lang="en-US" sz="2700">
                  <a:solidFill>
                    <a:srgbClr val="000000"/>
                  </a:solidFill>
                  <a:latin typeface="Cambria"/>
                  <a:ea typeface="Cambria"/>
                  <a:cs typeface="Cambria"/>
                  <a:sym typeface="Cambria"/>
                </a:rPr>
                <a:t>Deep Learning (Recurrent Neural Networks – LSTM) </a:t>
              </a:r>
            </a:p>
            <a:p>
              <a:pPr marL="488632" lvl="1" indent="-244316" algn="l">
                <a:lnSpc>
                  <a:spcPts val="3240"/>
                </a:lnSpc>
                <a:buFont typeface="Arial"/>
                <a:buChar char="•"/>
              </a:pPr>
              <a:r>
                <a:rPr lang="en-US" sz="2700">
                  <a:solidFill>
                    <a:srgbClr val="000000"/>
                  </a:solidFill>
                  <a:latin typeface="Cambria"/>
                  <a:ea typeface="Cambria"/>
                  <a:cs typeface="Cambria"/>
                  <a:sym typeface="Cambria"/>
                </a:rPr>
                <a:t>Anomaly Detection in Machine Learning </a:t>
              </a:r>
            </a:p>
            <a:p>
              <a:pPr marL="488632" lvl="1" indent="-244316" algn="l">
                <a:lnSpc>
                  <a:spcPts val="3240"/>
                </a:lnSpc>
                <a:buFont typeface="Arial"/>
                <a:buChar char="•"/>
              </a:pPr>
              <a:r>
                <a:rPr lang="en-US" sz="2700">
                  <a:solidFill>
                    <a:srgbClr val="000000"/>
                  </a:solidFill>
                  <a:latin typeface="Cambria"/>
                  <a:ea typeface="Cambria"/>
                  <a:cs typeface="Cambria"/>
                  <a:sym typeface="Cambria"/>
                </a:rPr>
                <a:t>Sentiment Analysis and Text Mining</a:t>
              </a:r>
            </a:p>
          </p:txBody>
        </p:sp>
      </p:grpSp>
      <p:sp>
        <p:nvSpPr>
          <p:cNvPr id="11" name="TextBox 11"/>
          <p:cNvSpPr txBox="1"/>
          <p:nvPr/>
        </p:nvSpPr>
        <p:spPr>
          <a:xfrm>
            <a:off x="628631" y="3705968"/>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Technologies Used</a:t>
            </a:r>
          </a:p>
        </p:txBody>
      </p:sp>
      <p:sp>
        <p:nvSpPr>
          <p:cNvPr id="12" name="TextBox 12"/>
          <p:cNvSpPr txBox="1"/>
          <p:nvPr/>
        </p:nvSpPr>
        <p:spPr>
          <a:xfrm>
            <a:off x="501577" y="4425953"/>
            <a:ext cx="17231058" cy="2143601"/>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Bi-Directional LSTM (Bi-LSTM) for context-aware sentiment extraction </a:t>
            </a:r>
          </a:p>
          <a:p>
            <a:pPr marL="488632" lvl="1" indent="-244316" algn="l">
              <a:lnSpc>
                <a:spcPts val="3240"/>
              </a:lnSpc>
              <a:buFont typeface="Arial"/>
              <a:buChar char="•"/>
            </a:pPr>
            <a:r>
              <a:rPr lang="en-US" sz="2700">
                <a:solidFill>
                  <a:srgbClr val="000000"/>
                </a:solidFill>
                <a:latin typeface="Cambria"/>
                <a:ea typeface="Cambria"/>
                <a:cs typeface="Cambria"/>
                <a:sym typeface="Cambria"/>
              </a:rPr>
              <a:t>Attention Mechanism for identifying important keywords in reviews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Isolation Forest Algorithm for detecting fake or anomalous reviews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Python (PyTorch / TensorFlow) for model implementation </a:t>
            </a:r>
          </a:p>
          <a:p>
            <a:pPr marL="488632" lvl="1" indent="-244316" algn="l">
              <a:lnSpc>
                <a:spcPts val="3240"/>
              </a:lnSpc>
              <a:buFont typeface="Arial"/>
              <a:buChar char="•"/>
            </a:pPr>
            <a:r>
              <a:rPr lang="en-US" sz="2700">
                <a:solidFill>
                  <a:srgbClr val="000000"/>
                </a:solidFill>
                <a:latin typeface="Cambria"/>
                <a:ea typeface="Cambria"/>
                <a:cs typeface="Cambria"/>
                <a:sym typeface="Cambria"/>
              </a:rPr>
              <a:t>NLP preprocessing techniques (tokenization, cleaning, stop-word removal) </a:t>
            </a:r>
          </a:p>
        </p:txBody>
      </p:sp>
      <p:sp>
        <p:nvSpPr>
          <p:cNvPr id="13" name="TextBox 13"/>
          <p:cNvSpPr txBox="1"/>
          <p:nvPr/>
        </p:nvSpPr>
        <p:spPr>
          <a:xfrm>
            <a:off x="557422" y="6709477"/>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Evaluation and Validation</a:t>
            </a:r>
          </a:p>
        </p:txBody>
      </p:sp>
      <p:grpSp>
        <p:nvGrpSpPr>
          <p:cNvPr id="14" name="Group 14"/>
          <p:cNvGrpSpPr/>
          <p:nvPr/>
        </p:nvGrpSpPr>
        <p:grpSpPr>
          <a:xfrm>
            <a:off x="465982" y="7236800"/>
            <a:ext cx="8716518" cy="1800492"/>
            <a:chOff x="0" y="0"/>
            <a:chExt cx="11622024" cy="2400656"/>
          </a:xfrm>
        </p:grpSpPr>
        <p:sp>
          <p:nvSpPr>
            <p:cNvPr id="15" name="Freeform 15"/>
            <p:cNvSpPr/>
            <p:nvPr/>
          </p:nvSpPr>
          <p:spPr>
            <a:xfrm>
              <a:off x="0" y="0"/>
              <a:ext cx="11622028" cy="2400658"/>
            </a:xfrm>
            <a:custGeom>
              <a:avLst/>
              <a:gdLst/>
              <a:ahLst/>
              <a:cxnLst/>
              <a:rect l="l" t="t" r="r" b="b"/>
              <a:pathLst>
                <a:path w="11622028" h="2400658">
                  <a:moveTo>
                    <a:pt x="0" y="0"/>
                  </a:moveTo>
                  <a:lnTo>
                    <a:pt x="11622028" y="0"/>
                  </a:lnTo>
                  <a:lnTo>
                    <a:pt x="11622028" y="2400658"/>
                  </a:lnTo>
                  <a:lnTo>
                    <a:pt x="0" y="2400658"/>
                  </a:lnTo>
                  <a:close/>
                </a:path>
              </a:pathLst>
            </a:custGeom>
            <a:blipFill>
              <a:blip r:embed="rId3">
                <a:alphaModFix amt="0"/>
              </a:blip>
              <a:stretch>
                <a:fillRect t="-44330" b="-44330"/>
              </a:stretch>
            </a:blipFill>
          </p:spPr>
        </p:sp>
        <p:sp>
          <p:nvSpPr>
            <p:cNvPr id="16" name="TextBox 16"/>
            <p:cNvSpPr txBox="1"/>
            <p:nvPr/>
          </p:nvSpPr>
          <p:spPr>
            <a:xfrm>
              <a:off x="0" y="-19050"/>
              <a:ext cx="11622024" cy="2419706"/>
            </a:xfrm>
            <a:prstGeom prst="rect">
              <a:avLst/>
            </a:prstGeom>
          </p:spPr>
          <p:txBody>
            <a:bodyPr lIns="0" tIns="0" rIns="0" bIns="0" rtlCol="0" anchor="ct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F1-Score – for sentiment classification accuracy</a:t>
              </a:r>
            </a:p>
            <a:p>
              <a:pPr marL="488632" lvl="1" indent="-244316" algn="l">
                <a:lnSpc>
                  <a:spcPts val="3240"/>
                </a:lnSpc>
                <a:buFont typeface="Arial"/>
                <a:buChar char="•"/>
              </a:pPr>
              <a:r>
                <a:rPr lang="en-US" sz="2700">
                  <a:solidFill>
                    <a:srgbClr val="000000"/>
                  </a:solidFill>
                  <a:latin typeface="Cambria"/>
                  <a:ea typeface="Cambria"/>
                  <a:cs typeface="Cambria"/>
                  <a:sym typeface="Cambria"/>
                </a:rPr>
                <a:t>Precision &amp; Recall – for fake review detection</a:t>
              </a:r>
            </a:p>
            <a:p>
              <a:pPr marL="488632" lvl="1" indent="-244316" algn="l">
                <a:lnSpc>
                  <a:spcPts val="3240"/>
                </a:lnSpc>
                <a:buFont typeface="Arial"/>
                <a:buChar char="•"/>
              </a:pPr>
              <a:r>
                <a:rPr lang="en-US" sz="2700">
                  <a:solidFill>
                    <a:srgbClr val="000000"/>
                  </a:solidFill>
                  <a:latin typeface="Cambria"/>
                  <a:ea typeface="Cambria"/>
                  <a:cs typeface="Cambria"/>
                  <a:sym typeface="Cambria"/>
                </a:rPr>
                <a:t>Comparison with baseline (star ratings)</a:t>
              </a:r>
            </a:p>
            <a:p>
              <a:pPr marL="488632" lvl="1" indent="-244316" algn="l">
                <a:lnSpc>
                  <a:spcPts val="3240"/>
                </a:lnSpc>
                <a:buFont typeface="Arial"/>
                <a:buChar char="•"/>
              </a:pPr>
              <a:r>
                <a:rPr lang="en-US" sz="2700">
                  <a:solidFill>
                    <a:srgbClr val="000000"/>
                  </a:solidFill>
                  <a:latin typeface="Cambria"/>
                  <a:ea typeface="Cambria"/>
                  <a:cs typeface="Cambria"/>
                  <a:sym typeface="Cambria"/>
                </a:rPr>
                <a:t>User feedback evaluation for recommendation quality </a:t>
              </a:r>
            </a:p>
          </p:txBody>
        </p:sp>
      </p:grpSp>
      <p:sp>
        <p:nvSpPr>
          <p:cNvPr id="17" name="TextBox 17"/>
          <p:cNvSpPr txBox="1"/>
          <p:nvPr/>
        </p:nvSpPr>
        <p:spPr>
          <a:xfrm>
            <a:off x="9009031" y="553660"/>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Data Availability and Security</a:t>
            </a:r>
          </a:p>
        </p:txBody>
      </p:sp>
      <p:grpSp>
        <p:nvGrpSpPr>
          <p:cNvPr id="18" name="Group 18"/>
          <p:cNvGrpSpPr/>
          <p:nvPr/>
        </p:nvGrpSpPr>
        <p:grpSpPr>
          <a:xfrm>
            <a:off x="8711489" y="971842"/>
            <a:ext cx="9847565" cy="3518430"/>
            <a:chOff x="-336004" y="-74592"/>
            <a:chExt cx="13130088" cy="4691240"/>
          </a:xfrm>
        </p:grpSpPr>
        <p:sp>
          <p:nvSpPr>
            <p:cNvPr id="19" name="Freeform 19"/>
            <p:cNvSpPr/>
            <p:nvPr/>
          </p:nvSpPr>
          <p:spPr>
            <a:xfrm>
              <a:off x="0" y="0"/>
              <a:ext cx="12794084" cy="4616648"/>
            </a:xfrm>
            <a:custGeom>
              <a:avLst/>
              <a:gdLst/>
              <a:ahLst/>
              <a:cxnLst/>
              <a:rect l="l" t="t" r="r" b="b"/>
              <a:pathLst>
                <a:path w="12794084" h="4616648">
                  <a:moveTo>
                    <a:pt x="0" y="0"/>
                  </a:moveTo>
                  <a:lnTo>
                    <a:pt x="12794084" y="0"/>
                  </a:lnTo>
                  <a:lnTo>
                    <a:pt x="12794084" y="4616648"/>
                  </a:lnTo>
                  <a:lnTo>
                    <a:pt x="0" y="4616648"/>
                  </a:lnTo>
                  <a:close/>
                </a:path>
              </a:pathLst>
            </a:custGeom>
            <a:blipFill>
              <a:blip r:embed="rId3">
                <a:alphaModFix amt="0"/>
              </a:blip>
              <a:stretch>
                <a:fillRect t="-3998" b="-3998"/>
              </a:stretch>
            </a:blipFill>
          </p:spPr>
        </p:sp>
        <p:sp>
          <p:nvSpPr>
            <p:cNvPr id="20" name="TextBox 20"/>
            <p:cNvSpPr txBox="1"/>
            <p:nvPr/>
          </p:nvSpPr>
          <p:spPr>
            <a:xfrm>
              <a:off x="-336004" y="-74592"/>
              <a:ext cx="12794082" cy="4635704"/>
            </a:xfrm>
            <a:prstGeom prst="rect">
              <a:avLst/>
            </a:prstGeom>
          </p:spPr>
          <p:txBody>
            <a:bodyPr lIns="0" tIns="0" rIns="0" bIns="0" rtlCol="0" anchor="ctr"/>
            <a:lstStyle/>
            <a:p>
              <a:pPr marL="488632" lvl="1" indent="-244316" algn="l">
                <a:lnSpc>
                  <a:spcPts val="3240"/>
                </a:lnSpc>
                <a:buFont typeface="Arial"/>
                <a:buChar char="•"/>
              </a:pPr>
              <a:r>
                <a:rPr lang="en-US" sz="2700" dirty="0">
                  <a:solidFill>
                    <a:srgbClr val="000000"/>
                  </a:solidFill>
                  <a:latin typeface="Cambria"/>
                  <a:ea typeface="Cambria"/>
                  <a:cs typeface="Cambria"/>
                  <a:sym typeface="Cambria"/>
                </a:rPr>
                <a:t>2,000+ customer reviews collected from partner platforms</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2,000 manually labelled reviews for training and validation</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Synthetic Sinhala-English mixed data generated using augmentation techniques</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 All data is anonymized (no personal identifiable information)</a:t>
              </a:r>
            </a:p>
            <a:p>
              <a:pPr marL="488632" lvl="1" indent="-244316" algn="l">
                <a:lnSpc>
                  <a:spcPts val="3240"/>
                </a:lnSpc>
                <a:buFont typeface="Arial"/>
                <a:buChar char="•"/>
              </a:pPr>
              <a:r>
                <a:rPr lang="en-US" sz="2700" dirty="0">
                  <a:solidFill>
                    <a:srgbClr val="000000"/>
                  </a:solidFill>
                  <a:latin typeface="Cambria"/>
                  <a:ea typeface="Cambria"/>
                  <a:cs typeface="Cambria"/>
                  <a:sym typeface="Cambria"/>
                </a:rPr>
                <a:t>User privacy is maintained through data protection mechanisms</a:t>
              </a:r>
            </a:p>
          </p:txBody>
        </p:sp>
      </p:grpSp>
      <p:grpSp>
        <p:nvGrpSpPr>
          <p:cNvPr id="21" name="Group 21"/>
          <p:cNvGrpSpPr/>
          <p:nvPr/>
        </p:nvGrpSpPr>
        <p:grpSpPr>
          <a:xfrm>
            <a:off x="5081683" y="9704041"/>
            <a:ext cx="10224545" cy="547688"/>
            <a:chOff x="0" y="0"/>
            <a:chExt cx="13632726" cy="730250"/>
          </a:xfrm>
        </p:grpSpPr>
        <p:sp>
          <p:nvSpPr>
            <p:cNvPr id="22" name="Freeform 22"/>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23" name="TextBox 23"/>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IT22914200</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Tharushika W.A.M.</a:t>
              </a:r>
              <a:r>
                <a:rPr lang="en-US" sz="2700">
                  <a:solidFill>
                    <a:srgbClr val="000000"/>
                  </a:solidFill>
                  <a:latin typeface="Cambria"/>
                  <a:ea typeface="Cambria"/>
                  <a:cs typeface="Cambria"/>
                  <a:sym typeface="Cambria"/>
                </a:rPr>
                <a:t>|   RP26-IT-072</a:t>
              </a:r>
            </a:p>
          </p:txBody>
        </p:sp>
      </p:grpSp>
      <p:sp>
        <p:nvSpPr>
          <p:cNvPr id="24" name="TextBox 24"/>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59957"/>
            <a:ext cx="3771900" cy="735463"/>
            <a:chOff x="0" y="0"/>
            <a:chExt cx="5029200" cy="980618"/>
          </a:xfrm>
        </p:grpSpPr>
        <p:sp>
          <p:nvSpPr>
            <p:cNvPr id="3" name="Freeform 3"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grpSp>
        <p:nvGrpSpPr>
          <p:cNvPr id="4" name="Group 4"/>
          <p:cNvGrpSpPr/>
          <p:nvPr/>
        </p:nvGrpSpPr>
        <p:grpSpPr>
          <a:xfrm>
            <a:off x="-1485900" y="96803"/>
            <a:ext cx="11087100" cy="457200"/>
            <a:chOff x="0" y="0"/>
            <a:chExt cx="14782800" cy="609600"/>
          </a:xfrm>
        </p:grpSpPr>
        <p:sp>
          <p:nvSpPr>
            <p:cNvPr id="5" name="Freeform 5"/>
            <p:cNvSpPr/>
            <p:nvPr/>
          </p:nvSpPr>
          <p:spPr>
            <a:xfrm>
              <a:off x="0" y="0"/>
              <a:ext cx="14782800" cy="609600"/>
            </a:xfrm>
            <a:custGeom>
              <a:avLst/>
              <a:gdLst/>
              <a:ahLst/>
              <a:cxnLst/>
              <a:rect l="l" t="t" r="r" b="b"/>
              <a:pathLst>
                <a:path w="14782800" h="609600">
                  <a:moveTo>
                    <a:pt x="0" y="0"/>
                  </a:moveTo>
                  <a:lnTo>
                    <a:pt x="14782800" y="0"/>
                  </a:lnTo>
                  <a:lnTo>
                    <a:pt x="14782800" y="609600"/>
                  </a:lnTo>
                  <a:lnTo>
                    <a:pt x="0" y="609600"/>
                  </a:lnTo>
                  <a:close/>
                </a:path>
              </a:pathLst>
            </a:custGeom>
            <a:blipFill>
              <a:blip r:embed="rId3">
                <a:alphaModFix amt="0"/>
              </a:blip>
              <a:stretch>
                <a:fillRect t="-422512" b="-422512"/>
              </a:stretch>
            </a:blipFill>
          </p:spPr>
        </p:sp>
        <p:sp>
          <p:nvSpPr>
            <p:cNvPr id="6" name="TextBox 6"/>
            <p:cNvSpPr txBox="1"/>
            <p:nvPr/>
          </p:nvSpPr>
          <p:spPr>
            <a:xfrm>
              <a:off x="0" y="-9525"/>
              <a:ext cx="14782800" cy="619125"/>
            </a:xfrm>
            <a:prstGeom prst="rect">
              <a:avLst/>
            </a:prstGeom>
          </p:spPr>
          <p:txBody>
            <a:bodyPr lIns="0" tIns="0" rIns="0" bIns="0" rtlCol="0" anchor="ctr"/>
            <a:lstStyle/>
            <a:p>
              <a:pPr algn="ctr">
                <a:lnSpc>
                  <a:spcPts val="2160"/>
                </a:lnSpc>
              </a:pPr>
              <a:r>
                <a:rPr lang="en-US" sz="1800" b="1">
                  <a:solidFill>
                    <a:srgbClr val="000000"/>
                  </a:solidFill>
                  <a:latin typeface="Cambria Bold"/>
                  <a:ea typeface="Cambria Bold"/>
                  <a:cs typeface="Cambria Bold"/>
                  <a:sym typeface="Cambria Bold"/>
                </a:rPr>
                <a:t>Bi-LSTM Based Sentiment Analysis &amp; Review Credibility   Module</a:t>
              </a:r>
            </a:p>
          </p:txBody>
        </p:sp>
      </p:grpSp>
      <p:sp>
        <p:nvSpPr>
          <p:cNvPr id="7" name="TextBox 7"/>
          <p:cNvSpPr txBox="1"/>
          <p:nvPr/>
        </p:nvSpPr>
        <p:spPr>
          <a:xfrm>
            <a:off x="662940" y="2142896"/>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Process </a:t>
            </a:r>
          </a:p>
        </p:txBody>
      </p:sp>
      <p:sp>
        <p:nvSpPr>
          <p:cNvPr id="8" name="TextBox 8"/>
          <p:cNvSpPr txBox="1"/>
          <p:nvPr/>
        </p:nvSpPr>
        <p:spPr>
          <a:xfrm>
            <a:off x="1234440" y="1552499"/>
            <a:ext cx="11018520" cy="1312602"/>
          </a:xfrm>
          <a:prstGeom prst="rect">
            <a:avLst/>
          </a:prstGeom>
        </p:spPr>
        <p:txBody>
          <a:bodyPr lIns="0" tIns="0" rIns="0" bIns="0" rtlCol="0" anchor="t">
            <a:spAutoFit/>
          </a:bodyPr>
          <a:lstStyle/>
          <a:p>
            <a:pPr marL="488632" lvl="1" indent="-244316" algn="l">
              <a:lnSpc>
                <a:spcPts val="3240"/>
              </a:lnSpc>
              <a:buFont typeface="Arial"/>
              <a:buChar char="•"/>
            </a:pPr>
            <a:r>
              <a:rPr lang="en-US" sz="2700">
                <a:solidFill>
                  <a:srgbClr val="000000"/>
                </a:solidFill>
                <a:latin typeface="Cambria"/>
                <a:ea typeface="Cambria"/>
                <a:cs typeface="Cambria"/>
                <a:sym typeface="Cambria"/>
              </a:rPr>
              <a:t>Customer reviews from Top-8 providers (from Component 3)</a:t>
            </a:r>
          </a:p>
          <a:p>
            <a:pPr marL="488632" lvl="1" indent="-244316" algn="l">
              <a:lnSpc>
                <a:spcPts val="3240"/>
              </a:lnSpc>
            </a:pPr>
            <a:endParaRPr lang="en-US" sz="2700">
              <a:solidFill>
                <a:srgbClr val="000000"/>
              </a:solidFill>
              <a:latin typeface="Cambria"/>
              <a:ea typeface="Cambria"/>
              <a:cs typeface="Cambria"/>
              <a:sym typeface="Cambria"/>
            </a:endParaRPr>
          </a:p>
          <a:p>
            <a:pPr marL="488632" lvl="1" indent="-244316" algn="l">
              <a:lnSpc>
                <a:spcPts val="3240"/>
              </a:lnSpc>
            </a:pPr>
            <a:endParaRPr lang="en-US" sz="2700">
              <a:solidFill>
                <a:srgbClr val="000000"/>
              </a:solidFill>
              <a:latin typeface="Cambria"/>
              <a:ea typeface="Cambria"/>
              <a:cs typeface="Cambria"/>
              <a:sym typeface="Cambria"/>
            </a:endParaRPr>
          </a:p>
        </p:txBody>
      </p:sp>
      <p:grpSp>
        <p:nvGrpSpPr>
          <p:cNvPr id="9" name="Group 9"/>
          <p:cNvGrpSpPr/>
          <p:nvPr/>
        </p:nvGrpSpPr>
        <p:grpSpPr>
          <a:xfrm>
            <a:off x="1143000" y="2078907"/>
            <a:ext cx="4929426" cy="2215991"/>
            <a:chOff x="0" y="0"/>
            <a:chExt cx="6572568" cy="2954655"/>
          </a:xfrm>
        </p:grpSpPr>
        <p:sp>
          <p:nvSpPr>
            <p:cNvPr id="10" name="Freeform 10"/>
            <p:cNvSpPr/>
            <p:nvPr/>
          </p:nvSpPr>
          <p:spPr>
            <a:xfrm>
              <a:off x="0" y="0"/>
              <a:ext cx="6572568" cy="2954656"/>
            </a:xfrm>
            <a:custGeom>
              <a:avLst/>
              <a:gdLst/>
              <a:ahLst/>
              <a:cxnLst/>
              <a:rect l="l" t="t" r="r" b="b"/>
              <a:pathLst>
                <a:path w="6572568" h="2954656">
                  <a:moveTo>
                    <a:pt x="0" y="0"/>
                  </a:moveTo>
                  <a:lnTo>
                    <a:pt x="6572568" y="0"/>
                  </a:lnTo>
                  <a:lnTo>
                    <a:pt x="6572568" y="2954656"/>
                  </a:lnTo>
                  <a:lnTo>
                    <a:pt x="0" y="2954656"/>
                  </a:lnTo>
                  <a:close/>
                </a:path>
              </a:pathLst>
            </a:custGeom>
            <a:blipFill>
              <a:blip r:embed="rId3">
                <a:alphaModFix amt="0"/>
              </a:blip>
              <a:stretch>
                <a:fillRect l="-7678" r="-7678"/>
              </a:stretch>
            </a:blipFill>
          </p:spPr>
        </p:sp>
        <p:sp>
          <p:nvSpPr>
            <p:cNvPr id="11" name="TextBox 11"/>
            <p:cNvSpPr txBox="1"/>
            <p:nvPr/>
          </p:nvSpPr>
          <p:spPr>
            <a:xfrm>
              <a:off x="0" y="-19050"/>
              <a:ext cx="6572568" cy="2973705"/>
            </a:xfrm>
            <a:prstGeom prst="rect">
              <a:avLst/>
            </a:prstGeom>
          </p:spPr>
          <p:txBody>
            <a:bodyPr lIns="0" tIns="0" rIns="0" bIns="0" rtlCol="0" anchor="ctr"/>
            <a:lstStyle/>
            <a:p>
              <a:pPr algn="l">
                <a:lnSpc>
                  <a:spcPts val="3240"/>
                </a:lnSpc>
              </a:pPr>
              <a:endParaRPr/>
            </a:p>
            <a:p>
              <a:pPr marL="488632" lvl="1" indent="-244316" algn="l">
                <a:lnSpc>
                  <a:spcPts val="3240"/>
                </a:lnSpc>
                <a:buFont typeface="Arial"/>
                <a:buChar char="•"/>
              </a:pPr>
              <a:r>
                <a:rPr lang="en-US" sz="2700">
                  <a:solidFill>
                    <a:srgbClr val="000000"/>
                  </a:solidFill>
                  <a:latin typeface="Cambria"/>
                  <a:ea typeface="Cambria"/>
                  <a:cs typeface="Cambria"/>
                  <a:sym typeface="Cambria"/>
                </a:rPr>
                <a:t>Text preprocessing </a:t>
              </a:r>
            </a:p>
            <a:p>
              <a:pPr marL="488632" lvl="1" indent="-244316" algn="l">
                <a:lnSpc>
                  <a:spcPts val="3240"/>
                </a:lnSpc>
                <a:buFont typeface="Arial"/>
                <a:buChar char="•"/>
              </a:pPr>
              <a:r>
                <a:rPr lang="en-US" sz="2700">
                  <a:solidFill>
                    <a:srgbClr val="000000"/>
                  </a:solidFill>
                  <a:latin typeface="Cambria"/>
                  <a:ea typeface="Cambria"/>
                  <a:cs typeface="Cambria"/>
                  <a:sym typeface="Cambria"/>
                </a:rPr>
                <a:t>Bi-LSTM sentiment analysis </a:t>
              </a:r>
            </a:p>
            <a:p>
              <a:pPr marL="488632" lvl="1" indent="-244316" algn="l">
                <a:lnSpc>
                  <a:spcPts val="3240"/>
                </a:lnSpc>
                <a:buFont typeface="Arial"/>
                <a:buChar char="•"/>
              </a:pPr>
              <a:r>
                <a:rPr lang="en-US" sz="2700">
                  <a:solidFill>
                    <a:srgbClr val="000000"/>
                  </a:solidFill>
                  <a:latin typeface="Cambria"/>
                  <a:ea typeface="Cambria"/>
                  <a:cs typeface="Cambria"/>
                  <a:sym typeface="Cambria"/>
                </a:rPr>
                <a:t>Fake review detection </a:t>
              </a:r>
            </a:p>
            <a:p>
              <a:pPr marL="488632" lvl="1" indent="-244316" algn="l">
                <a:lnSpc>
                  <a:spcPts val="3240"/>
                </a:lnSpc>
                <a:buFont typeface="Arial"/>
                <a:buChar char="•"/>
              </a:pPr>
              <a:r>
                <a:rPr lang="en-US" sz="2700">
                  <a:solidFill>
                    <a:srgbClr val="000000"/>
                  </a:solidFill>
                  <a:latin typeface="Cambria"/>
                  <a:ea typeface="Cambria"/>
                  <a:cs typeface="Cambria"/>
                  <a:sym typeface="Cambria"/>
                </a:rPr>
                <a:t>Sentiment score calculation  </a:t>
              </a:r>
            </a:p>
          </p:txBody>
        </p:sp>
      </p:grpSp>
      <p:sp>
        <p:nvSpPr>
          <p:cNvPr id="12" name="TextBox 12"/>
          <p:cNvSpPr txBox="1"/>
          <p:nvPr/>
        </p:nvSpPr>
        <p:spPr>
          <a:xfrm>
            <a:off x="1234440" y="4818440"/>
            <a:ext cx="11018520" cy="1312602"/>
          </a:xfrm>
          <a:prstGeom prst="rect">
            <a:avLst/>
          </a:prstGeom>
        </p:spPr>
        <p:txBody>
          <a:bodyPr lIns="0" tIns="0" rIns="0" bIns="0" rtlCol="0" anchor="t">
            <a:spAutoFit/>
          </a:bodyPr>
          <a:lstStyle/>
          <a:p>
            <a:pPr marL="488632" lvl="1" indent="-244316" algn="l">
              <a:lnSpc>
                <a:spcPts val="3240"/>
              </a:lnSpc>
              <a:buFont typeface="Arial"/>
              <a:buChar char="•"/>
            </a:pPr>
            <a:r>
              <a:rPr lang="en-US" sz="2700" dirty="0">
                <a:solidFill>
                  <a:srgbClr val="000000"/>
                </a:solidFill>
                <a:latin typeface="Cambria"/>
                <a:ea typeface="Cambria"/>
                <a:cs typeface="Cambria"/>
                <a:sym typeface="Cambria"/>
              </a:rPr>
              <a:t>Top-5 providers with sentiment-based ranking and explanations</a:t>
            </a:r>
          </a:p>
          <a:p>
            <a:pPr marL="488632" lvl="1" indent="-244316" algn="l">
              <a:lnSpc>
                <a:spcPts val="3240"/>
              </a:lnSpc>
            </a:pPr>
            <a:endParaRPr lang="en-US" sz="2700" dirty="0">
              <a:solidFill>
                <a:srgbClr val="000000"/>
              </a:solidFill>
              <a:latin typeface="Cambria"/>
              <a:ea typeface="Cambria"/>
              <a:cs typeface="Cambria"/>
              <a:sym typeface="Cambria"/>
            </a:endParaRPr>
          </a:p>
          <a:p>
            <a:pPr marL="488632" lvl="1" indent="-244316" algn="l">
              <a:lnSpc>
                <a:spcPts val="3240"/>
              </a:lnSpc>
            </a:pPr>
            <a:endParaRPr lang="en-US" sz="2700" dirty="0">
              <a:solidFill>
                <a:srgbClr val="000000"/>
              </a:solidFill>
              <a:latin typeface="Cambria"/>
              <a:ea typeface="Cambria"/>
              <a:cs typeface="Cambria"/>
              <a:sym typeface="Cambria"/>
            </a:endParaRPr>
          </a:p>
        </p:txBody>
      </p:sp>
      <p:sp>
        <p:nvSpPr>
          <p:cNvPr id="13" name="TextBox 13"/>
          <p:cNvSpPr txBox="1"/>
          <p:nvPr/>
        </p:nvSpPr>
        <p:spPr>
          <a:xfrm>
            <a:off x="662940" y="5584231"/>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Dependencies and Shared Components</a:t>
            </a:r>
          </a:p>
        </p:txBody>
      </p:sp>
      <p:grpSp>
        <p:nvGrpSpPr>
          <p:cNvPr id="14" name="Group 14"/>
          <p:cNvGrpSpPr/>
          <p:nvPr/>
        </p:nvGrpSpPr>
        <p:grpSpPr>
          <a:xfrm>
            <a:off x="1143000" y="5863895"/>
            <a:ext cx="9691983" cy="1800492"/>
            <a:chOff x="0" y="0"/>
            <a:chExt cx="12922644" cy="2400656"/>
          </a:xfrm>
        </p:grpSpPr>
        <p:sp>
          <p:nvSpPr>
            <p:cNvPr id="15" name="Freeform 15"/>
            <p:cNvSpPr/>
            <p:nvPr/>
          </p:nvSpPr>
          <p:spPr>
            <a:xfrm>
              <a:off x="0" y="0"/>
              <a:ext cx="12922642" cy="2400658"/>
            </a:xfrm>
            <a:custGeom>
              <a:avLst/>
              <a:gdLst/>
              <a:ahLst/>
              <a:cxnLst/>
              <a:rect l="l" t="t" r="r" b="b"/>
              <a:pathLst>
                <a:path w="12922642" h="2400658">
                  <a:moveTo>
                    <a:pt x="0" y="0"/>
                  </a:moveTo>
                  <a:lnTo>
                    <a:pt x="12922642" y="0"/>
                  </a:lnTo>
                  <a:lnTo>
                    <a:pt x="12922642" y="2400658"/>
                  </a:lnTo>
                  <a:lnTo>
                    <a:pt x="0" y="2400658"/>
                  </a:lnTo>
                  <a:close/>
                </a:path>
              </a:pathLst>
            </a:custGeom>
            <a:blipFill>
              <a:blip r:embed="rId3">
                <a:alphaModFix amt="0"/>
              </a:blip>
              <a:stretch>
                <a:fillRect t="-54887" b="-54887"/>
              </a:stretch>
            </a:blipFill>
          </p:spPr>
        </p:sp>
        <p:sp>
          <p:nvSpPr>
            <p:cNvPr id="16" name="TextBox 16"/>
            <p:cNvSpPr txBox="1"/>
            <p:nvPr/>
          </p:nvSpPr>
          <p:spPr>
            <a:xfrm>
              <a:off x="0" y="-19050"/>
              <a:ext cx="12922644" cy="2419706"/>
            </a:xfrm>
            <a:prstGeom prst="rect">
              <a:avLst/>
            </a:prstGeom>
          </p:spPr>
          <p:txBody>
            <a:bodyPr lIns="0" tIns="0" rIns="0" bIns="0" rtlCol="0" anchor="ctr"/>
            <a:lstStyle/>
            <a:p>
              <a:pPr algn="l">
                <a:lnSpc>
                  <a:spcPts val="3240"/>
                </a:lnSpc>
              </a:pPr>
              <a:endParaRPr/>
            </a:p>
            <a:p>
              <a:pPr marL="488632" lvl="1" indent="-244316" algn="l">
                <a:lnSpc>
                  <a:spcPts val="3240"/>
                </a:lnSpc>
                <a:buFont typeface="Arial"/>
                <a:buChar char="•"/>
              </a:pPr>
              <a:r>
                <a:rPr lang="en-US" sz="2700">
                  <a:solidFill>
                    <a:srgbClr val="000000"/>
                  </a:solidFill>
                  <a:latin typeface="Cambria"/>
                  <a:ea typeface="Cambria"/>
                  <a:cs typeface="Cambria"/>
                  <a:sym typeface="Cambria"/>
                </a:rPr>
                <a:t>Receives input from Component 3 (Credibility Module)</a:t>
              </a:r>
            </a:p>
            <a:p>
              <a:pPr marL="488632" lvl="1" indent="-244316" algn="l">
                <a:lnSpc>
                  <a:spcPts val="3240"/>
                </a:lnSpc>
                <a:buFont typeface="Arial"/>
                <a:buChar char="•"/>
              </a:pPr>
              <a:r>
                <a:rPr lang="en-US" sz="2700">
                  <a:solidFill>
                    <a:srgbClr val="000000"/>
                  </a:solidFill>
                  <a:latin typeface="Cambria"/>
                  <a:ea typeface="Cambria"/>
                  <a:cs typeface="Cambria"/>
                  <a:sym typeface="Cambria"/>
                </a:rPr>
                <a:t>Outputs refined results to final recommendation system</a:t>
              </a:r>
            </a:p>
            <a:p>
              <a:pPr marL="488632" lvl="1" indent="-244316" algn="l">
                <a:lnSpc>
                  <a:spcPts val="3240"/>
                </a:lnSpc>
                <a:buFont typeface="Arial"/>
                <a:buChar char="•"/>
              </a:pPr>
              <a:r>
                <a:rPr lang="en-US" sz="2700">
                  <a:solidFill>
                    <a:srgbClr val="000000"/>
                  </a:solidFill>
                  <a:latin typeface="Cambria"/>
                  <a:ea typeface="Cambria"/>
                  <a:cs typeface="Cambria"/>
                  <a:sym typeface="Cambria"/>
                </a:rPr>
                <a:t>Integrated with backend (FastAPI) and database (MongoDB) </a:t>
              </a:r>
            </a:p>
          </p:txBody>
        </p:sp>
      </p:grpSp>
      <p:grpSp>
        <p:nvGrpSpPr>
          <p:cNvPr id="17" name="Group 17"/>
          <p:cNvGrpSpPr/>
          <p:nvPr/>
        </p:nvGrpSpPr>
        <p:grpSpPr>
          <a:xfrm>
            <a:off x="5086350" y="9653845"/>
            <a:ext cx="10224545" cy="547688"/>
            <a:chOff x="0" y="0"/>
            <a:chExt cx="13632726" cy="730250"/>
          </a:xfrm>
        </p:grpSpPr>
        <p:sp>
          <p:nvSpPr>
            <p:cNvPr id="18" name="Freeform 18"/>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3">
                <a:alphaModFix amt="0"/>
              </a:blip>
              <a:stretch>
                <a:fillRect t="-313757" b="-313757"/>
              </a:stretch>
            </a:blipFill>
          </p:spPr>
        </p:sp>
        <p:sp>
          <p:nvSpPr>
            <p:cNvPr id="19" name="TextBox 19"/>
            <p:cNvSpPr txBox="1"/>
            <p:nvPr/>
          </p:nvSpPr>
          <p:spPr>
            <a:xfrm>
              <a:off x="0" y="-19050"/>
              <a:ext cx="13632726" cy="74930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IT22914200</a:t>
              </a:r>
              <a:r>
                <a:rPr lang="en-US" sz="2700">
                  <a:solidFill>
                    <a:srgbClr val="000000"/>
                  </a:solidFill>
                  <a:latin typeface="Cambria"/>
                  <a:ea typeface="Cambria"/>
                  <a:cs typeface="Cambria"/>
                  <a:sym typeface="Cambria"/>
                </a:rPr>
                <a:t>   | </a:t>
              </a:r>
              <a:r>
                <a:rPr lang="en-US" sz="2700" b="1">
                  <a:solidFill>
                    <a:srgbClr val="000000"/>
                  </a:solidFill>
                  <a:latin typeface="Cambria Bold"/>
                  <a:ea typeface="Cambria Bold"/>
                  <a:cs typeface="Cambria Bold"/>
                  <a:sym typeface="Cambria Bold"/>
                </a:rPr>
                <a:t>Tharushika W.A.M.</a:t>
              </a:r>
              <a:r>
                <a:rPr lang="en-US" sz="2700">
                  <a:solidFill>
                    <a:srgbClr val="000000"/>
                  </a:solidFill>
                  <a:latin typeface="Cambria"/>
                  <a:ea typeface="Cambria"/>
                  <a:cs typeface="Cambria"/>
                  <a:sym typeface="Cambria"/>
                </a:rPr>
                <a:t>|   RP26-IT-072</a:t>
              </a:r>
            </a:p>
          </p:txBody>
        </p:sp>
      </p:grpSp>
      <p:sp>
        <p:nvSpPr>
          <p:cNvPr id="20" name="Freeform 20"/>
          <p:cNvSpPr/>
          <p:nvPr/>
        </p:nvSpPr>
        <p:spPr>
          <a:xfrm>
            <a:off x="10976942" y="325403"/>
            <a:ext cx="7093058" cy="8796156"/>
          </a:xfrm>
          <a:custGeom>
            <a:avLst/>
            <a:gdLst/>
            <a:ahLst/>
            <a:cxnLst/>
            <a:rect l="l" t="t" r="r" b="b"/>
            <a:pathLst>
              <a:path w="7093058" h="8796156">
                <a:moveTo>
                  <a:pt x="0" y="0"/>
                </a:moveTo>
                <a:lnTo>
                  <a:pt x="7093058" y="0"/>
                </a:lnTo>
                <a:lnTo>
                  <a:pt x="7093058" y="8796156"/>
                </a:lnTo>
                <a:lnTo>
                  <a:pt x="0" y="8796156"/>
                </a:lnTo>
                <a:lnTo>
                  <a:pt x="0" y="0"/>
                </a:lnTo>
                <a:close/>
              </a:path>
            </a:pathLst>
          </a:custGeom>
          <a:blipFill>
            <a:blip r:embed="rId4"/>
            <a:stretch>
              <a:fillRect t="-17500" b="-3532"/>
            </a:stretch>
          </a:blipFill>
        </p:spPr>
      </p:sp>
      <p:sp>
        <p:nvSpPr>
          <p:cNvPr id="21" name="TextBox 21"/>
          <p:cNvSpPr txBox="1"/>
          <p:nvPr/>
        </p:nvSpPr>
        <p:spPr>
          <a:xfrm>
            <a:off x="15521940" y="9841601"/>
            <a:ext cx="1417320" cy="5429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a:p>
            <a:pPr algn="l">
              <a:lnSpc>
                <a:spcPts val="2160"/>
              </a:lnSpc>
            </a:pPr>
            <a:endParaRPr lang="en-US" sz="1800" b="1">
              <a:solidFill>
                <a:srgbClr val="000000"/>
              </a:solidFill>
              <a:latin typeface="Cambria Bold"/>
              <a:ea typeface="Cambria Bold"/>
              <a:cs typeface="Cambria Bold"/>
              <a:sym typeface="Cambria Bold"/>
            </a:endParaRPr>
          </a:p>
        </p:txBody>
      </p:sp>
      <p:sp>
        <p:nvSpPr>
          <p:cNvPr id="22" name="TextBox 22"/>
          <p:cNvSpPr txBox="1"/>
          <p:nvPr/>
        </p:nvSpPr>
        <p:spPr>
          <a:xfrm>
            <a:off x="642766" y="547545"/>
            <a:ext cx="8389620" cy="481613"/>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System Overview</a:t>
            </a:r>
          </a:p>
        </p:txBody>
      </p:sp>
      <p:sp>
        <p:nvSpPr>
          <p:cNvPr id="23" name="TextBox 23"/>
          <p:cNvSpPr txBox="1"/>
          <p:nvPr/>
        </p:nvSpPr>
        <p:spPr>
          <a:xfrm>
            <a:off x="642766" y="1056380"/>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Inputs </a:t>
            </a:r>
          </a:p>
        </p:txBody>
      </p:sp>
      <p:sp>
        <p:nvSpPr>
          <p:cNvPr id="24" name="TextBox 24"/>
          <p:cNvSpPr txBox="1"/>
          <p:nvPr/>
        </p:nvSpPr>
        <p:spPr>
          <a:xfrm>
            <a:off x="612515" y="4331094"/>
            <a:ext cx="8846820" cy="425920"/>
          </a:xfrm>
          <a:prstGeom prst="rect">
            <a:avLst/>
          </a:prstGeom>
        </p:spPr>
        <p:txBody>
          <a:bodyPr lIns="0" tIns="0" rIns="0" bIns="0" rtlCol="0" anchor="t">
            <a:spAutoFit/>
          </a:bodyPr>
          <a:lstStyle/>
          <a:p>
            <a:pPr marL="434340" lvl="1" indent="-217170" algn="l">
              <a:lnSpc>
                <a:spcPts val="2879"/>
              </a:lnSpc>
              <a:buFont typeface="Arial"/>
              <a:buChar char="•"/>
            </a:pPr>
            <a:r>
              <a:rPr lang="en-US" sz="2400" b="1">
                <a:solidFill>
                  <a:srgbClr val="000000"/>
                </a:solidFill>
                <a:latin typeface="Cambria Bold"/>
                <a:ea typeface="Cambria Bold"/>
                <a:cs typeface="Cambria Bold"/>
                <a:sym typeface="Cambria Bold"/>
              </a:rPr>
              <a:t>Output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93325" y="1354344"/>
            <a:ext cx="4480789" cy="905274"/>
            <a:chOff x="0" y="0"/>
            <a:chExt cx="1321320" cy="266952"/>
          </a:xfrm>
        </p:grpSpPr>
        <p:sp>
          <p:nvSpPr>
            <p:cNvPr id="3" name="Freeform 3"/>
            <p:cNvSpPr/>
            <p:nvPr/>
          </p:nvSpPr>
          <p:spPr>
            <a:xfrm>
              <a:off x="0" y="0"/>
              <a:ext cx="1321320" cy="266952"/>
            </a:xfrm>
            <a:custGeom>
              <a:avLst/>
              <a:gdLst/>
              <a:ahLst/>
              <a:cxnLst/>
              <a:rect l="l" t="t" r="r" b="b"/>
              <a:pathLst>
                <a:path w="1321320" h="266952">
                  <a:moveTo>
                    <a:pt x="0" y="0"/>
                  </a:moveTo>
                  <a:lnTo>
                    <a:pt x="1321320" y="0"/>
                  </a:lnTo>
                  <a:lnTo>
                    <a:pt x="1321320" y="266952"/>
                  </a:lnTo>
                  <a:lnTo>
                    <a:pt x="0" y="266952"/>
                  </a:lnTo>
                  <a:close/>
                </a:path>
              </a:pathLst>
            </a:custGeom>
            <a:solidFill>
              <a:srgbClr val="1800AD"/>
            </a:solidFill>
          </p:spPr>
        </p:sp>
        <p:sp>
          <p:nvSpPr>
            <p:cNvPr id="4" name="TextBox 4"/>
            <p:cNvSpPr txBox="1"/>
            <p:nvPr/>
          </p:nvSpPr>
          <p:spPr>
            <a:xfrm>
              <a:off x="0" y="-28575"/>
              <a:ext cx="1321320" cy="295527"/>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a:off x="5845631" y="1354344"/>
            <a:ext cx="3622272" cy="425940"/>
            <a:chOff x="0" y="0"/>
            <a:chExt cx="1068155" cy="125604"/>
          </a:xfrm>
        </p:grpSpPr>
        <p:sp>
          <p:nvSpPr>
            <p:cNvPr id="6" name="Freeform 6"/>
            <p:cNvSpPr/>
            <p:nvPr/>
          </p:nvSpPr>
          <p:spPr>
            <a:xfrm>
              <a:off x="0" y="0"/>
              <a:ext cx="1068155" cy="125604"/>
            </a:xfrm>
            <a:custGeom>
              <a:avLst/>
              <a:gdLst/>
              <a:ahLst/>
              <a:cxnLst/>
              <a:rect l="l" t="t" r="r" b="b"/>
              <a:pathLst>
                <a:path w="1068155" h="125604">
                  <a:moveTo>
                    <a:pt x="0" y="0"/>
                  </a:moveTo>
                  <a:lnTo>
                    <a:pt x="1068155" y="0"/>
                  </a:lnTo>
                  <a:lnTo>
                    <a:pt x="1068155" y="125604"/>
                  </a:lnTo>
                  <a:lnTo>
                    <a:pt x="0" y="125604"/>
                  </a:lnTo>
                  <a:close/>
                </a:path>
              </a:pathLst>
            </a:custGeom>
            <a:solidFill>
              <a:srgbClr val="1800AD"/>
            </a:solidFill>
          </p:spPr>
        </p:sp>
        <p:sp>
          <p:nvSpPr>
            <p:cNvPr id="7" name="TextBox 7"/>
            <p:cNvSpPr txBox="1"/>
            <p:nvPr/>
          </p:nvSpPr>
          <p:spPr>
            <a:xfrm>
              <a:off x="0" y="-28575"/>
              <a:ext cx="1068155" cy="154179"/>
            </a:xfrm>
            <a:prstGeom prst="rect">
              <a:avLst/>
            </a:prstGeom>
          </p:spPr>
          <p:txBody>
            <a:bodyPr lIns="50800" tIns="50800" rIns="50800" bIns="50800" rtlCol="0" anchor="ctr"/>
            <a:lstStyle/>
            <a:p>
              <a:pPr algn="ctr">
                <a:lnSpc>
                  <a:spcPts val="1960"/>
                </a:lnSpc>
              </a:pPr>
              <a:endParaRPr/>
            </a:p>
          </p:txBody>
        </p:sp>
      </p:grpSp>
      <p:grpSp>
        <p:nvGrpSpPr>
          <p:cNvPr id="8" name="Group 8"/>
          <p:cNvGrpSpPr/>
          <p:nvPr/>
        </p:nvGrpSpPr>
        <p:grpSpPr>
          <a:xfrm>
            <a:off x="5845631" y="1833678"/>
            <a:ext cx="851930" cy="425940"/>
            <a:chOff x="0" y="0"/>
            <a:chExt cx="251222" cy="125604"/>
          </a:xfrm>
        </p:grpSpPr>
        <p:sp>
          <p:nvSpPr>
            <p:cNvPr id="9" name="Freeform 9"/>
            <p:cNvSpPr/>
            <p:nvPr/>
          </p:nvSpPr>
          <p:spPr>
            <a:xfrm>
              <a:off x="0" y="0"/>
              <a:ext cx="251222" cy="125604"/>
            </a:xfrm>
            <a:custGeom>
              <a:avLst/>
              <a:gdLst/>
              <a:ahLst/>
              <a:cxnLst/>
              <a:rect l="l" t="t" r="r" b="b"/>
              <a:pathLst>
                <a:path w="251222" h="125604">
                  <a:moveTo>
                    <a:pt x="0" y="0"/>
                  </a:moveTo>
                  <a:lnTo>
                    <a:pt x="251222" y="0"/>
                  </a:lnTo>
                  <a:lnTo>
                    <a:pt x="251222" y="125604"/>
                  </a:lnTo>
                  <a:lnTo>
                    <a:pt x="0" y="125604"/>
                  </a:lnTo>
                  <a:close/>
                </a:path>
              </a:pathLst>
            </a:custGeom>
            <a:solidFill>
              <a:srgbClr val="1800AD"/>
            </a:solidFill>
          </p:spPr>
        </p:sp>
        <p:sp>
          <p:nvSpPr>
            <p:cNvPr id="10" name="TextBox 10"/>
            <p:cNvSpPr txBox="1"/>
            <p:nvPr/>
          </p:nvSpPr>
          <p:spPr>
            <a:xfrm>
              <a:off x="0" y="-28575"/>
              <a:ext cx="251222" cy="154179"/>
            </a:xfrm>
            <a:prstGeom prst="rect">
              <a:avLst/>
            </a:prstGeom>
          </p:spPr>
          <p:txBody>
            <a:bodyPr lIns="50800" tIns="50800" rIns="50800" bIns="50800" rtlCol="0" anchor="ctr"/>
            <a:lstStyle/>
            <a:p>
              <a:pPr algn="ctr">
                <a:lnSpc>
                  <a:spcPts val="1960"/>
                </a:lnSpc>
              </a:pPr>
              <a:endParaRPr/>
            </a:p>
          </p:txBody>
        </p:sp>
      </p:grpSp>
      <p:grpSp>
        <p:nvGrpSpPr>
          <p:cNvPr id="11" name="Group 11"/>
          <p:cNvGrpSpPr/>
          <p:nvPr/>
        </p:nvGrpSpPr>
        <p:grpSpPr>
          <a:xfrm>
            <a:off x="6769079" y="1833678"/>
            <a:ext cx="851930" cy="425940"/>
            <a:chOff x="0" y="0"/>
            <a:chExt cx="251222" cy="125604"/>
          </a:xfrm>
        </p:grpSpPr>
        <p:sp>
          <p:nvSpPr>
            <p:cNvPr id="12" name="Freeform 12"/>
            <p:cNvSpPr/>
            <p:nvPr/>
          </p:nvSpPr>
          <p:spPr>
            <a:xfrm>
              <a:off x="0" y="0"/>
              <a:ext cx="251222" cy="125604"/>
            </a:xfrm>
            <a:custGeom>
              <a:avLst/>
              <a:gdLst/>
              <a:ahLst/>
              <a:cxnLst/>
              <a:rect l="l" t="t" r="r" b="b"/>
              <a:pathLst>
                <a:path w="251222" h="125604">
                  <a:moveTo>
                    <a:pt x="0" y="0"/>
                  </a:moveTo>
                  <a:lnTo>
                    <a:pt x="251222" y="0"/>
                  </a:lnTo>
                  <a:lnTo>
                    <a:pt x="251222" y="125604"/>
                  </a:lnTo>
                  <a:lnTo>
                    <a:pt x="0" y="125604"/>
                  </a:lnTo>
                  <a:close/>
                </a:path>
              </a:pathLst>
            </a:custGeom>
            <a:solidFill>
              <a:srgbClr val="1800AD"/>
            </a:solidFill>
          </p:spPr>
        </p:sp>
        <p:sp>
          <p:nvSpPr>
            <p:cNvPr id="13" name="TextBox 13"/>
            <p:cNvSpPr txBox="1"/>
            <p:nvPr/>
          </p:nvSpPr>
          <p:spPr>
            <a:xfrm>
              <a:off x="0" y="-28575"/>
              <a:ext cx="251222" cy="154179"/>
            </a:xfrm>
            <a:prstGeom prst="rect">
              <a:avLst/>
            </a:prstGeom>
          </p:spPr>
          <p:txBody>
            <a:bodyPr lIns="50800" tIns="50800" rIns="50800" bIns="50800" rtlCol="0" anchor="ctr"/>
            <a:lstStyle/>
            <a:p>
              <a:pPr algn="ctr">
                <a:lnSpc>
                  <a:spcPts val="1960"/>
                </a:lnSpc>
              </a:pPr>
              <a:endParaRPr/>
            </a:p>
          </p:txBody>
        </p:sp>
      </p:grpSp>
      <p:grpSp>
        <p:nvGrpSpPr>
          <p:cNvPr id="14" name="Group 14"/>
          <p:cNvGrpSpPr/>
          <p:nvPr/>
        </p:nvGrpSpPr>
        <p:grpSpPr>
          <a:xfrm>
            <a:off x="7692526" y="1833678"/>
            <a:ext cx="851930" cy="425940"/>
            <a:chOff x="0" y="0"/>
            <a:chExt cx="251222" cy="125604"/>
          </a:xfrm>
        </p:grpSpPr>
        <p:sp>
          <p:nvSpPr>
            <p:cNvPr id="15" name="Freeform 15"/>
            <p:cNvSpPr/>
            <p:nvPr/>
          </p:nvSpPr>
          <p:spPr>
            <a:xfrm>
              <a:off x="0" y="0"/>
              <a:ext cx="251222" cy="125604"/>
            </a:xfrm>
            <a:custGeom>
              <a:avLst/>
              <a:gdLst/>
              <a:ahLst/>
              <a:cxnLst/>
              <a:rect l="l" t="t" r="r" b="b"/>
              <a:pathLst>
                <a:path w="251222" h="125604">
                  <a:moveTo>
                    <a:pt x="0" y="0"/>
                  </a:moveTo>
                  <a:lnTo>
                    <a:pt x="251222" y="0"/>
                  </a:lnTo>
                  <a:lnTo>
                    <a:pt x="251222" y="125604"/>
                  </a:lnTo>
                  <a:lnTo>
                    <a:pt x="0" y="125604"/>
                  </a:lnTo>
                  <a:close/>
                </a:path>
              </a:pathLst>
            </a:custGeom>
            <a:solidFill>
              <a:srgbClr val="1800AD"/>
            </a:solidFill>
          </p:spPr>
        </p:sp>
        <p:sp>
          <p:nvSpPr>
            <p:cNvPr id="16" name="TextBox 16"/>
            <p:cNvSpPr txBox="1"/>
            <p:nvPr/>
          </p:nvSpPr>
          <p:spPr>
            <a:xfrm>
              <a:off x="0" y="-28575"/>
              <a:ext cx="251222" cy="154179"/>
            </a:xfrm>
            <a:prstGeom prst="rect">
              <a:avLst/>
            </a:prstGeom>
          </p:spPr>
          <p:txBody>
            <a:bodyPr lIns="50800" tIns="50800" rIns="50800" bIns="50800" rtlCol="0" anchor="ctr"/>
            <a:lstStyle/>
            <a:p>
              <a:pPr algn="ctr">
                <a:lnSpc>
                  <a:spcPts val="1960"/>
                </a:lnSpc>
              </a:pPr>
              <a:endParaRPr/>
            </a:p>
          </p:txBody>
        </p:sp>
      </p:grpSp>
      <p:grpSp>
        <p:nvGrpSpPr>
          <p:cNvPr id="17" name="Group 17"/>
          <p:cNvGrpSpPr/>
          <p:nvPr/>
        </p:nvGrpSpPr>
        <p:grpSpPr>
          <a:xfrm>
            <a:off x="8615973" y="1833678"/>
            <a:ext cx="851930" cy="425940"/>
            <a:chOff x="0" y="0"/>
            <a:chExt cx="251222" cy="125604"/>
          </a:xfrm>
        </p:grpSpPr>
        <p:sp>
          <p:nvSpPr>
            <p:cNvPr id="18" name="Freeform 18"/>
            <p:cNvSpPr/>
            <p:nvPr/>
          </p:nvSpPr>
          <p:spPr>
            <a:xfrm>
              <a:off x="0" y="0"/>
              <a:ext cx="251222" cy="125604"/>
            </a:xfrm>
            <a:custGeom>
              <a:avLst/>
              <a:gdLst/>
              <a:ahLst/>
              <a:cxnLst/>
              <a:rect l="l" t="t" r="r" b="b"/>
              <a:pathLst>
                <a:path w="251222" h="125604">
                  <a:moveTo>
                    <a:pt x="0" y="0"/>
                  </a:moveTo>
                  <a:lnTo>
                    <a:pt x="251222" y="0"/>
                  </a:lnTo>
                  <a:lnTo>
                    <a:pt x="251222" y="125604"/>
                  </a:lnTo>
                  <a:lnTo>
                    <a:pt x="0" y="125604"/>
                  </a:lnTo>
                  <a:close/>
                </a:path>
              </a:pathLst>
            </a:custGeom>
            <a:solidFill>
              <a:srgbClr val="1800AD"/>
            </a:solidFill>
          </p:spPr>
        </p:sp>
        <p:sp>
          <p:nvSpPr>
            <p:cNvPr id="19" name="TextBox 19"/>
            <p:cNvSpPr txBox="1"/>
            <p:nvPr/>
          </p:nvSpPr>
          <p:spPr>
            <a:xfrm>
              <a:off x="0" y="-28575"/>
              <a:ext cx="251222" cy="154179"/>
            </a:xfrm>
            <a:prstGeom prst="rect">
              <a:avLst/>
            </a:prstGeom>
          </p:spPr>
          <p:txBody>
            <a:bodyPr lIns="50800" tIns="50800" rIns="50800" bIns="50800" rtlCol="0" anchor="ctr"/>
            <a:lstStyle/>
            <a:p>
              <a:pPr algn="ctr">
                <a:lnSpc>
                  <a:spcPts val="1960"/>
                </a:lnSpc>
              </a:pPr>
              <a:endParaRPr/>
            </a:p>
          </p:txBody>
        </p:sp>
      </p:grpSp>
      <p:grpSp>
        <p:nvGrpSpPr>
          <p:cNvPr id="20" name="Group 20"/>
          <p:cNvGrpSpPr/>
          <p:nvPr/>
        </p:nvGrpSpPr>
        <p:grpSpPr>
          <a:xfrm>
            <a:off x="9539420" y="1833678"/>
            <a:ext cx="851930" cy="425940"/>
            <a:chOff x="0" y="0"/>
            <a:chExt cx="251222" cy="125604"/>
          </a:xfrm>
        </p:grpSpPr>
        <p:sp>
          <p:nvSpPr>
            <p:cNvPr id="21" name="Freeform 21"/>
            <p:cNvSpPr/>
            <p:nvPr/>
          </p:nvSpPr>
          <p:spPr>
            <a:xfrm>
              <a:off x="0" y="0"/>
              <a:ext cx="251222" cy="125604"/>
            </a:xfrm>
            <a:custGeom>
              <a:avLst/>
              <a:gdLst/>
              <a:ahLst/>
              <a:cxnLst/>
              <a:rect l="l" t="t" r="r" b="b"/>
              <a:pathLst>
                <a:path w="251222" h="125604">
                  <a:moveTo>
                    <a:pt x="0" y="0"/>
                  </a:moveTo>
                  <a:lnTo>
                    <a:pt x="251222" y="0"/>
                  </a:lnTo>
                  <a:lnTo>
                    <a:pt x="251222" y="125604"/>
                  </a:lnTo>
                  <a:lnTo>
                    <a:pt x="0" y="125604"/>
                  </a:lnTo>
                  <a:close/>
                </a:path>
              </a:pathLst>
            </a:custGeom>
            <a:solidFill>
              <a:srgbClr val="1800AD"/>
            </a:solidFill>
          </p:spPr>
        </p:sp>
        <p:sp>
          <p:nvSpPr>
            <p:cNvPr id="22" name="TextBox 22"/>
            <p:cNvSpPr txBox="1"/>
            <p:nvPr/>
          </p:nvSpPr>
          <p:spPr>
            <a:xfrm>
              <a:off x="0" y="-28575"/>
              <a:ext cx="251222" cy="154179"/>
            </a:xfrm>
            <a:prstGeom prst="rect">
              <a:avLst/>
            </a:prstGeom>
          </p:spPr>
          <p:txBody>
            <a:bodyPr lIns="50800" tIns="50800" rIns="50800" bIns="50800" rtlCol="0" anchor="ctr"/>
            <a:lstStyle/>
            <a:p>
              <a:pPr algn="ctr">
                <a:lnSpc>
                  <a:spcPts val="1960"/>
                </a:lnSpc>
              </a:pPr>
              <a:endParaRPr/>
            </a:p>
          </p:txBody>
        </p:sp>
      </p:grpSp>
      <p:grpSp>
        <p:nvGrpSpPr>
          <p:cNvPr id="23" name="Group 23"/>
          <p:cNvGrpSpPr/>
          <p:nvPr/>
        </p:nvGrpSpPr>
        <p:grpSpPr>
          <a:xfrm>
            <a:off x="10462868" y="1833678"/>
            <a:ext cx="851930" cy="425940"/>
            <a:chOff x="0" y="0"/>
            <a:chExt cx="251222" cy="125604"/>
          </a:xfrm>
        </p:grpSpPr>
        <p:sp>
          <p:nvSpPr>
            <p:cNvPr id="24" name="Freeform 24"/>
            <p:cNvSpPr/>
            <p:nvPr/>
          </p:nvSpPr>
          <p:spPr>
            <a:xfrm>
              <a:off x="0" y="0"/>
              <a:ext cx="251222" cy="125604"/>
            </a:xfrm>
            <a:custGeom>
              <a:avLst/>
              <a:gdLst/>
              <a:ahLst/>
              <a:cxnLst/>
              <a:rect l="l" t="t" r="r" b="b"/>
              <a:pathLst>
                <a:path w="251222" h="125604">
                  <a:moveTo>
                    <a:pt x="0" y="0"/>
                  </a:moveTo>
                  <a:lnTo>
                    <a:pt x="251222" y="0"/>
                  </a:lnTo>
                  <a:lnTo>
                    <a:pt x="251222" y="125604"/>
                  </a:lnTo>
                  <a:lnTo>
                    <a:pt x="0" y="125604"/>
                  </a:lnTo>
                  <a:close/>
                </a:path>
              </a:pathLst>
            </a:custGeom>
            <a:solidFill>
              <a:srgbClr val="1800AD"/>
            </a:solidFill>
          </p:spPr>
        </p:sp>
        <p:sp>
          <p:nvSpPr>
            <p:cNvPr id="25" name="TextBox 25"/>
            <p:cNvSpPr txBox="1"/>
            <p:nvPr/>
          </p:nvSpPr>
          <p:spPr>
            <a:xfrm>
              <a:off x="0" y="-28575"/>
              <a:ext cx="251222" cy="154179"/>
            </a:xfrm>
            <a:prstGeom prst="rect">
              <a:avLst/>
            </a:prstGeom>
          </p:spPr>
          <p:txBody>
            <a:bodyPr lIns="50800" tIns="50800" rIns="50800" bIns="50800" rtlCol="0" anchor="ctr"/>
            <a:lstStyle/>
            <a:p>
              <a:pPr algn="ctr">
                <a:lnSpc>
                  <a:spcPts val="1960"/>
                </a:lnSpc>
              </a:pPr>
              <a:endParaRPr/>
            </a:p>
          </p:txBody>
        </p:sp>
      </p:grpSp>
      <p:grpSp>
        <p:nvGrpSpPr>
          <p:cNvPr id="26" name="Group 26"/>
          <p:cNvGrpSpPr/>
          <p:nvPr/>
        </p:nvGrpSpPr>
        <p:grpSpPr>
          <a:xfrm>
            <a:off x="11386315" y="1833678"/>
            <a:ext cx="851930" cy="425940"/>
            <a:chOff x="0" y="0"/>
            <a:chExt cx="251222" cy="125604"/>
          </a:xfrm>
        </p:grpSpPr>
        <p:sp>
          <p:nvSpPr>
            <p:cNvPr id="27" name="Freeform 27"/>
            <p:cNvSpPr/>
            <p:nvPr/>
          </p:nvSpPr>
          <p:spPr>
            <a:xfrm>
              <a:off x="0" y="0"/>
              <a:ext cx="251222" cy="125604"/>
            </a:xfrm>
            <a:custGeom>
              <a:avLst/>
              <a:gdLst/>
              <a:ahLst/>
              <a:cxnLst/>
              <a:rect l="l" t="t" r="r" b="b"/>
              <a:pathLst>
                <a:path w="251222" h="125604">
                  <a:moveTo>
                    <a:pt x="0" y="0"/>
                  </a:moveTo>
                  <a:lnTo>
                    <a:pt x="251222" y="0"/>
                  </a:lnTo>
                  <a:lnTo>
                    <a:pt x="251222" y="125604"/>
                  </a:lnTo>
                  <a:lnTo>
                    <a:pt x="0" y="125604"/>
                  </a:lnTo>
                  <a:close/>
                </a:path>
              </a:pathLst>
            </a:custGeom>
            <a:solidFill>
              <a:srgbClr val="1800AD"/>
            </a:solidFill>
          </p:spPr>
        </p:sp>
        <p:sp>
          <p:nvSpPr>
            <p:cNvPr id="28" name="TextBox 28"/>
            <p:cNvSpPr txBox="1"/>
            <p:nvPr/>
          </p:nvSpPr>
          <p:spPr>
            <a:xfrm>
              <a:off x="0" y="-28575"/>
              <a:ext cx="251222" cy="154179"/>
            </a:xfrm>
            <a:prstGeom prst="rect">
              <a:avLst/>
            </a:prstGeom>
          </p:spPr>
          <p:txBody>
            <a:bodyPr lIns="50800" tIns="50800" rIns="50800" bIns="50800" rtlCol="0" anchor="ctr"/>
            <a:lstStyle/>
            <a:p>
              <a:pPr algn="ctr">
                <a:lnSpc>
                  <a:spcPts val="1960"/>
                </a:lnSpc>
              </a:pPr>
              <a:endParaRPr/>
            </a:p>
          </p:txBody>
        </p:sp>
      </p:grpSp>
      <p:grpSp>
        <p:nvGrpSpPr>
          <p:cNvPr id="29" name="Group 29"/>
          <p:cNvGrpSpPr/>
          <p:nvPr/>
        </p:nvGrpSpPr>
        <p:grpSpPr>
          <a:xfrm>
            <a:off x="12309762" y="1833678"/>
            <a:ext cx="851930" cy="425940"/>
            <a:chOff x="0" y="0"/>
            <a:chExt cx="251222" cy="125604"/>
          </a:xfrm>
        </p:grpSpPr>
        <p:sp>
          <p:nvSpPr>
            <p:cNvPr id="30" name="Freeform 30"/>
            <p:cNvSpPr/>
            <p:nvPr/>
          </p:nvSpPr>
          <p:spPr>
            <a:xfrm>
              <a:off x="0" y="0"/>
              <a:ext cx="251222" cy="125604"/>
            </a:xfrm>
            <a:custGeom>
              <a:avLst/>
              <a:gdLst/>
              <a:ahLst/>
              <a:cxnLst/>
              <a:rect l="l" t="t" r="r" b="b"/>
              <a:pathLst>
                <a:path w="251222" h="125604">
                  <a:moveTo>
                    <a:pt x="0" y="0"/>
                  </a:moveTo>
                  <a:lnTo>
                    <a:pt x="251222" y="0"/>
                  </a:lnTo>
                  <a:lnTo>
                    <a:pt x="251222" y="125604"/>
                  </a:lnTo>
                  <a:lnTo>
                    <a:pt x="0" y="125604"/>
                  </a:lnTo>
                  <a:close/>
                </a:path>
              </a:pathLst>
            </a:custGeom>
            <a:solidFill>
              <a:srgbClr val="1800AD"/>
            </a:solidFill>
          </p:spPr>
        </p:sp>
        <p:sp>
          <p:nvSpPr>
            <p:cNvPr id="31" name="TextBox 31"/>
            <p:cNvSpPr txBox="1"/>
            <p:nvPr/>
          </p:nvSpPr>
          <p:spPr>
            <a:xfrm>
              <a:off x="0" y="-28575"/>
              <a:ext cx="251222" cy="154179"/>
            </a:xfrm>
            <a:prstGeom prst="rect">
              <a:avLst/>
            </a:prstGeom>
          </p:spPr>
          <p:txBody>
            <a:bodyPr lIns="50800" tIns="50800" rIns="50800" bIns="50800" rtlCol="0" anchor="ctr"/>
            <a:lstStyle/>
            <a:p>
              <a:pPr algn="ctr">
                <a:lnSpc>
                  <a:spcPts val="1960"/>
                </a:lnSpc>
              </a:pPr>
              <a:endParaRPr/>
            </a:p>
          </p:txBody>
        </p:sp>
      </p:grpSp>
      <p:grpSp>
        <p:nvGrpSpPr>
          <p:cNvPr id="32" name="Group 32"/>
          <p:cNvGrpSpPr/>
          <p:nvPr/>
        </p:nvGrpSpPr>
        <p:grpSpPr>
          <a:xfrm>
            <a:off x="13233210" y="1833678"/>
            <a:ext cx="851930" cy="425940"/>
            <a:chOff x="0" y="0"/>
            <a:chExt cx="251222" cy="125604"/>
          </a:xfrm>
        </p:grpSpPr>
        <p:sp>
          <p:nvSpPr>
            <p:cNvPr id="33" name="Freeform 33"/>
            <p:cNvSpPr/>
            <p:nvPr/>
          </p:nvSpPr>
          <p:spPr>
            <a:xfrm>
              <a:off x="0" y="0"/>
              <a:ext cx="251222" cy="125604"/>
            </a:xfrm>
            <a:custGeom>
              <a:avLst/>
              <a:gdLst/>
              <a:ahLst/>
              <a:cxnLst/>
              <a:rect l="l" t="t" r="r" b="b"/>
              <a:pathLst>
                <a:path w="251222" h="125604">
                  <a:moveTo>
                    <a:pt x="0" y="0"/>
                  </a:moveTo>
                  <a:lnTo>
                    <a:pt x="251222" y="0"/>
                  </a:lnTo>
                  <a:lnTo>
                    <a:pt x="251222" y="125604"/>
                  </a:lnTo>
                  <a:lnTo>
                    <a:pt x="0" y="125604"/>
                  </a:lnTo>
                  <a:close/>
                </a:path>
              </a:pathLst>
            </a:custGeom>
            <a:solidFill>
              <a:srgbClr val="1800AD"/>
            </a:solidFill>
          </p:spPr>
        </p:sp>
        <p:sp>
          <p:nvSpPr>
            <p:cNvPr id="34" name="TextBox 34"/>
            <p:cNvSpPr txBox="1"/>
            <p:nvPr/>
          </p:nvSpPr>
          <p:spPr>
            <a:xfrm>
              <a:off x="0" y="-28575"/>
              <a:ext cx="251222" cy="154179"/>
            </a:xfrm>
            <a:prstGeom prst="rect">
              <a:avLst/>
            </a:prstGeom>
          </p:spPr>
          <p:txBody>
            <a:bodyPr lIns="50800" tIns="50800" rIns="50800" bIns="50800" rtlCol="0" anchor="ctr"/>
            <a:lstStyle/>
            <a:p>
              <a:pPr algn="ctr">
                <a:lnSpc>
                  <a:spcPts val="1960"/>
                </a:lnSpc>
              </a:pPr>
              <a:endParaRPr/>
            </a:p>
          </p:txBody>
        </p:sp>
      </p:grpSp>
      <p:grpSp>
        <p:nvGrpSpPr>
          <p:cNvPr id="35" name="Group 35"/>
          <p:cNvGrpSpPr/>
          <p:nvPr/>
        </p:nvGrpSpPr>
        <p:grpSpPr>
          <a:xfrm>
            <a:off x="14156657" y="1833678"/>
            <a:ext cx="851930" cy="425940"/>
            <a:chOff x="0" y="0"/>
            <a:chExt cx="251222" cy="125604"/>
          </a:xfrm>
        </p:grpSpPr>
        <p:sp>
          <p:nvSpPr>
            <p:cNvPr id="36" name="Freeform 36"/>
            <p:cNvSpPr/>
            <p:nvPr/>
          </p:nvSpPr>
          <p:spPr>
            <a:xfrm>
              <a:off x="0" y="0"/>
              <a:ext cx="251222" cy="125604"/>
            </a:xfrm>
            <a:custGeom>
              <a:avLst/>
              <a:gdLst/>
              <a:ahLst/>
              <a:cxnLst/>
              <a:rect l="l" t="t" r="r" b="b"/>
              <a:pathLst>
                <a:path w="251222" h="125604">
                  <a:moveTo>
                    <a:pt x="0" y="0"/>
                  </a:moveTo>
                  <a:lnTo>
                    <a:pt x="251222" y="0"/>
                  </a:lnTo>
                  <a:lnTo>
                    <a:pt x="251222" y="125604"/>
                  </a:lnTo>
                  <a:lnTo>
                    <a:pt x="0" y="125604"/>
                  </a:lnTo>
                  <a:close/>
                </a:path>
              </a:pathLst>
            </a:custGeom>
            <a:solidFill>
              <a:srgbClr val="1800AD"/>
            </a:solidFill>
          </p:spPr>
        </p:sp>
        <p:sp>
          <p:nvSpPr>
            <p:cNvPr id="37" name="TextBox 37"/>
            <p:cNvSpPr txBox="1"/>
            <p:nvPr/>
          </p:nvSpPr>
          <p:spPr>
            <a:xfrm>
              <a:off x="0" y="-28575"/>
              <a:ext cx="251222" cy="154179"/>
            </a:xfrm>
            <a:prstGeom prst="rect">
              <a:avLst/>
            </a:prstGeom>
          </p:spPr>
          <p:txBody>
            <a:bodyPr lIns="50800" tIns="50800" rIns="50800" bIns="50800" rtlCol="0" anchor="ctr"/>
            <a:lstStyle/>
            <a:p>
              <a:pPr algn="ctr">
                <a:lnSpc>
                  <a:spcPts val="1960"/>
                </a:lnSpc>
              </a:pPr>
              <a:endParaRPr/>
            </a:p>
          </p:txBody>
        </p:sp>
      </p:grpSp>
      <p:grpSp>
        <p:nvGrpSpPr>
          <p:cNvPr id="38" name="Group 38"/>
          <p:cNvGrpSpPr/>
          <p:nvPr/>
        </p:nvGrpSpPr>
        <p:grpSpPr>
          <a:xfrm>
            <a:off x="15080104" y="1833678"/>
            <a:ext cx="851930" cy="425940"/>
            <a:chOff x="0" y="0"/>
            <a:chExt cx="251222" cy="125604"/>
          </a:xfrm>
        </p:grpSpPr>
        <p:sp>
          <p:nvSpPr>
            <p:cNvPr id="39" name="Freeform 39"/>
            <p:cNvSpPr/>
            <p:nvPr/>
          </p:nvSpPr>
          <p:spPr>
            <a:xfrm>
              <a:off x="0" y="0"/>
              <a:ext cx="251222" cy="125604"/>
            </a:xfrm>
            <a:custGeom>
              <a:avLst/>
              <a:gdLst/>
              <a:ahLst/>
              <a:cxnLst/>
              <a:rect l="l" t="t" r="r" b="b"/>
              <a:pathLst>
                <a:path w="251222" h="125604">
                  <a:moveTo>
                    <a:pt x="0" y="0"/>
                  </a:moveTo>
                  <a:lnTo>
                    <a:pt x="251222" y="0"/>
                  </a:lnTo>
                  <a:lnTo>
                    <a:pt x="251222" y="125604"/>
                  </a:lnTo>
                  <a:lnTo>
                    <a:pt x="0" y="125604"/>
                  </a:lnTo>
                  <a:close/>
                </a:path>
              </a:pathLst>
            </a:custGeom>
            <a:solidFill>
              <a:srgbClr val="1800AD"/>
            </a:solidFill>
          </p:spPr>
        </p:sp>
        <p:sp>
          <p:nvSpPr>
            <p:cNvPr id="40" name="TextBox 40"/>
            <p:cNvSpPr txBox="1"/>
            <p:nvPr/>
          </p:nvSpPr>
          <p:spPr>
            <a:xfrm>
              <a:off x="0" y="-28575"/>
              <a:ext cx="251222" cy="154179"/>
            </a:xfrm>
            <a:prstGeom prst="rect">
              <a:avLst/>
            </a:prstGeom>
          </p:spPr>
          <p:txBody>
            <a:bodyPr lIns="50800" tIns="50800" rIns="50800" bIns="50800" rtlCol="0" anchor="ctr"/>
            <a:lstStyle/>
            <a:p>
              <a:pPr algn="ctr">
                <a:lnSpc>
                  <a:spcPts val="1960"/>
                </a:lnSpc>
              </a:pPr>
              <a:endParaRPr/>
            </a:p>
          </p:txBody>
        </p:sp>
      </p:grpSp>
      <p:grpSp>
        <p:nvGrpSpPr>
          <p:cNvPr id="41" name="Group 41"/>
          <p:cNvGrpSpPr/>
          <p:nvPr/>
        </p:nvGrpSpPr>
        <p:grpSpPr>
          <a:xfrm>
            <a:off x="9539420" y="1354344"/>
            <a:ext cx="3622272" cy="425940"/>
            <a:chOff x="0" y="0"/>
            <a:chExt cx="1068155" cy="125604"/>
          </a:xfrm>
        </p:grpSpPr>
        <p:sp>
          <p:nvSpPr>
            <p:cNvPr id="42" name="Freeform 42"/>
            <p:cNvSpPr/>
            <p:nvPr/>
          </p:nvSpPr>
          <p:spPr>
            <a:xfrm>
              <a:off x="0" y="0"/>
              <a:ext cx="1068155" cy="125604"/>
            </a:xfrm>
            <a:custGeom>
              <a:avLst/>
              <a:gdLst/>
              <a:ahLst/>
              <a:cxnLst/>
              <a:rect l="l" t="t" r="r" b="b"/>
              <a:pathLst>
                <a:path w="1068155" h="125604">
                  <a:moveTo>
                    <a:pt x="0" y="0"/>
                  </a:moveTo>
                  <a:lnTo>
                    <a:pt x="1068155" y="0"/>
                  </a:lnTo>
                  <a:lnTo>
                    <a:pt x="1068155" y="125604"/>
                  </a:lnTo>
                  <a:lnTo>
                    <a:pt x="0" y="125604"/>
                  </a:lnTo>
                  <a:close/>
                </a:path>
              </a:pathLst>
            </a:custGeom>
            <a:solidFill>
              <a:srgbClr val="1800AD"/>
            </a:solidFill>
          </p:spPr>
        </p:sp>
        <p:sp>
          <p:nvSpPr>
            <p:cNvPr id="43" name="TextBox 43"/>
            <p:cNvSpPr txBox="1"/>
            <p:nvPr/>
          </p:nvSpPr>
          <p:spPr>
            <a:xfrm>
              <a:off x="0" y="-28575"/>
              <a:ext cx="1068155" cy="154179"/>
            </a:xfrm>
            <a:prstGeom prst="rect">
              <a:avLst/>
            </a:prstGeom>
          </p:spPr>
          <p:txBody>
            <a:bodyPr lIns="50800" tIns="50800" rIns="50800" bIns="50800" rtlCol="0" anchor="ctr"/>
            <a:lstStyle/>
            <a:p>
              <a:pPr algn="ctr">
                <a:lnSpc>
                  <a:spcPts val="1960"/>
                </a:lnSpc>
              </a:pPr>
              <a:endParaRPr/>
            </a:p>
          </p:txBody>
        </p:sp>
      </p:grpSp>
      <p:grpSp>
        <p:nvGrpSpPr>
          <p:cNvPr id="44" name="Group 44"/>
          <p:cNvGrpSpPr/>
          <p:nvPr/>
        </p:nvGrpSpPr>
        <p:grpSpPr>
          <a:xfrm>
            <a:off x="13233210" y="1354344"/>
            <a:ext cx="3622272" cy="425940"/>
            <a:chOff x="0" y="0"/>
            <a:chExt cx="1068155" cy="125604"/>
          </a:xfrm>
        </p:grpSpPr>
        <p:sp>
          <p:nvSpPr>
            <p:cNvPr id="45" name="Freeform 45"/>
            <p:cNvSpPr/>
            <p:nvPr/>
          </p:nvSpPr>
          <p:spPr>
            <a:xfrm>
              <a:off x="0" y="0"/>
              <a:ext cx="1068155" cy="125604"/>
            </a:xfrm>
            <a:custGeom>
              <a:avLst/>
              <a:gdLst/>
              <a:ahLst/>
              <a:cxnLst/>
              <a:rect l="l" t="t" r="r" b="b"/>
              <a:pathLst>
                <a:path w="1068155" h="125604">
                  <a:moveTo>
                    <a:pt x="0" y="0"/>
                  </a:moveTo>
                  <a:lnTo>
                    <a:pt x="1068155" y="0"/>
                  </a:lnTo>
                  <a:lnTo>
                    <a:pt x="1068155" y="125604"/>
                  </a:lnTo>
                  <a:lnTo>
                    <a:pt x="0" y="125604"/>
                  </a:lnTo>
                  <a:close/>
                </a:path>
              </a:pathLst>
            </a:custGeom>
            <a:solidFill>
              <a:srgbClr val="1800AD"/>
            </a:solidFill>
          </p:spPr>
        </p:sp>
        <p:sp>
          <p:nvSpPr>
            <p:cNvPr id="46" name="TextBox 46"/>
            <p:cNvSpPr txBox="1"/>
            <p:nvPr/>
          </p:nvSpPr>
          <p:spPr>
            <a:xfrm>
              <a:off x="0" y="-28575"/>
              <a:ext cx="1068155" cy="154179"/>
            </a:xfrm>
            <a:prstGeom prst="rect">
              <a:avLst/>
            </a:prstGeom>
          </p:spPr>
          <p:txBody>
            <a:bodyPr lIns="50800" tIns="50800" rIns="50800" bIns="50800" rtlCol="0" anchor="ctr"/>
            <a:lstStyle/>
            <a:p>
              <a:pPr algn="ctr">
                <a:lnSpc>
                  <a:spcPts val="1960"/>
                </a:lnSpc>
              </a:pPr>
              <a:endParaRPr/>
            </a:p>
          </p:txBody>
        </p:sp>
      </p:grpSp>
      <p:grpSp>
        <p:nvGrpSpPr>
          <p:cNvPr id="47" name="Group 47"/>
          <p:cNvGrpSpPr/>
          <p:nvPr/>
        </p:nvGrpSpPr>
        <p:grpSpPr>
          <a:xfrm>
            <a:off x="1293325" y="2306352"/>
            <a:ext cx="4480789" cy="421714"/>
            <a:chOff x="0" y="0"/>
            <a:chExt cx="1321320" cy="124357"/>
          </a:xfrm>
        </p:grpSpPr>
        <p:sp>
          <p:nvSpPr>
            <p:cNvPr id="48" name="Freeform 48"/>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49" name="TextBox 49"/>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grpSp>
        <p:nvGrpSpPr>
          <p:cNvPr id="50" name="Group 50"/>
          <p:cNvGrpSpPr/>
          <p:nvPr/>
        </p:nvGrpSpPr>
        <p:grpSpPr>
          <a:xfrm>
            <a:off x="1293325" y="2775918"/>
            <a:ext cx="4480789" cy="421714"/>
            <a:chOff x="0" y="0"/>
            <a:chExt cx="1321320" cy="124357"/>
          </a:xfrm>
        </p:grpSpPr>
        <p:sp>
          <p:nvSpPr>
            <p:cNvPr id="51" name="Freeform 51"/>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52" name="TextBox 52"/>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grpSp>
        <p:nvGrpSpPr>
          <p:cNvPr id="53" name="Group 53"/>
          <p:cNvGrpSpPr/>
          <p:nvPr/>
        </p:nvGrpSpPr>
        <p:grpSpPr>
          <a:xfrm>
            <a:off x="1293325" y="3245485"/>
            <a:ext cx="4480789" cy="421714"/>
            <a:chOff x="0" y="0"/>
            <a:chExt cx="1321320" cy="124357"/>
          </a:xfrm>
        </p:grpSpPr>
        <p:sp>
          <p:nvSpPr>
            <p:cNvPr id="54" name="Freeform 54"/>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55" name="TextBox 55"/>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grpSp>
        <p:nvGrpSpPr>
          <p:cNvPr id="56" name="Group 56"/>
          <p:cNvGrpSpPr/>
          <p:nvPr/>
        </p:nvGrpSpPr>
        <p:grpSpPr>
          <a:xfrm>
            <a:off x="1293325" y="3715051"/>
            <a:ext cx="4480789" cy="421714"/>
            <a:chOff x="0" y="0"/>
            <a:chExt cx="1321320" cy="124357"/>
          </a:xfrm>
        </p:grpSpPr>
        <p:sp>
          <p:nvSpPr>
            <p:cNvPr id="57" name="Freeform 57"/>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58" name="TextBox 58"/>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grpSp>
        <p:nvGrpSpPr>
          <p:cNvPr id="59" name="Group 59"/>
          <p:cNvGrpSpPr/>
          <p:nvPr/>
        </p:nvGrpSpPr>
        <p:grpSpPr>
          <a:xfrm>
            <a:off x="1293325" y="4184618"/>
            <a:ext cx="4480789" cy="421714"/>
            <a:chOff x="0" y="0"/>
            <a:chExt cx="1321320" cy="124357"/>
          </a:xfrm>
        </p:grpSpPr>
        <p:sp>
          <p:nvSpPr>
            <p:cNvPr id="60" name="Freeform 60"/>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61" name="TextBox 61"/>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grpSp>
        <p:nvGrpSpPr>
          <p:cNvPr id="62" name="Group 62"/>
          <p:cNvGrpSpPr/>
          <p:nvPr/>
        </p:nvGrpSpPr>
        <p:grpSpPr>
          <a:xfrm>
            <a:off x="1293325" y="4654184"/>
            <a:ext cx="4480789" cy="421714"/>
            <a:chOff x="0" y="0"/>
            <a:chExt cx="1321320" cy="124357"/>
          </a:xfrm>
        </p:grpSpPr>
        <p:sp>
          <p:nvSpPr>
            <p:cNvPr id="63" name="Freeform 63"/>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64" name="TextBox 64"/>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grpSp>
        <p:nvGrpSpPr>
          <p:cNvPr id="65" name="Group 65"/>
          <p:cNvGrpSpPr/>
          <p:nvPr/>
        </p:nvGrpSpPr>
        <p:grpSpPr>
          <a:xfrm>
            <a:off x="1293325" y="5123751"/>
            <a:ext cx="4480789" cy="421714"/>
            <a:chOff x="0" y="0"/>
            <a:chExt cx="1321320" cy="124357"/>
          </a:xfrm>
        </p:grpSpPr>
        <p:sp>
          <p:nvSpPr>
            <p:cNvPr id="66" name="Freeform 66"/>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67" name="TextBox 67"/>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grpSp>
        <p:nvGrpSpPr>
          <p:cNvPr id="68" name="Group 68"/>
          <p:cNvGrpSpPr/>
          <p:nvPr/>
        </p:nvGrpSpPr>
        <p:grpSpPr>
          <a:xfrm>
            <a:off x="1293325" y="5593318"/>
            <a:ext cx="4480789" cy="421714"/>
            <a:chOff x="0" y="0"/>
            <a:chExt cx="1321320" cy="124357"/>
          </a:xfrm>
        </p:grpSpPr>
        <p:sp>
          <p:nvSpPr>
            <p:cNvPr id="69" name="Freeform 69"/>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70" name="TextBox 70"/>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grpSp>
        <p:nvGrpSpPr>
          <p:cNvPr id="71" name="Group 71"/>
          <p:cNvGrpSpPr/>
          <p:nvPr/>
        </p:nvGrpSpPr>
        <p:grpSpPr>
          <a:xfrm>
            <a:off x="1293325" y="6062884"/>
            <a:ext cx="4480789" cy="421714"/>
            <a:chOff x="0" y="0"/>
            <a:chExt cx="1321320" cy="124357"/>
          </a:xfrm>
        </p:grpSpPr>
        <p:sp>
          <p:nvSpPr>
            <p:cNvPr id="72" name="Freeform 72"/>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73" name="TextBox 73"/>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grpSp>
        <p:nvGrpSpPr>
          <p:cNvPr id="74" name="Group 74"/>
          <p:cNvGrpSpPr/>
          <p:nvPr/>
        </p:nvGrpSpPr>
        <p:grpSpPr>
          <a:xfrm>
            <a:off x="1293325" y="6532451"/>
            <a:ext cx="4480789" cy="421714"/>
            <a:chOff x="0" y="0"/>
            <a:chExt cx="1321320" cy="124357"/>
          </a:xfrm>
        </p:grpSpPr>
        <p:sp>
          <p:nvSpPr>
            <p:cNvPr id="75" name="Freeform 75"/>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76" name="TextBox 76"/>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grpSp>
        <p:nvGrpSpPr>
          <p:cNvPr id="77" name="Group 77"/>
          <p:cNvGrpSpPr/>
          <p:nvPr/>
        </p:nvGrpSpPr>
        <p:grpSpPr>
          <a:xfrm>
            <a:off x="5845631" y="2334000"/>
            <a:ext cx="851930" cy="7044485"/>
            <a:chOff x="0" y="0"/>
            <a:chExt cx="251222" cy="2077316"/>
          </a:xfrm>
        </p:grpSpPr>
        <p:sp>
          <p:nvSpPr>
            <p:cNvPr id="78" name="Freeform 78"/>
            <p:cNvSpPr/>
            <p:nvPr/>
          </p:nvSpPr>
          <p:spPr>
            <a:xfrm>
              <a:off x="0" y="0"/>
              <a:ext cx="251222" cy="2077316"/>
            </a:xfrm>
            <a:custGeom>
              <a:avLst/>
              <a:gdLst/>
              <a:ahLst/>
              <a:cxnLst/>
              <a:rect l="l" t="t" r="r" b="b"/>
              <a:pathLst>
                <a:path w="251222" h="2077316">
                  <a:moveTo>
                    <a:pt x="0" y="0"/>
                  </a:moveTo>
                  <a:lnTo>
                    <a:pt x="251222" y="0"/>
                  </a:lnTo>
                  <a:lnTo>
                    <a:pt x="251222" y="2077316"/>
                  </a:lnTo>
                  <a:lnTo>
                    <a:pt x="0" y="2077316"/>
                  </a:lnTo>
                  <a:close/>
                </a:path>
              </a:pathLst>
            </a:custGeom>
            <a:solidFill>
              <a:srgbClr val="5170FF"/>
            </a:solidFill>
          </p:spPr>
        </p:sp>
        <p:sp>
          <p:nvSpPr>
            <p:cNvPr id="79" name="TextBox 79"/>
            <p:cNvSpPr txBox="1"/>
            <p:nvPr/>
          </p:nvSpPr>
          <p:spPr>
            <a:xfrm>
              <a:off x="0" y="-28575"/>
              <a:ext cx="251222" cy="2105891"/>
            </a:xfrm>
            <a:prstGeom prst="rect">
              <a:avLst/>
            </a:prstGeom>
          </p:spPr>
          <p:txBody>
            <a:bodyPr lIns="50800" tIns="50800" rIns="50800" bIns="50800" rtlCol="0" anchor="ctr"/>
            <a:lstStyle/>
            <a:p>
              <a:pPr algn="ctr">
                <a:lnSpc>
                  <a:spcPts val="1960"/>
                </a:lnSpc>
              </a:pPr>
              <a:endParaRPr/>
            </a:p>
          </p:txBody>
        </p:sp>
      </p:grpSp>
      <p:grpSp>
        <p:nvGrpSpPr>
          <p:cNvPr id="80" name="Group 80"/>
          <p:cNvGrpSpPr/>
          <p:nvPr/>
        </p:nvGrpSpPr>
        <p:grpSpPr>
          <a:xfrm>
            <a:off x="6769079" y="2306352"/>
            <a:ext cx="851930" cy="7044485"/>
            <a:chOff x="0" y="0"/>
            <a:chExt cx="251222" cy="2077316"/>
          </a:xfrm>
        </p:grpSpPr>
        <p:sp>
          <p:nvSpPr>
            <p:cNvPr id="81" name="Freeform 81"/>
            <p:cNvSpPr/>
            <p:nvPr/>
          </p:nvSpPr>
          <p:spPr>
            <a:xfrm>
              <a:off x="0" y="0"/>
              <a:ext cx="251222" cy="2077316"/>
            </a:xfrm>
            <a:custGeom>
              <a:avLst/>
              <a:gdLst/>
              <a:ahLst/>
              <a:cxnLst/>
              <a:rect l="l" t="t" r="r" b="b"/>
              <a:pathLst>
                <a:path w="251222" h="2077316">
                  <a:moveTo>
                    <a:pt x="0" y="0"/>
                  </a:moveTo>
                  <a:lnTo>
                    <a:pt x="251222" y="0"/>
                  </a:lnTo>
                  <a:lnTo>
                    <a:pt x="251222" y="2077316"/>
                  </a:lnTo>
                  <a:lnTo>
                    <a:pt x="0" y="2077316"/>
                  </a:lnTo>
                  <a:close/>
                </a:path>
              </a:pathLst>
            </a:custGeom>
            <a:solidFill>
              <a:srgbClr val="38B6FF"/>
            </a:solidFill>
          </p:spPr>
        </p:sp>
        <p:sp>
          <p:nvSpPr>
            <p:cNvPr id="82" name="TextBox 82"/>
            <p:cNvSpPr txBox="1"/>
            <p:nvPr/>
          </p:nvSpPr>
          <p:spPr>
            <a:xfrm>
              <a:off x="0" y="-28575"/>
              <a:ext cx="251222" cy="2105891"/>
            </a:xfrm>
            <a:prstGeom prst="rect">
              <a:avLst/>
            </a:prstGeom>
          </p:spPr>
          <p:txBody>
            <a:bodyPr lIns="50800" tIns="50800" rIns="50800" bIns="50800" rtlCol="0" anchor="ctr"/>
            <a:lstStyle/>
            <a:p>
              <a:pPr algn="ctr">
                <a:lnSpc>
                  <a:spcPts val="1960"/>
                </a:lnSpc>
              </a:pPr>
              <a:endParaRPr/>
            </a:p>
          </p:txBody>
        </p:sp>
      </p:grpSp>
      <p:grpSp>
        <p:nvGrpSpPr>
          <p:cNvPr id="83" name="Group 83"/>
          <p:cNvGrpSpPr/>
          <p:nvPr/>
        </p:nvGrpSpPr>
        <p:grpSpPr>
          <a:xfrm>
            <a:off x="7692526" y="2306352"/>
            <a:ext cx="851930" cy="7044485"/>
            <a:chOff x="0" y="0"/>
            <a:chExt cx="251222" cy="2077316"/>
          </a:xfrm>
        </p:grpSpPr>
        <p:sp>
          <p:nvSpPr>
            <p:cNvPr id="84" name="Freeform 84"/>
            <p:cNvSpPr/>
            <p:nvPr/>
          </p:nvSpPr>
          <p:spPr>
            <a:xfrm>
              <a:off x="0" y="0"/>
              <a:ext cx="251222" cy="2077316"/>
            </a:xfrm>
            <a:custGeom>
              <a:avLst/>
              <a:gdLst/>
              <a:ahLst/>
              <a:cxnLst/>
              <a:rect l="l" t="t" r="r" b="b"/>
              <a:pathLst>
                <a:path w="251222" h="2077316">
                  <a:moveTo>
                    <a:pt x="0" y="0"/>
                  </a:moveTo>
                  <a:lnTo>
                    <a:pt x="251222" y="0"/>
                  </a:lnTo>
                  <a:lnTo>
                    <a:pt x="251222" y="2077316"/>
                  </a:lnTo>
                  <a:lnTo>
                    <a:pt x="0" y="2077316"/>
                  </a:lnTo>
                  <a:close/>
                </a:path>
              </a:pathLst>
            </a:custGeom>
            <a:solidFill>
              <a:srgbClr val="5170FF"/>
            </a:solidFill>
          </p:spPr>
        </p:sp>
        <p:sp>
          <p:nvSpPr>
            <p:cNvPr id="85" name="TextBox 85"/>
            <p:cNvSpPr txBox="1"/>
            <p:nvPr/>
          </p:nvSpPr>
          <p:spPr>
            <a:xfrm>
              <a:off x="0" y="-28575"/>
              <a:ext cx="251222" cy="2105891"/>
            </a:xfrm>
            <a:prstGeom prst="rect">
              <a:avLst/>
            </a:prstGeom>
          </p:spPr>
          <p:txBody>
            <a:bodyPr lIns="50800" tIns="50800" rIns="50800" bIns="50800" rtlCol="0" anchor="ctr"/>
            <a:lstStyle/>
            <a:p>
              <a:pPr algn="ctr">
                <a:lnSpc>
                  <a:spcPts val="1960"/>
                </a:lnSpc>
              </a:pPr>
              <a:endParaRPr/>
            </a:p>
          </p:txBody>
        </p:sp>
      </p:grpSp>
      <p:grpSp>
        <p:nvGrpSpPr>
          <p:cNvPr id="86" name="Group 86"/>
          <p:cNvGrpSpPr/>
          <p:nvPr/>
        </p:nvGrpSpPr>
        <p:grpSpPr>
          <a:xfrm>
            <a:off x="8615973" y="2306352"/>
            <a:ext cx="851930" cy="7044485"/>
            <a:chOff x="0" y="0"/>
            <a:chExt cx="251222" cy="2077316"/>
          </a:xfrm>
        </p:grpSpPr>
        <p:sp>
          <p:nvSpPr>
            <p:cNvPr id="87" name="Freeform 87"/>
            <p:cNvSpPr/>
            <p:nvPr/>
          </p:nvSpPr>
          <p:spPr>
            <a:xfrm>
              <a:off x="0" y="0"/>
              <a:ext cx="251222" cy="2077316"/>
            </a:xfrm>
            <a:custGeom>
              <a:avLst/>
              <a:gdLst/>
              <a:ahLst/>
              <a:cxnLst/>
              <a:rect l="l" t="t" r="r" b="b"/>
              <a:pathLst>
                <a:path w="251222" h="2077316">
                  <a:moveTo>
                    <a:pt x="0" y="0"/>
                  </a:moveTo>
                  <a:lnTo>
                    <a:pt x="251222" y="0"/>
                  </a:lnTo>
                  <a:lnTo>
                    <a:pt x="251222" y="2077316"/>
                  </a:lnTo>
                  <a:lnTo>
                    <a:pt x="0" y="2077316"/>
                  </a:lnTo>
                  <a:close/>
                </a:path>
              </a:pathLst>
            </a:custGeom>
            <a:solidFill>
              <a:srgbClr val="38B6FF"/>
            </a:solidFill>
          </p:spPr>
        </p:sp>
        <p:sp>
          <p:nvSpPr>
            <p:cNvPr id="88" name="TextBox 88"/>
            <p:cNvSpPr txBox="1"/>
            <p:nvPr/>
          </p:nvSpPr>
          <p:spPr>
            <a:xfrm>
              <a:off x="0" y="-28575"/>
              <a:ext cx="251222" cy="2105891"/>
            </a:xfrm>
            <a:prstGeom prst="rect">
              <a:avLst/>
            </a:prstGeom>
          </p:spPr>
          <p:txBody>
            <a:bodyPr lIns="50800" tIns="50800" rIns="50800" bIns="50800" rtlCol="0" anchor="ctr"/>
            <a:lstStyle/>
            <a:p>
              <a:pPr algn="ctr">
                <a:lnSpc>
                  <a:spcPts val="1960"/>
                </a:lnSpc>
              </a:pPr>
              <a:endParaRPr/>
            </a:p>
          </p:txBody>
        </p:sp>
      </p:grpSp>
      <p:grpSp>
        <p:nvGrpSpPr>
          <p:cNvPr id="89" name="Group 89"/>
          <p:cNvGrpSpPr/>
          <p:nvPr/>
        </p:nvGrpSpPr>
        <p:grpSpPr>
          <a:xfrm>
            <a:off x="9539420" y="2329292"/>
            <a:ext cx="851930" cy="7021545"/>
            <a:chOff x="0" y="0"/>
            <a:chExt cx="251222" cy="2070552"/>
          </a:xfrm>
        </p:grpSpPr>
        <p:sp>
          <p:nvSpPr>
            <p:cNvPr id="90" name="Freeform 90"/>
            <p:cNvSpPr/>
            <p:nvPr/>
          </p:nvSpPr>
          <p:spPr>
            <a:xfrm>
              <a:off x="0" y="0"/>
              <a:ext cx="251222" cy="2070552"/>
            </a:xfrm>
            <a:custGeom>
              <a:avLst/>
              <a:gdLst/>
              <a:ahLst/>
              <a:cxnLst/>
              <a:rect l="l" t="t" r="r" b="b"/>
              <a:pathLst>
                <a:path w="251222" h="2070552">
                  <a:moveTo>
                    <a:pt x="0" y="0"/>
                  </a:moveTo>
                  <a:lnTo>
                    <a:pt x="251222" y="0"/>
                  </a:lnTo>
                  <a:lnTo>
                    <a:pt x="251222" y="2070552"/>
                  </a:lnTo>
                  <a:lnTo>
                    <a:pt x="0" y="2070552"/>
                  </a:lnTo>
                  <a:close/>
                </a:path>
              </a:pathLst>
            </a:custGeom>
            <a:solidFill>
              <a:srgbClr val="5170FF"/>
            </a:solidFill>
          </p:spPr>
        </p:sp>
        <p:sp>
          <p:nvSpPr>
            <p:cNvPr id="91" name="TextBox 91"/>
            <p:cNvSpPr txBox="1"/>
            <p:nvPr/>
          </p:nvSpPr>
          <p:spPr>
            <a:xfrm>
              <a:off x="0" y="-28575"/>
              <a:ext cx="251222" cy="2099127"/>
            </a:xfrm>
            <a:prstGeom prst="rect">
              <a:avLst/>
            </a:prstGeom>
          </p:spPr>
          <p:txBody>
            <a:bodyPr lIns="50800" tIns="50800" rIns="50800" bIns="50800" rtlCol="0" anchor="ctr"/>
            <a:lstStyle/>
            <a:p>
              <a:pPr algn="ctr">
                <a:lnSpc>
                  <a:spcPts val="1960"/>
                </a:lnSpc>
              </a:pPr>
              <a:endParaRPr/>
            </a:p>
          </p:txBody>
        </p:sp>
      </p:grpSp>
      <p:grpSp>
        <p:nvGrpSpPr>
          <p:cNvPr id="92" name="Group 92"/>
          <p:cNvGrpSpPr/>
          <p:nvPr/>
        </p:nvGrpSpPr>
        <p:grpSpPr>
          <a:xfrm>
            <a:off x="10462868" y="2306352"/>
            <a:ext cx="851930" cy="7044485"/>
            <a:chOff x="0" y="0"/>
            <a:chExt cx="251222" cy="2077316"/>
          </a:xfrm>
        </p:grpSpPr>
        <p:sp>
          <p:nvSpPr>
            <p:cNvPr id="93" name="Freeform 93"/>
            <p:cNvSpPr/>
            <p:nvPr/>
          </p:nvSpPr>
          <p:spPr>
            <a:xfrm>
              <a:off x="0" y="0"/>
              <a:ext cx="251222" cy="2077316"/>
            </a:xfrm>
            <a:custGeom>
              <a:avLst/>
              <a:gdLst/>
              <a:ahLst/>
              <a:cxnLst/>
              <a:rect l="l" t="t" r="r" b="b"/>
              <a:pathLst>
                <a:path w="251222" h="2077316">
                  <a:moveTo>
                    <a:pt x="0" y="0"/>
                  </a:moveTo>
                  <a:lnTo>
                    <a:pt x="251222" y="0"/>
                  </a:lnTo>
                  <a:lnTo>
                    <a:pt x="251222" y="2077316"/>
                  </a:lnTo>
                  <a:lnTo>
                    <a:pt x="0" y="2077316"/>
                  </a:lnTo>
                  <a:close/>
                </a:path>
              </a:pathLst>
            </a:custGeom>
            <a:solidFill>
              <a:srgbClr val="38B6FF"/>
            </a:solidFill>
          </p:spPr>
        </p:sp>
        <p:sp>
          <p:nvSpPr>
            <p:cNvPr id="94" name="TextBox 94"/>
            <p:cNvSpPr txBox="1"/>
            <p:nvPr/>
          </p:nvSpPr>
          <p:spPr>
            <a:xfrm>
              <a:off x="0" y="-28575"/>
              <a:ext cx="251222" cy="2105891"/>
            </a:xfrm>
            <a:prstGeom prst="rect">
              <a:avLst/>
            </a:prstGeom>
          </p:spPr>
          <p:txBody>
            <a:bodyPr lIns="50800" tIns="50800" rIns="50800" bIns="50800" rtlCol="0" anchor="ctr"/>
            <a:lstStyle/>
            <a:p>
              <a:pPr algn="ctr">
                <a:lnSpc>
                  <a:spcPts val="1960"/>
                </a:lnSpc>
              </a:pPr>
              <a:endParaRPr/>
            </a:p>
          </p:txBody>
        </p:sp>
      </p:grpSp>
      <p:grpSp>
        <p:nvGrpSpPr>
          <p:cNvPr id="95" name="Group 95"/>
          <p:cNvGrpSpPr/>
          <p:nvPr/>
        </p:nvGrpSpPr>
        <p:grpSpPr>
          <a:xfrm>
            <a:off x="11386315" y="2306352"/>
            <a:ext cx="851930" cy="7044485"/>
            <a:chOff x="0" y="0"/>
            <a:chExt cx="251222" cy="2077316"/>
          </a:xfrm>
        </p:grpSpPr>
        <p:sp>
          <p:nvSpPr>
            <p:cNvPr id="96" name="Freeform 96"/>
            <p:cNvSpPr/>
            <p:nvPr/>
          </p:nvSpPr>
          <p:spPr>
            <a:xfrm>
              <a:off x="0" y="0"/>
              <a:ext cx="251222" cy="2077316"/>
            </a:xfrm>
            <a:custGeom>
              <a:avLst/>
              <a:gdLst/>
              <a:ahLst/>
              <a:cxnLst/>
              <a:rect l="l" t="t" r="r" b="b"/>
              <a:pathLst>
                <a:path w="251222" h="2077316">
                  <a:moveTo>
                    <a:pt x="0" y="0"/>
                  </a:moveTo>
                  <a:lnTo>
                    <a:pt x="251222" y="0"/>
                  </a:lnTo>
                  <a:lnTo>
                    <a:pt x="251222" y="2077316"/>
                  </a:lnTo>
                  <a:lnTo>
                    <a:pt x="0" y="2077316"/>
                  </a:lnTo>
                  <a:close/>
                </a:path>
              </a:pathLst>
            </a:custGeom>
            <a:solidFill>
              <a:srgbClr val="5170FF"/>
            </a:solidFill>
          </p:spPr>
        </p:sp>
        <p:sp>
          <p:nvSpPr>
            <p:cNvPr id="97" name="TextBox 97"/>
            <p:cNvSpPr txBox="1"/>
            <p:nvPr/>
          </p:nvSpPr>
          <p:spPr>
            <a:xfrm>
              <a:off x="0" y="-28575"/>
              <a:ext cx="251222" cy="2105891"/>
            </a:xfrm>
            <a:prstGeom prst="rect">
              <a:avLst/>
            </a:prstGeom>
          </p:spPr>
          <p:txBody>
            <a:bodyPr lIns="50800" tIns="50800" rIns="50800" bIns="50800" rtlCol="0" anchor="ctr"/>
            <a:lstStyle/>
            <a:p>
              <a:pPr algn="ctr">
                <a:lnSpc>
                  <a:spcPts val="1960"/>
                </a:lnSpc>
              </a:pPr>
              <a:endParaRPr/>
            </a:p>
          </p:txBody>
        </p:sp>
      </p:grpSp>
      <p:grpSp>
        <p:nvGrpSpPr>
          <p:cNvPr id="98" name="Group 98"/>
          <p:cNvGrpSpPr/>
          <p:nvPr/>
        </p:nvGrpSpPr>
        <p:grpSpPr>
          <a:xfrm>
            <a:off x="12309762" y="2306352"/>
            <a:ext cx="851930" cy="7044485"/>
            <a:chOff x="0" y="0"/>
            <a:chExt cx="251222" cy="2077316"/>
          </a:xfrm>
        </p:grpSpPr>
        <p:sp>
          <p:nvSpPr>
            <p:cNvPr id="99" name="Freeform 99"/>
            <p:cNvSpPr/>
            <p:nvPr/>
          </p:nvSpPr>
          <p:spPr>
            <a:xfrm>
              <a:off x="0" y="0"/>
              <a:ext cx="251222" cy="2077316"/>
            </a:xfrm>
            <a:custGeom>
              <a:avLst/>
              <a:gdLst/>
              <a:ahLst/>
              <a:cxnLst/>
              <a:rect l="l" t="t" r="r" b="b"/>
              <a:pathLst>
                <a:path w="251222" h="2077316">
                  <a:moveTo>
                    <a:pt x="0" y="0"/>
                  </a:moveTo>
                  <a:lnTo>
                    <a:pt x="251222" y="0"/>
                  </a:lnTo>
                  <a:lnTo>
                    <a:pt x="251222" y="2077316"/>
                  </a:lnTo>
                  <a:lnTo>
                    <a:pt x="0" y="2077316"/>
                  </a:lnTo>
                  <a:close/>
                </a:path>
              </a:pathLst>
            </a:custGeom>
            <a:solidFill>
              <a:srgbClr val="38B6FF"/>
            </a:solidFill>
          </p:spPr>
        </p:sp>
        <p:sp>
          <p:nvSpPr>
            <p:cNvPr id="100" name="TextBox 100"/>
            <p:cNvSpPr txBox="1"/>
            <p:nvPr/>
          </p:nvSpPr>
          <p:spPr>
            <a:xfrm>
              <a:off x="0" y="-28575"/>
              <a:ext cx="251222" cy="2105891"/>
            </a:xfrm>
            <a:prstGeom prst="rect">
              <a:avLst/>
            </a:prstGeom>
          </p:spPr>
          <p:txBody>
            <a:bodyPr lIns="50800" tIns="50800" rIns="50800" bIns="50800" rtlCol="0" anchor="ctr"/>
            <a:lstStyle/>
            <a:p>
              <a:pPr algn="ctr">
                <a:lnSpc>
                  <a:spcPts val="1960"/>
                </a:lnSpc>
              </a:pPr>
              <a:endParaRPr/>
            </a:p>
          </p:txBody>
        </p:sp>
      </p:grpSp>
      <p:grpSp>
        <p:nvGrpSpPr>
          <p:cNvPr id="101" name="Group 101"/>
          <p:cNvGrpSpPr/>
          <p:nvPr/>
        </p:nvGrpSpPr>
        <p:grpSpPr>
          <a:xfrm>
            <a:off x="13233210" y="2306352"/>
            <a:ext cx="851930" cy="7044485"/>
            <a:chOff x="0" y="0"/>
            <a:chExt cx="251222" cy="2077316"/>
          </a:xfrm>
        </p:grpSpPr>
        <p:sp>
          <p:nvSpPr>
            <p:cNvPr id="102" name="Freeform 102"/>
            <p:cNvSpPr/>
            <p:nvPr/>
          </p:nvSpPr>
          <p:spPr>
            <a:xfrm>
              <a:off x="0" y="0"/>
              <a:ext cx="251222" cy="2077316"/>
            </a:xfrm>
            <a:custGeom>
              <a:avLst/>
              <a:gdLst/>
              <a:ahLst/>
              <a:cxnLst/>
              <a:rect l="l" t="t" r="r" b="b"/>
              <a:pathLst>
                <a:path w="251222" h="2077316">
                  <a:moveTo>
                    <a:pt x="0" y="0"/>
                  </a:moveTo>
                  <a:lnTo>
                    <a:pt x="251222" y="0"/>
                  </a:lnTo>
                  <a:lnTo>
                    <a:pt x="251222" y="2077316"/>
                  </a:lnTo>
                  <a:lnTo>
                    <a:pt x="0" y="2077316"/>
                  </a:lnTo>
                  <a:close/>
                </a:path>
              </a:pathLst>
            </a:custGeom>
            <a:solidFill>
              <a:srgbClr val="5170FF"/>
            </a:solidFill>
          </p:spPr>
        </p:sp>
        <p:sp>
          <p:nvSpPr>
            <p:cNvPr id="103" name="TextBox 103"/>
            <p:cNvSpPr txBox="1"/>
            <p:nvPr/>
          </p:nvSpPr>
          <p:spPr>
            <a:xfrm>
              <a:off x="0" y="-28575"/>
              <a:ext cx="251222" cy="2105891"/>
            </a:xfrm>
            <a:prstGeom prst="rect">
              <a:avLst/>
            </a:prstGeom>
          </p:spPr>
          <p:txBody>
            <a:bodyPr lIns="50800" tIns="50800" rIns="50800" bIns="50800" rtlCol="0" anchor="ctr"/>
            <a:lstStyle/>
            <a:p>
              <a:pPr algn="ctr">
                <a:lnSpc>
                  <a:spcPts val="1960"/>
                </a:lnSpc>
              </a:pPr>
              <a:endParaRPr/>
            </a:p>
          </p:txBody>
        </p:sp>
      </p:grpSp>
      <p:grpSp>
        <p:nvGrpSpPr>
          <p:cNvPr id="104" name="Group 104"/>
          <p:cNvGrpSpPr/>
          <p:nvPr/>
        </p:nvGrpSpPr>
        <p:grpSpPr>
          <a:xfrm>
            <a:off x="14156657" y="2306352"/>
            <a:ext cx="851930" cy="7044485"/>
            <a:chOff x="0" y="0"/>
            <a:chExt cx="251222" cy="2077316"/>
          </a:xfrm>
        </p:grpSpPr>
        <p:sp>
          <p:nvSpPr>
            <p:cNvPr id="105" name="Freeform 105"/>
            <p:cNvSpPr/>
            <p:nvPr/>
          </p:nvSpPr>
          <p:spPr>
            <a:xfrm>
              <a:off x="0" y="0"/>
              <a:ext cx="251222" cy="2077316"/>
            </a:xfrm>
            <a:custGeom>
              <a:avLst/>
              <a:gdLst/>
              <a:ahLst/>
              <a:cxnLst/>
              <a:rect l="l" t="t" r="r" b="b"/>
              <a:pathLst>
                <a:path w="251222" h="2077316">
                  <a:moveTo>
                    <a:pt x="0" y="0"/>
                  </a:moveTo>
                  <a:lnTo>
                    <a:pt x="251222" y="0"/>
                  </a:lnTo>
                  <a:lnTo>
                    <a:pt x="251222" y="2077316"/>
                  </a:lnTo>
                  <a:lnTo>
                    <a:pt x="0" y="2077316"/>
                  </a:lnTo>
                  <a:close/>
                </a:path>
              </a:pathLst>
            </a:custGeom>
            <a:solidFill>
              <a:srgbClr val="38B6FF"/>
            </a:solidFill>
          </p:spPr>
        </p:sp>
        <p:sp>
          <p:nvSpPr>
            <p:cNvPr id="106" name="TextBox 106"/>
            <p:cNvSpPr txBox="1"/>
            <p:nvPr/>
          </p:nvSpPr>
          <p:spPr>
            <a:xfrm>
              <a:off x="0" y="-28575"/>
              <a:ext cx="251222" cy="2105891"/>
            </a:xfrm>
            <a:prstGeom prst="rect">
              <a:avLst/>
            </a:prstGeom>
          </p:spPr>
          <p:txBody>
            <a:bodyPr lIns="50800" tIns="50800" rIns="50800" bIns="50800" rtlCol="0" anchor="ctr"/>
            <a:lstStyle/>
            <a:p>
              <a:pPr algn="ctr">
                <a:lnSpc>
                  <a:spcPts val="1960"/>
                </a:lnSpc>
              </a:pPr>
              <a:endParaRPr/>
            </a:p>
          </p:txBody>
        </p:sp>
      </p:grpSp>
      <p:grpSp>
        <p:nvGrpSpPr>
          <p:cNvPr id="107" name="Group 107"/>
          <p:cNvGrpSpPr/>
          <p:nvPr/>
        </p:nvGrpSpPr>
        <p:grpSpPr>
          <a:xfrm>
            <a:off x="15080104" y="2306352"/>
            <a:ext cx="851930" cy="7044485"/>
            <a:chOff x="0" y="0"/>
            <a:chExt cx="251222" cy="2077316"/>
          </a:xfrm>
        </p:grpSpPr>
        <p:sp>
          <p:nvSpPr>
            <p:cNvPr id="108" name="Freeform 108"/>
            <p:cNvSpPr/>
            <p:nvPr/>
          </p:nvSpPr>
          <p:spPr>
            <a:xfrm>
              <a:off x="0" y="0"/>
              <a:ext cx="251222" cy="2077316"/>
            </a:xfrm>
            <a:custGeom>
              <a:avLst/>
              <a:gdLst/>
              <a:ahLst/>
              <a:cxnLst/>
              <a:rect l="l" t="t" r="r" b="b"/>
              <a:pathLst>
                <a:path w="251222" h="2077316">
                  <a:moveTo>
                    <a:pt x="0" y="0"/>
                  </a:moveTo>
                  <a:lnTo>
                    <a:pt x="251222" y="0"/>
                  </a:lnTo>
                  <a:lnTo>
                    <a:pt x="251222" y="2077316"/>
                  </a:lnTo>
                  <a:lnTo>
                    <a:pt x="0" y="2077316"/>
                  </a:lnTo>
                  <a:close/>
                </a:path>
              </a:pathLst>
            </a:custGeom>
            <a:solidFill>
              <a:srgbClr val="5170FF"/>
            </a:solidFill>
          </p:spPr>
        </p:sp>
        <p:sp>
          <p:nvSpPr>
            <p:cNvPr id="109" name="TextBox 109"/>
            <p:cNvSpPr txBox="1"/>
            <p:nvPr/>
          </p:nvSpPr>
          <p:spPr>
            <a:xfrm>
              <a:off x="0" y="-28575"/>
              <a:ext cx="251222" cy="2105891"/>
            </a:xfrm>
            <a:prstGeom prst="rect">
              <a:avLst/>
            </a:prstGeom>
          </p:spPr>
          <p:txBody>
            <a:bodyPr lIns="50800" tIns="50800" rIns="50800" bIns="50800" rtlCol="0" anchor="ctr"/>
            <a:lstStyle/>
            <a:p>
              <a:pPr algn="ctr">
                <a:lnSpc>
                  <a:spcPts val="1960"/>
                </a:lnSpc>
              </a:pPr>
              <a:endParaRPr/>
            </a:p>
          </p:txBody>
        </p:sp>
      </p:grpSp>
      <p:grpSp>
        <p:nvGrpSpPr>
          <p:cNvPr id="110" name="Group 110"/>
          <p:cNvGrpSpPr/>
          <p:nvPr/>
        </p:nvGrpSpPr>
        <p:grpSpPr>
          <a:xfrm>
            <a:off x="16007709" y="2307467"/>
            <a:ext cx="851930" cy="7043370"/>
            <a:chOff x="0" y="0"/>
            <a:chExt cx="251222" cy="2076987"/>
          </a:xfrm>
        </p:grpSpPr>
        <p:sp>
          <p:nvSpPr>
            <p:cNvPr id="111" name="Freeform 111"/>
            <p:cNvSpPr/>
            <p:nvPr/>
          </p:nvSpPr>
          <p:spPr>
            <a:xfrm>
              <a:off x="0" y="0"/>
              <a:ext cx="251222" cy="2076988"/>
            </a:xfrm>
            <a:custGeom>
              <a:avLst/>
              <a:gdLst/>
              <a:ahLst/>
              <a:cxnLst/>
              <a:rect l="l" t="t" r="r" b="b"/>
              <a:pathLst>
                <a:path w="251222" h="2076988">
                  <a:moveTo>
                    <a:pt x="0" y="0"/>
                  </a:moveTo>
                  <a:lnTo>
                    <a:pt x="251222" y="0"/>
                  </a:lnTo>
                  <a:lnTo>
                    <a:pt x="251222" y="2076988"/>
                  </a:lnTo>
                  <a:lnTo>
                    <a:pt x="0" y="2076988"/>
                  </a:lnTo>
                  <a:close/>
                </a:path>
              </a:pathLst>
            </a:custGeom>
            <a:solidFill>
              <a:srgbClr val="38B6FF"/>
            </a:solidFill>
          </p:spPr>
        </p:sp>
        <p:sp>
          <p:nvSpPr>
            <p:cNvPr id="112" name="TextBox 112"/>
            <p:cNvSpPr txBox="1"/>
            <p:nvPr/>
          </p:nvSpPr>
          <p:spPr>
            <a:xfrm>
              <a:off x="0" y="-28575"/>
              <a:ext cx="251222" cy="2105562"/>
            </a:xfrm>
            <a:prstGeom prst="rect">
              <a:avLst/>
            </a:prstGeom>
          </p:spPr>
          <p:txBody>
            <a:bodyPr lIns="50800" tIns="50800" rIns="50800" bIns="50800" rtlCol="0" anchor="ctr"/>
            <a:lstStyle/>
            <a:p>
              <a:pPr algn="ctr">
                <a:lnSpc>
                  <a:spcPts val="1960"/>
                </a:lnSpc>
              </a:pPr>
              <a:endParaRPr/>
            </a:p>
          </p:txBody>
        </p:sp>
      </p:grpSp>
      <p:sp>
        <p:nvSpPr>
          <p:cNvPr id="113" name="AutoShape 113"/>
          <p:cNvSpPr/>
          <p:nvPr/>
        </p:nvSpPr>
        <p:spPr>
          <a:xfrm flipV="1">
            <a:off x="5845631" y="2517209"/>
            <a:ext cx="10999431" cy="0"/>
          </a:xfrm>
          <a:prstGeom prst="line">
            <a:avLst/>
          </a:prstGeom>
          <a:ln w="9525" cap="flat">
            <a:solidFill>
              <a:srgbClr val="000000"/>
            </a:solidFill>
            <a:prstDash val="solid"/>
            <a:headEnd type="none" w="sm" len="sm"/>
            <a:tailEnd type="none" w="sm" len="sm"/>
          </a:ln>
        </p:spPr>
      </p:sp>
      <p:grpSp>
        <p:nvGrpSpPr>
          <p:cNvPr id="114" name="Group 114"/>
          <p:cNvGrpSpPr/>
          <p:nvPr/>
        </p:nvGrpSpPr>
        <p:grpSpPr>
          <a:xfrm>
            <a:off x="5845631" y="2465335"/>
            <a:ext cx="851930" cy="103942"/>
            <a:chOff x="0" y="0"/>
            <a:chExt cx="251222" cy="30651"/>
          </a:xfrm>
        </p:grpSpPr>
        <p:sp>
          <p:nvSpPr>
            <p:cNvPr id="115" name="Freeform 115"/>
            <p:cNvSpPr/>
            <p:nvPr/>
          </p:nvSpPr>
          <p:spPr>
            <a:xfrm>
              <a:off x="0" y="0"/>
              <a:ext cx="251222" cy="30651"/>
            </a:xfrm>
            <a:custGeom>
              <a:avLst/>
              <a:gdLst/>
              <a:ahLst/>
              <a:cxnLst/>
              <a:rect l="l" t="t" r="r" b="b"/>
              <a:pathLst>
                <a:path w="251222" h="30651">
                  <a:moveTo>
                    <a:pt x="0" y="0"/>
                  </a:moveTo>
                  <a:lnTo>
                    <a:pt x="251222" y="0"/>
                  </a:lnTo>
                  <a:lnTo>
                    <a:pt x="251222" y="30651"/>
                  </a:lnTo>
                  <a:lnTo>
                    <a:pt x="0" y="30651"/>
                  </a:lnTo>
                  <a:close/>
                </a:path>
              </a:pathLst>
            </a:custGeom>
            <a:solidFill>
              <a:srgbClr val="1800AD"/>
            </a:solidFill>
          </p:spPr>
        </p:sp>
        <p:sp>
          <p:nvSpPr>
            <p:cNvPr id="116" name="TextBox 116"/>
            <p:cNvSpPr txBox="1"/>
            <p:nvPr/>
          </p:nvSpPr>
          <p:spPr>
            <a:xfrm>
              <a:off x="0" y="-28575"/>
              <a:ext cx="251222" cy="59226"/>
            </a:xfrm>
            <a:prstGeom prst="rect">
              <a:avLst/>
            </a:prstGeom>
          </p:spPr>
          <p:txBody>
            <a:bodyPr lIns="50800" tIns="50800" rIns="50800" bIns="50800" rtlCol="0" anchor="ctr"/>
            <a:lstStyle/>
            <a:p>
              <a:pPr algn="ctr">
                <a:lnSpc>
                  <a:spcPts val="1960"/>
                </a:lnSpc>
              </a:pPr>
              <a:endParaRPr/>
            </a:p>
          </p:txBody>
        </p:sp>
      </p:grpSp>
      <p:sp>
        <p:nvSpPr>
          <p:cNvPr id="117" name="AutoShape 117"/>
          <p:cNvSpPr/>
          <p:nvPr/>
        </p:nvSpPr>
        <p:spPr>
          <a:xfrm flipV="1">
            <a:off x="5845631" y="2986775"/>
            <a:ext cx="10999431" cy="0"/>
          </a:xfrm>
          <a:prstGeom prst="line">
            <a:avLst/>
          </a:prstGeom>
          <a:ln w="9525" cap="flat">
            <a:solidFill>
              <a:srgbClr val="000000"/>
            </a:solidFill>
            <a:prstDash val="solid"/>
            <a:headEnd type="none" w="sm" len="sm"/>
            <a:tailEnd type="none" w="sm" len="sm"/>
          </a:ln>
        </p:spPr>
      </p:sp>
      <p:sp>
        <p:nvSpPr>
          <p:cNvPr id="118" name="AutoShape 118"/>
          <p:cNvSpPr/>
          <p:nvPr/>
        </p:nvSpPr>
        <p:spPr>
          <a:xfrm flipV="1">
            <a:off x="5845631" y="3456342"/>
            <a:ext cx="10999431" cy="0"/>
          </a:xfrm>
          <a:prstGeom prst="line">
            <a:avLst/>
          </a:prstGeom>
          <a:ln w="9525" cap="flat">
            <a:solidFill>
              <a:srgbClr val="000000"/>
            </a:solidFill>
            <a:prstDash val="solid"/>
            <a:headEnd type="none" w="sm" len="sm"/>
            <a:tailEnd type="none" w="sm" len="sm"/>
          </a:ln>
        </p:spPr>
      </p:sp>
      <p:sp>
        <p:nvSpPr>
          <p:cNvPr id="119" name="AutoShape 119"/>
          <p:cNvSpPr/>
          <p:nvPr/>
        </p:nvSpPr>
        <p:spPr>
          <a:xfrm flipV="1">
            <a:off x="5845631" y="3925908"/>
            <a:ext cx="10999431" cy="0"/>
          </a:xfrm>
          <a:prstGeom prst="line">
            <a:avLst/>
          </a:prstGeom>
          <a:ln w="9525" cap="flat">
            <a:solidFill>
              <a:srgbClr val="000000"/>
            </a:solidFill>
            <a:prstDash val="solid"/>
            <a:headEnd type="none" w="sm" len="sm"/>
            <a:tailEnd type="none" w="sm" len="sm"/>
          </a:ln>
        </p:spPr>
      </p:sp>
      <p:sp>
        <p:nvSpPr>
          <p:cNvPr id="120" name="AutoShape 120"/>
          <p:cNvSpPr/>
          <p:nvPr/>
        </p:nvSpPr>
        <p:spPr>
          <a:xfrm flipV="1">
            <a:off x="5845631" y="4395475"/>
            <a:ext cx="10999431" cy="0"/>
          </a:xfrm>
          <a:prstGeom prst="line">
            <a:avLst/>
          </a:prstGeom>
          <a:ln w="9525" cap="flat">
            <a:solidFill>
              <a:srgbClr val="000000"/>
            </a:solidFill>
            <a:prstDash val="solid"/>
            <a:headEnd type="none" w="sm" len="sm"/>
            <a:tailEnd type="none" w="sm" len="sm"/>
          </a:ln>
        </p:spPr>
      </p:sp>
      <p:sp>
        <p:nvSpPr>
          <p:cNvPr id="121" name="AutoShape 121"/>
          <p:cNvSpPr/>
          <p:nvPr/>
        </p:nvSpPr>
        <p:spPr>
          <a:xfrm flipV="1">
            <a:off x="5845631" y="4865041"/>
            <a:ext cx="10999431" cy="0"/>
          </a:xfrm>
          <a:prstGeom prst="line">
            <a:avLst/>
          </a:prstGeom>
          <a:ln w="9525" cap="flat">
            <a:solidFill>
              <a:srgbClr val="000000"/>
            </a:solidFill>
            <a:prstDash val="solid"/>
            <a:headEnd type="none" w="sm" len="sm"/>
            <a:tailEnd type="none" w="sm" len="sm"/>
          </a:ln>
        </p:spPr>
      </p:sp>
      <p:sp>
        <p:nvSpPr>
          <p:cNvPr id="122" name="AutoShape 122"/>
          <p:cNvSpPr/>
          <p:nvPr/>
        </p:nvSpPr>
        <p:spPr>
          <a:xfrm>
            <a:off x="5845631" y="5334608"/>
            <a:ext cx="10999431" cy="0"/>
          </a:xfrm>
          <a:prstGeom prst="line">
            <a:avLst/>
          </a:prstGeom>
          <a:ln w="9525" cap="flat">
            <a:solidFill>
              <a:srgbClr val="000000"/>
            </a:solidFill>
            <a:prstDash val="solid"/>
            <a:headEnd type="none" w="sm" len="sm"/>
            <a:tailEnd type="none" w="sm" len="sm"/>
          </a:ln>
        </p:spPr>
      </p:sp>
      <p:sp>
        <p:nvSpPr>
          <p:cNvPr id="123" name="AutoShape 123"/>
          <p:cNvSpPr/>
          <p:nvPr/>
        </p:nvSpPr>
        <p:spPr>
          <a:xfrm>
            <a:off x="5845631" y="5804174"/>
            <a:ext cx="10999431" cy="0"/>
          </a:xfrm>
          <a:prstGeom prst="line">
            <a:avLst/>
          </a:prstGeom>
          <a:ln w="9525" cap="flat">
            <a:solidFill>
              <a:srgbClr val="000000"/>
            </a:solidFill>
            <a:prstDash val="solid"/>
            <a:headEnd type="none" w="sm" len="sm"/>
            <a:tailEnd type="none" w="sm" len="sm"/>
          </a:ln>
        </p:spPr>
      </p:sp>
      <p:sp>
        <p:nvSpPr>
          <p:cNvPr id="124" name="AutoShape 124"/>
          <p:cNvSpPr/>
          <p:nvPr/>
        </p:nvSpPr>
        <p:spPr>
          <a:xfrm>
            <a:off x="5841474" y="6267759"/>
            <a:ext cx="10999431" cy="0"/>
          </a:xfrm>
          <a:prstGeom prst="line">
            <a:avLst/>
          </a:prstGeom>
          <a:ln w="9525" cap="flat">
            <a:solidFill>
              <a:srgbClr val="000000"/>
            </a:solidFill>
            <a:prstDash val="solid"/>
            <a:headEnd type="none" w="sm" len="sm"/>
            <a:tailEnd type="none" w="sm" len="sm"/>
          </a:ln>
        </p:spPr>
      </p:sp>
      <p:sp>
        <p:nvSpPr>
          <p:cNvPr id="125" name="AutoShape 125"/>
          <p:cNvSpPr/>
          <p:nvPr/>
        </p:nvSpPr>
        <p:spPr>
          <a:xfrm>
            <a:off x="5841474" y="6658064"/>
            <a:ext cx="10999431" cy="0"/>
          </a:xfrm>
          <a:prstGeom prst="line">
            <a:avLst/>
          </a:prstGeom>
          <a:ln w="9525" cap="flat">
            <a:solidFill>
              <a:srgbClr val="000000"/>
            </a:solidFill>
            <a:prstDash val="solid"/>
            <a:headEnd type="none" w="sm" len="sm"/>
            <a:tailEnd type="none" w="sm" len="sm"/>
          </a:ln>
        </p:spPr>
      </p:sp>
      <p:grpSp>
        <p:nvGrpSpPr>
          <p:cNvPr id="126" name="Group 126"/>
          <p:cNvGrpSpPr/>
          <p:nvPr/>
        </p:nvGrpSpPr>
        <p:grpSpPr>
          <a:xfrm>
            <a:off x="16007709" y="1833674"/>
            <a:ext cx="851930" cy="425940"/>
            <a:chOff x="0" y="0"/>
            <a:chExt cx="251222" cy="125604"/>
          </a:xfrm>
        </p:grpSpPr>
        <p:sp>
          <p:nvSpPr>
            <p:cNvPr id="127" name="Freeform 127"/>
            <p:cNvSpPr/>
            <p:nvPr/>
          </p:nvSpPr>
          <p:spPr>
            <a:xfrm>
              <a:off x="0" y="0"/>
              <a:ext cx="251222" cy="125604"/>
            </a:xfrm>
            <a:custGeom>
              <a:avLst/>
              <a:gdLst/>
              <a:ahLst/>
              <a:cxnLst/>
              <a:rect l="l" t="t" r="r" b="b"/>
              <a:pathLst>
                <a:path w="251222" h="125604">
                  <a:moveTo>
                    <a:pt x="0" y="0"/>
                  </a:moveTo>
                  <a:lnTo>
                    <a:pt x="251222" y="0"/>
                  </a:lnTo>
                  <a:lnTo>
                    <a:pt x="251222" y="125604"/>
                  </a:lnTo>
                  <a:lnTo>
                    <a:pt x="0" y="125604"/>
                  </a:lnTo>
                  <a:close/>
                </a:path>
              </a:pathLst>
            </a:custGeom>
            <a:solidFill>
              <a:srgbClr val="1800AD"/>
            </a:solidFill>
          </p:spPr>
        </p:sp>
        <p:sp>
          <p:nvSpPr>
            <p:cNvPr id="128" name="TextBox 128"/>
            <p:cNvSpPr txBox="1"/>
            <p:nvPr/>
          </p:nvSpPr>
          <p:spPr>
            <a:xfrm>
              <a:off x="0" y="-28575"/>
              <a:ext cx="251222" cy="154179"/>
            </a:xfrm>
            <a:prstGeom prst="rect">
              <a:avLst/>
            </a:prstGeom>
          </p:spPr>
          <p:txBody>
            <a:bodyPr lIns="50800" tIns="50800" rIns="50800" bIns="50800" rtlCol="0" anchor="ctr"/>
            <a:lstStyle/>
            <a:p>
              <a:pPr algn="ctr">
                <a:lnSpc>
                  <a:spcPts val="1960"/>
                </a:lnSpc>
              </a:pPr>
              <a:endParaRPr/>
            </a:p>
          </p:txBody>
        </p:sp>
      </p:grpSp>
      <p:grpSp>
        <p:nvGrpSpPr>
          <p:cNvPr id="129" name="Group 129"/>
          <p:cNvGrpSpPr/>
          <p:nvPr/>
        </p:nvGrpSpPr>
        <p:grpSpPr>
          <a:xfrm>
            <a:off x="5845631" y="2931440"/>
            <a:ext cx="851930" cy="115682"/>
            <a:chOff x="0" y="0"/>
            <a:chExt cx="251222" cy="34113"/>
          </a:xfrm>
        </p:grpSpPr>
        <p:sp>
          <p:nvSpPr>
            <p:cNvPr id="130" name="Freeform 130"/>
            <p:cNvSpPr/>
            <p:nvPr/>
          </p:nvSpPr>
          <p:spPr>
            <a:xfrm>
              <a:off x="0" y="0"/>
              <a:ext cx="251222" cy="34113"/>
            </a:xfrm>
            <a:custGeom>
              <a:avLst/>
              <a:gdLst/>
              <a:ahLst/>
              <a:cxnLst/>
              <a:rect l="l" t="t" r="r" b="b"/>
              <a:pathLst>
                <a:path w="251222" h="34113">
                  <a:moveTo>
                    <a:pt x="0" y="0"/>
                  </a:moveTo>
                  <a:lnTo>
                    <a:pt x="251222" y="0"/>
                  </a:lnTo>
                  <a:lnTo>
                    <a:pt x="251222" y="34113"/>
                  </a:lnTo>
                  <a:lnTo>
                    <a:pt x="0" y="34113"/>
                  </a:lnTo>
                  <a:close/>
                </a:path>
              </a:pathLst>
            </a:custGeom>
            <a:solidFill>
              <a:srgbClr val="1800AD"/>
            </a:solidFill>
          </p:spPr>
        </p:sp>
        <p:sp>
          <p:nvSpPr>
            <p:cNvPr id="131" name="TextBox 131"/>
            <p:cNvSpPr txBox="1"/>
            <p:nvPr/>
          </p:nvSpPr>
          <p:spPr>
            <a:xfrm>
              <a:off x="0" y="-28575"/>
              <a:ext cx="251222" cy="62688"/>
            </a:xfrm>
            <a:prstGeom prst="rect">
              <a:avLst/>
            </a:prstGeom>
          </p:spPr>
          <p:txBody>
            <a:bodyPr lIns="50800" tIns="50800" rIns="50800" bIns="50800" rtlCol="0" anchor="ctr"/>
            <a:lstStyle/>
            <a:p>
              <a:pPr algn="ctr">
                <a:lnSpc>
                  <a:spcPts val="1960"/>
                </a:lnSpc>
              </a:pPr>
              <a:endParaRPr/>
            </a:p>
          </p:txBody>
        </p:sp>
      </p:grpSp>
      <p:grpSp>
        <p:nvGrpSpPr>
          <p:cNvPr id="132" name="Group 132"/>
          <p:cNvGrpSpPr/>
          <p:nvPr/>
        </p:nvGrpSpPr>
        <p:grpSpPr>
          <a:xfrm>
            <a:off x="8615973" y="5711449"/>
            <a:ext cx="1775377" cy="144794"/>
            <a:chOff x="0" y="0"/>
            <a:chExt cx="523533" cy="42698"/>
          </a:xfrm>
        </p:grpSpPr>
        <p:sp>
          <p:nvSpPr>
            <p:cNvPr id="133" name="Freeform 133"/>
            <p:cNvSpPr/>
            <p:nvPr/>
          </p:nvSpPr>
          <p:spPr>
            <a:xfrm>
              <a:off x="0" y="0"/>
              <a:ext cx="523533" cy="42698"/>
            </a:xfrm>
            <a:custGeom>
              <a:avLst/>
              <a:gdLst/>
              <a:ahLst/>
              <a:cxnLst/>
              <a:rect l="l" t="t" r="r" b="b"/>
              <a:pathLst>
                <a:path w="523533" h="42698">
                  <a:moveTo>
                    <a:pt x="0" y="0"/>
                  </a:moveTo>
                  <a:lnTo>
                    <a:pt x="523533" y="0"/>
                  </a:lnTo>
                  <a:lnTo>
                    <a:pt x="523533" y="42698"/>
                  </a:lnTo>
                  <a:lnTo>
                    <a:pt x="0" y="42698"/>
                  </a:lnTo>
                  <a:close/>
                </a:path>
              </a:pathLst>
            </a:custGeom>
            <a:solidFill>
              <a:srgbClr val="1800AD"/>
            </a:solidFill>
          </p:spPr>
        </p:sp>
        <p:sp>
          <p:nvSpPr>
            <p:cNvPr id="134" name="TextBox 134"/>
            <p:cNvSpPr txBox="1"/>
            <p:nvPr/>
          </p:nvSpPr>
          <p:spPr>
            <a:xfrm>
              <a:off x="0" y="-28575"/>
              <a:ext cx="523533" cy="71273"/>
            </a:xfrm>
            <a:prstGeom prst="rect">
              <a:avLst/>
            </a:prstGeom>
          </p:spPr>
          <p:txBody>
            <a:bodyPr lIns="50800" tIns="50800" rIns="50800" bIns="50800" rtlCol="0" anchor="ctr"/>
            <a:lstStyle/>
            <a:p>
              <a:pPr algn="ctr">
                <a:lnSpc>
                  <a:spcPts val="1960"/>
                </a:lnSpc>
              </a:pPr>
              <a:endParaRPr/>
            </a:p>
          </p:txBody>
        </p:sp>
      </p:grpSp>
      <p:grpSp>
        <p:nvGrpSpPr>
          <p:cNvPr id="135" name="Group 135"/>
          <p:cNvGrpSpPr/>
          <p:nvPr/>
        </p:nvGrpSpPr>
        <p:grpSpPr>
          <a:xfrm>
            <a:off x="7692526" y="4812973"/>
            <a:ext cx="851930" cy="103643"/>
            <a:chOff x="0" y="0"/>
            <a:chExt cx="251222" cy="30563"/>
          </a:xfrm>
        </p:grpSpPr>
        <p:sp>
          <p:nvSpPr>
            <p:cNvPr id="136" name="Freeform 136"/>
            <p:cNvSpPr/>
            <p:nvPr/>
          </p:nvSpPr>
          <p:spPr>
            <a:xfrm>
              <a:off x="0" y="0"/>
              <a:ext cx="251222" cy="30563"/>
            </a:xfrm>
            <a:custGeom>
              <a:avLst/>
              <a:gdLst/>
              <a:ahLst/>
              <a:cxnLst/>
              <a:rect l="l" t="t" r="r" b="b"/>
              <a:pathLst>
                <a:path w="251222" h="30563">
                  <a:moveTo>
                    <a:pt x="0" y="0"/>
                  </a:moveTo>
                  <a:lnTo>
                    <a:pt x="251222" y="0"/>
                  </a:lnTo>
                  <a:lnTo>
                    <a:pt x="251222" y="30563"/>
                  </a:lnTo>
                  <a:lnTo>
                    <a:pt x="0" y="30563"/>
                  </a:lnTo>
                  <a:close/>
                </a:path>
              </a:pathLst>
            </a:custGeom>
            <a:solidFill>
              <a:srgbClr val="1800AD"/>
            </a:solidFill>
          </p:spPr>
        </p:sp>
        <p:sp>
          <p:nvSpPr>
            <p:cNvPr id="137" name="TextBox 137"/>
            <p:cNvSpPr txBox="1"/>
            <p:nvPr/>
          </p:nvSpPr>
          <p:spPr>
            <a:xfrm>
              <a:off x="0" y="-28575"/>
              <a:ext cx="251222" cy="59138"/>
            </a:xfrm>
            <a:prstGeom prst="rect">
              <a:avLst/>
            </a:prstGeom>
          </p:spPr>
          <p:txBody>
            <a:bodyPr lIns="50800" tIns="50800" rIns="50800" bIns="50800" rtlCol="0" anchor="ctr"/>
            <a:lstStyle/>
            <a:p>
              <a:pPr algn="ctr">
                <a:lnSpc>
                  <a:spcPts val="1960"/>
                </a:lnSpc>
              </a:pPr>
              <a:endParaRPr/>
            </a:p>
          </p:txBody>
        </p:sp>
      </p:grpSp>
      <p:grpSp>
        <p:nvGrpSpPr>
          <p:cNvPr id="138" name="Group 138"/>
          <p:cNvGrpSpPr/>
          <p:nvPr/>
        </p:nvGrpSpPr>
        <p:grpSpPr>
          <a:xfrm>
            <a:off x="5845631" y="3879270"/>
            <a:ext cx="851930" cy="117926"/>
            <a:chOff x="0" y="0"/>
            <a:chExt cx="251222" cy="34775"/>
          </a:xfrm>
        </p:grpSpPr>
        <p:sp>
          <p:nvSpPr>
            <p:cNvPr id="139" name="Freeform 139"/>
            <p:cNvSpPr/>
            <p:nvPr/>
          </p:nvSpPr>
          <p:spPr>
            <a:xfrm>
              <a:off x="0" y="0"/>
              <a:ext cx="251222" cy="34775"/>
            </a:xfrm>
            <a:custGeom>
              <a:avLst/>
              <a:gdLst/>
              <a:ahLst/>
              <a:cxnLst/>
              <a:rect l="l" t="t" r="r" b="b"/>
              <a:pathLst>
                <a:path w="251222" h="34775">
                  <a:moveTo>
                    <a:pt x="0" y="0"/>
                  </a:moveTo>
                  <a:lnTo>
                    <a:pt x="251222" y="0"/>
                  </a:lnTo>
                  <a:lnTo>
                    <a:pt x="251222" y="34775"/>
                  </a:lnTo>
                  <a:lnTo>
                    <a:pt x="0" y="34775"/>
                  </a:lnTo>
                  <a:close/>
                </a:path>
              </a:pathLst>
            </a:custGeom>
            <a:solidFill>
              <a:srgbClr val="1800AD"/>
            </a:solidFill>
          </p:spPr>
        </p:sp>
        <p:sp>
          <p:nvSpPr>
            <p:cNvPr id="140" name="TextBox 140"/>
            <p:cNvSpPr txBox="1"/>
            <p:nvPr/>
          </p:nvSpPr>
          <p:spPr>
            <a:xfrm>
              <a:off x="0" y="-28575"/>
              <a:ext cx="251222" cy="63350"/>
            </a:xfrm>
            <a:prstGeom prst="rect">
              <a:avLst/>
            </a:prstGeom>
          </p:spPr>
          <p:txBody>
            <a:bodyPr lIns="50800" tIns="50800" rIns="50800" bIns="50800" rtlCol="0" anchor="ctr"/>
            <a:lstStyle/>
            <a:p>
              <a:pPr algn="ctr">
                <a:lnSpc>
                  <a:spcPts val="1960"/>
                </a:lnSpc>
              </a:pPr>
              <a:endParaRPr/>
            </a:p>
          </p:txBody>
        </p:sp>
      </p:grpSp>
      <p:sp>
        <p:nvSpPr>
          <p:cNvPr id="141" name="TextBox 141"/>
          <p:cNvSpPr txBox="1"/>
          <p:nvPr/>
        </p:nvSpPr>
        <p:spPr>
          <a:xfrm>
            <a:off x="5845631" y="1926355"/>
            <a:ext cx="851930" cy="212011"/>
          </a:xfrm>
          <a:prstGeom prst="rect">
            <a:avLst/>
          </a:prstGeom>
        </p:spPr>
        <p:txBody>
          <a:bodyPr lIns="0" tIns="0" rIns="0" bIns="0" rtlCol="0" anchor="t">
            <a:spAutoFit/>
          </a:bodyPr>
          <a:lstStyle/>
          <a:p>
            <a:pPr algn="ctr">
              <a:lnSpc>
                <a:spcPts val="1758"/>
              </a:lnSpc>
            </a:pPr>
            <a:r>
              <a:rPr lang="en-US" sz="1255">
                <a:solidFill>
                  <a:srgbClr val="FFFFFF"/>
                </a:solidFill>
                <a:latin typeface="Poppins"/>
                <a:ea typeface="Poppins"/>
                <a:cs typeface="Poppins"/>
                <a:sym typeface="Poppins"/>
              </a:rPr>
              <a:t>Jan</a:t>
            </a:r>
          </a:p>
        </p:txBody>
      </p:sp>
      <p:sp>
        <p:nvSpPr>
          <p:cNvPr id="142" name="TextBox 142"/>
          <p:cNvSpPr txBox="1"/>
          <p:nvPr/>
        </p:nvSpPr>
        <p:spPr>
          <a:xfrm>
            <a:off x="6823983" y="1926355"/>
            <a:ext cx="742122" cy="212011"/>
          </a:xfrm>
          <a:prstGeom prst="rect">
            <a:avLst/>
          </a:prstGeom>
        </p:spPr>
        <p:txBody>
          <a:bodyPr lIns="0" tIns="0" rIns="0" bIns="0" rtlCol="0" anchor="t">
            <a:spAutoFit/>
          </a:bodyPr>
          <a:lstStyle/>
          <a:p>
            <a:pPr algn="ctr">
              <a:lnSpc>
                <a:spcPts val="1758"/>
              </a:lnSpc>
            </a:pPr>
            <a:r>
              <a:rPr lang="en-US" sz="1255">
                <a:solidFill>
                  <a:srgbClr val="FFFFFF"/>
                </a:solidFill>
                <a:latin typeface="Poppins"/>
                <a:ea typeface="Poppins"/>
                <a:cs typeface="Poppins"/>
                <a:sym typeface="Poppins"/>
              </a:rPr>
              <a:t>Feb</a:t>
            </a:r>
          </a:p>
        </p:txBody>
      </p:sp>
      <p:sp>
        <p:nvSpPr>
          <p:cNvPr id="143" name="TextBox 143"/>
          <p:cNvSpPr txBox="1"/>
          <p:nvPr/>
        </p:nvSpPr>
        <p:spPr>
          <a:xfrm>
            <a:off x="7767519" y="1926355"/>
            <a:ext cx="701945" cy="212011"/>
          </a:xfrm>
          <a:prstGeom prst="rect">
            <a:avLst/>
          </a:prstGeom>
        </p:spPr>
        <p:txBody>
          <a:bodyPr lIns="0" tIns="0" rIns="0" bIns="0" rtlCol="0" anchor="t">
            <a:spAutoFit/>
          </a:bodyPr>
          <a:lstStyle/>
          <a:p>
            <a:pPr algn="ctr">
              <a:lnSpc>
                <a:spcPts val="1758"/>
              </a:lnSpc>
            </a:pPr>
            <a:r>
              <a:rPr lang="en-US" sz="1255">
                <a:solidFill>
                  <a:srgbClr val="FFFFFF"/>
                </a:solidFill>
                <a:latin typeface="Poppins"/>
                <a:ea typeface="Poppins"/>
                <a:cs typeface="Poppins"/>
                <a:sym typeface="Poppins"/>
              </a:rPr>
              <a:t>Mar</a:t>
            </a:r>
          </a:p>
        </p:txBody>
      </p:sp>
      <p:sp>
        <p:nvSpPr>
          <p:cNvPr id="144" name="TextBox 144"/>
          <p:cNvSpPr txBox="1"/>
          <p:nvPr/>
        </p:nvSpPr>
        <p:spPr>
          <a:xfrm>
            <a:off x="8713222" y="1926355"/>
            <a:ext cx="657433" cy="212011"/>
          </a:xfrm>
          <a:prstGeom prst="rect">
            <a:avLst/>
          </a:prstGeom>
        </p:spPr>
        <p:txBody>
          <a:bodyPr lIns="0" tIns="0" rIns="0" bIns="0" rtlCol="0" anchor="t">
            <a:spAutoFit/>
          </a:bodyPr>
          <a:lstStyle/>
          <a:p>
            <a:pPr algn="ctr">
              <a:lnSpc>
                <a:spcPts val="1758"/>
              </a:lnSpc>
            </a:pPr>
            <a:r>
              <a:rPr lang="en-US" sz="1255">
                <a:solidFill>
                  <a:srgbClr val="FFFFFF"/>
                </a:solidFill>
                <a:latin typeface="Poppins"/>
                <a:ea typeface="Poppins"/>
                <a:cs typeface="Poppins"/>
                <a:sym typeface="Poppins"/>
              </a:rPr>
              <a:t>Apr</a:t>
            </a:r>
          </a:p>
        </p:txBody>
      </p:sp>
      <p:sp>
        <p:nvSpPr>
          <p:cNvPr id="145" name="TextBox 145"/>
          <p:cNvSpPr txBox="1"/>
          <p:nvPr/>
        </p:nvSpPr>
        <p:spPr>
          <a:xfrm>
            <a:off x="9591785" y="1926355"/>
            <a:ext cx="747202" cy="212011"/>
          </a:xfrm>
          <a:prstGeom prst="rect">
            <a:avLst/>
          </a:prstGeom>
        </p:spPr>
        <p:txBody>
          <a:bodyPr lIns="0" tIns="0" rIns="0" bIns="0" rtlCol="0" anchor="t">
            <a:spAutoFit/>
          </a:bodyPr>
          <a:lstStyle/>
          <a:p>
            <a:pPr algn="ctr">
              <a:lnSpc>
                <a:spcPts val="1758"/>
              </a:lnSpc>
            </a:pPr>
            <a:r>
              <a:rPr lang="en-US" sz="1255">
                <a:solidFill>
                  <a:srgbClr val="FFFFFF"/>
                </a:solidFill>
                <a:latin typeface="Poppins"/>
                <a:ea typeface="Poppins"/>
                <a:cs typeface="Poppins"/>
                <a:sym typeface="Poppins"/>
              </a:rPr>
              <a:t>May</a:t>
            </a:r>
          </a:p>
        </p:txBody>
      </p:sp>
      <p:sp>
        <p:nvSpPr>
          <p:cNvPr id="146" name="TextBox 146"/>
          <p:cNvSpPr txBox="1"/>
          <p:nvPr/>
        </p:nvSpPr>
        <p:spPr>
          <a:xfrm>
            <a:off x="10521307" y="1926355"/>
            <a:ext cx="735052" cy="212011"/>
          </a:xfrm>
          <a:prstGeom prst="rect">
            <a:avLst/>
          </a:prstGeom>
        </p:spPr>
        <p:txBody>
          <a:bodyPr lIns="0" tIns="0" rIns="0" bIns="0" rtlCol="0" anchor="t">
            <a:spAutoFit/>
          </a:bodyPr>
          <a:lstStyle/>
          <a:p>
            <a:pPr algn="ctr">
              <a:lnSpc>
                <a:spcPts val="1758"/>
              </a:lnSpc>
            </a:pPr>
            <a:r>
              <a:rPr lang="en-US" sz="1255">
                <a:solidFill>
                  <a:srgbClr val="FFFFFF"/>
                </a:solidFill>
                <a:latin typeface="Poppins"/>
                <a:ea typeface="Poppins"/>
                <a:cs typeface="Poppins"/>
                <a:sym typeface="Poppins"/>
              </a:rPr>
              <a:t>Jun</a:t>
            </a:r>
          </a:p>
        </p:txBody>
      </p:sp>
      <p:sp>
        <p:nvSpPr>
          <p:cNvPr id="147" name="TextBox 147"/>
          <p:cNvSpPr txBox="1"/>
          <p:nvPr/>
        </p:nvSpPr>
        <p:spPr>
          <a:xfrm>
            <a:off x="11482196" y="1926355"/>
            <a:ext cx="660168" cy="212011"/>
          </a:xfrm>
          <a:prstGeom prst="rect">
            <a:avLst/>
          </a:prstGeom>
        </p:spPr>
        <p:txBody>
          <a:bodyPr lIns="0" tIns="0" rIns="0" bIns="0" rtlCol="0" anchor="t">
            <a:spAutoFit/>
          </a:bodyPr>
          <a:lstStyle/>
          <a:p>
            <a:pPr algn="ctr">
              <a:lnSpc>
                <a:spcPts val="1758"/>
              </a:lnSpc>
            </a:pPr>
            <a:r>
              <a:rPr lang="en-US" sz="1255">
                <a:solidFill>
                  <a:srgbClr val="FFFFFF"/>
                </a:solidFill>
                <a:latin typeface="Poppins"/>
                <a:ea typeface="Poppins"/>
                <a:cs typeface="Poppins"/>
                <a:sym typeface="Poppins"/>
              </a:rPr>
              <a:t>Jul</a:t>
            </a:r>
          </a:p>
        </p:txBody>
      </p:sp>
      <p:sp>
        <p:nvSpPr>
          <p:cNvPr id="148" name="TextBox 148"/>
          <p:cNvSpPr txBox="1"/>
          <p:nvPr/>
        </p:nvSpPr>
        <p:spPr>
          <a:xfrm>
            <a:off x="12361020" y="1926355"/>
            <a:ext cx="749415" cy="212011"/>
          </a:xfrm>
          <a:prstGeom prst="rect">
            <a:avLst/>
          </a:prstGeom>
        </p:spPr>
        <p:txBody>
          <a:bodyPr lIns="0" tIns="0" rIns="0" bIns="0" rtlCol="0" anchor="t">
            <a:spAutoFit/>
          </a:bodyPr>
          <a:lstStyle/>
          <a:p>
            <a:pPr algn="ctr">
              <a:lnSpc>
                <a:spcPts val="1758"/>
              </a:lnSpc>
            </a:pPr>
            <a:r>
              <a:rPr lang="en-US" sz="1255">
                <a:solidFill>
                  <a:srgbClr val="FFFFFF"/>
                </a:solidFill>
                <a:latin typeface="Poppins"/>
                <a:ea typeface="Poppins"/>
                <a:cs typeface="Poppins"/>
                <a:sym typeface="Poppins"/>
              </a:rPr>
              <a:t>Aug</a:t>
            </a:r>
          </a:p>
        </p:txBody>
      </p:sp>
      <p:sp>
        <p:nvSpPr>
          <p:cNvPr id="149" name="TextBox 149"/>
          <p:cNvSpPr txBox="1"/>
          <p:nvPr/>
        </p:nvSpPr>
        <p:spPr>
          <a:xfrm>
            <a:off x="13306623" y="1926355"/>
            <a:ext cx="705104" cy="212011"/>
          </a:xfrm>
          <a:prstGeom prst="rect">
            <a:avLst/>
          </a:prstGeom>
        </p:spPr>
        <p:txBody>
          <a:bodyPr lIns="0" tIns="0" rIns="0" bIns="0" rtlCol="0" anchor="t">
            <a:spAutoFit/>
          </a:bodyPr>
          <a:lstStyle/>
          <a:p>
            <a:pPr algn="ctr">
              <a:lnSpc>
                <a:spcPts val="1758"/>
              </a:lnSpc>
            </a:pPr>
            <a:r>
              <a:rPr lang="en-US" sz="1255">
                <a:solidFill>
                  <a:srgbClr val="FFFFFF"/>
                </a:solidFill>
                <a:latin typeface="Poppins"/>
                <a:ea typeface="Poppins"/>
                <a:cs typeface="Poppins"/>
                <a:sym typeface="Poppins"/>
              </a:rPr>
              <a:t>Sep</a:t>
            </a:r>
          </a:p>
        </p:txBody>
      </p:sp>
      <p:sp>
        <p:nvSpPr>
          <p:cNvPr id="150" name="TextBox 150"/>
          <p:cNvSpPr txBox="1"/>
          <p:nvPr/>
        </p:nvSpPr>
        <p:spPr>
          <a:xfrm>
            <a:off x="14221428" y="1926355"/>
            <a:ext cx="722387" cy="212011"/>
          </a:xfrm>
          <a:prstGeom prst="rect">
            <a:avLst/>
          </a:prstGeom>
        </p:spPr>
        <p:txBody>
          <a:bodyPr lIns="0" tIns="0" rIns="0" bIns="0" rtlCol="0" anchor="t">
            <a:spAutoFit/>
          </a:bodyPr>
          <a:lstStyle/>
          <a:p>
            <a:pPr algn="ctr">
              <a:lnSpc>
                <a:spcPts val="1758"/>
              </a:lnSpc>
            </a:pPr>
            <a:r>
              <a:rPr lang="en-US" sz="1255">
                <a:solidFill>
                  <a:srgbClr val="FFFFFF"/>
                </a:solidFill>
                <a:latin typeface="Poppins"/>
                <a:ea typeface="Poppins"/>
                <a:cs typeface="Poppins"/>
                <a:sym typeface="Poppins"/>
              </a:rPr>
              <a:t>Oct</a:t>
            </a:r>
          </a:p>
        </p:txBody>
      </p:sp>
      <p:sp>
        <p:nvSpPr>
          <p:cNvPr id="151" name="TextBox 151"/>
          <p:cNvSpPr txBox="1"/>
          <p:nvPr/>
        </p:nvSpPr>
        <p:spPr>
          <a:xfrm>
            <a:off x="15127369" y="1926355"/>
            <a:ext cx="757401" cy="212011"/>
          </a:xfrm>
          <a:prstGeom prst="rect">
            <a:avLst/>
          </a:prstGeom>
        </p:spPr>
        <p:txBody>
          <a:bodyPr lIns="0" tIns="0" rIns="0" bIns="0" rtlCol="0" anchor="t">
            <a:spAutoFit/>
          </a:bodyPr>
          <a:lstStyle/>
          <a:p>
            <a:pPr algn="ctr">
              <a:lnSpc>
                <a:spcPts val="1758"/>
              </a:lnSpc>
            </a:pPr>
            <a:r>
              <a:rPr lang="en-US" sz="1255">
                <a:solidFill>
                  <a:srgbClr val="FFFFFF"/>
                </a:solidFill>
                <a:latin typeface="Poppins"/>
                <a:ea typeface="Poppins"/>
                <a:cs typeface="Poppins"/>
                <a:sym typeface="Poppins"/>
              </a:rPr>
              <a:t>Nov</a:t>
            </a:r>
          </a:p>
        </p:txBody>
      </p:sp>
      <p:sp>
        <p:nvSpPr>
          <p:cNvPr id="152" name="TextBox 152"/>
          <p:cNvSpPr txBox="1"/>
          <p:nvPr/>
        </p:nvSpPr>
        <p:spPr>
          <a:xfrm>
            <a:off x="16075069" y="1926351"/>
            <a:ext cx="717209" cy="212011"/>
          </a:xfrm>
          <a:prstGeom prst="rect">
            <a:avLst/>
          </a:prstGeom>
        </p:spPr>
        <p:txBody>
          <a:bodyPr lIns="0" tIns="0" rIns="0" bIns="0" rtlCol="0" anchor="t">
            <a:spAutoFit/>
          </a:bodyPr>
          <a:lstStyle/>
          <a:p>
            <a:pPr algn="ctr">
              <a:lnSpc>
                <a:spcPts val="1758"/>
              </a:lnSpc>
            </a:pPr>
            <a:r>
              <a:rPr lang="en-US" sz="1255">
                <a:solidFill>
                  <a:srgbClr val="FFFFFF"/>
                </a:solidFill>
                <a:latin typeface="Poppins"/>
                <a:ea typeface="Poppins"/>
                <a:cs typeface="Poppins"/>
                <a:sym typeface="Poppins"/>
              </a:rPr>
              <a:t>Dec</a:t>
            </a:r>
          </a:p>
        </p:txBody>
      </p:sp>
      <p:sp>
        <p:nvSpPr>
          <p:cNvPr id="153" name="TextBox 153"/>
          <p:cNvSpPr txBox="1"/>
          <p:nvPr/>
        </p:nvSpPr>
        <p:spPr>
          <a:xfrm>
            <a:off x="1743087" y="1601886"/>
            <a:ext cx="3581264" cy="353040"/>
          </a:xfrm>
          <a:prstGeom prst="rect">
            <a:avLst/>
          </a:prstGeom>
        </p:spPr>
        <p:txBody>
          <a:bodyPr lIns="0" tIns="0" rIns="0" bIns="0" rtlCol="0" anchor="t">
            <a:spAutoFit/>
          </a:bodyPr>
          <a:lstStyle/>
          <a:p>
            <a:pPr algn="ctr">
              <a:lnSpc>
                <a:spcPts val="2813"/>
              </a:lnSpc>
            </a:pPr>
            <a:r>
              <a:rPr lang="en-US" sz="2009" b="1">
                <a:solidFill>
                  <a:srgbClr val="FFFFFF"/>
                </a:solidFill>
                <a:latin typeface="Poppins Medium"/>
                <a:ea typeface="Poppins Medium"/>
                <a:cs typeface="Poppins Medium"/>
                <a:sym typeface="Poppins Medium"/>
              </a:rPr>
              <a:t>Progress / Task</a:t>
            </a:r>
          </a:p>
        </p:txBody>
      </p:sp>
      <p:sp>
        <p:nvSpPr>
          <p:cNvPr id="154" name="TextBox 154"/>
          <p:cNvSpPr txBox="1"/>
          <p:nvPr/>
        </p:nvSpPr>
        <p:spPr>
          <a:xfrm>
            <a:off x="6769079" y="1447021"/>
            <a:ext cx="1775377" cy="212011"/>
          </a:xfrm>
          <a:prstGeom prst="rect">
            <a:avLst/>
          </a:prstGeom>
        </p:spPr>
        <p:txBody>
          <a:bodyPr lIns="0" tIns="0" rIns="0" bIns="0" rtlCol="0" anchor="t">
            <a:spAutoFit/>
          </a:bodyPr>
          <a:lstStyle/>
          <a:p>
            <a:pPr algn="ctr">
              <a:lnSpc>
                <a:spcPts val="1758"/>
              </a:lnSpc>
            </a:pPr>
            <a:r>
              <a:rPr lang="en-US" sz="1255" b="1">
                <a:solidFill>
                  <a:srgbClr val="FFFFFF"/>
                </a:solidFill>
                <a:latin typeface="Poppins Medium"/>
                <a:ea typeface="Poppins Medium"/>
                <a:cs typeface="Poppins Medium"/>
                <a:sym typeface="Poppins Medium"/>
              </a:rPr>
              <a:t>Quarter 1</a:t>
            </a:r>
          </a:p>
        </p:txBody>
      </p:sp>
      <p:sp>
        <p:nvSpPr>
          <p:cNvPr id="155" name="TextBox 155"/>
          <p:cNvSpPr txBox="1"/>
          <p:nvPr/>
        </p:nvSpPr>
        <p:spPr>
          <a:xfrm>
            <a:off x="10391351" y="1447021"/>
            <a:ext cx="1918412" cy="212011"/>
          </a:xfrm>
          <a:prstGeom prst="rect">
            <a:avLst/>
          </a:prstGeom>
        </p:spPr>
        <p:txBody>
          <a:bodyPr lIns="0" tIns="0" rIns="0" bIns="0" rtlCol="0" anchor="t">
            <a:spAutoFit/>
          </a:bodyPr>
          <a:lstStyle/>
          <a:p>
            <a:pPr algn="ctr">
              <a:lnSpc>
                <a:spcPts val="1758"/>
              </a:lnSpc>
            </a:pPr>
            <a:r>
              <a:rPr lang="en-US" sz="1255" b="1">
                <a:solidFill>
                  <a:srgbClr val="FFFFFF"/>
                </a:solidFill>
                <a:latin typeface="Poppins Medium"/>
                <a:ea typeface="Poppins Medium"/>
                <a:cs typeface="Poppins Medium"/>
                <a:sym typeface="Poppins Medium"/>
              </a:rPr>
              <a:t>Quarter 2</a:t>
            </a:r>
          </a:p>
        </p:txBody>
      </p:sp>
      <p:sp>
        <p:nvSpPr>
          <p:cNvPr id="156" name="TextBox 156"/>
          <p:cNvSpPr txBox="1"/>
          <p:nvPr/>
        </p:nvSpPr>
        <p:spPr>
          <a:xfrm>
            <a:off x="14085140" y="1447021"/>
            <a:ext cx="1918412" cy="212011"/>
          </a:xfrm>
          <a:prstGeom prst="rect">
            <a:avLst/>
          </a:prstGeom>
        </p:spPr>
        <p:txBody>
          <a:bodyPr lIns="0" tIns="0" rIns="0" bIns="0" rtlCol="0" anchor="t">
            <a:spAutoFit/>
          </a:bodyPr>
          <a:lstStyle/>
          <a:p>
            <a:pPr algn="ctr">
              <a:lnSpc>
                <a:spcPts val="1758"/>
              </a:lnSpc>
            </a:pPr>
            <a:r>
              <a:rPr lang="en-US" sz="1255" b="1">
                <a:solidFill>
                  <a:srgbClr val="FFFFFF"/>
                </a:solidFill>
                <a:latin typeface="Poppins Medium"/>
                <a:ea typeface="Poppins Medium"/>
                <a:cs typeface="Poppins Medium"/>
                <a:sym typeface="Poppins Medium"/>
              </a:rPr>
              <a:t>Quarter 3</a:t>
            </a:r>
          </a:p>
        </p:txBody>
      </p:sp>
      <p:sp>
        <p:nvSpPr>
          <p:cNvPr id="157" name="TextBox 157"/>
          <p:cNvSpPr txBox="1"/>
          <p:nvPr/>
        </p:nvSpPr>
        <p:spPr>
          <a:xfrm>
            <a:off x="1539364" y="2300717"/>
            <a:ext cx="3581264"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Find a Research Topic and Supervisor</a:t>
            </a:r>
          </a:p>
        </p:txBody>
      </p:sp>
      <p:sp>
        <p:nvSpPr>
          <p:cNvPr id="158" name="TextBox 158"/>
          <p:cNvSpPr txBox="1"/>
          <p:nvPr/>
        </p:nvSpPr>
        <p:spPr>
          <a:xfrm>
            <a:off x="1539364" y="2866482"/>
            <a:ext cx="2737679"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Requirement  Analysis</a:t>
            </a:r>
          </a:p>
        </p:txBody>
      </p:sp>
      <p:sp>
        <p:nvSpPr>
          <p:cNvPr id="159" name="TextBox 159"/>
          <p:cNvSpPr txBox="1"/>
          <p:nvPr/>
        </p:nvSpPr>
        <p:spPr>
          <a:xfrm>
            <a:off x="1539364" y="3336049"/>
            <a:ext cx="2897579"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Literature Review</a:t>
            </a:r>
          </a:p>
        </p:txBody>
      </p:sp>
      <p:sp>
        <p:nvSpPr>
          <p:cNvPr id="160" name="TextBox 160"/>
          <p:cNvSpPr txBox="1"/>
          <p:nvPr/>
        </p:nvSpPr>
        <p:spPr>
          <a:xfrm>
            <a:off x="1561275" y="3805615"/>
            <a:ext cx="3101302"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TAF Submission</a:t>
            </a:r>
          </a:p>
        </p:txBody>
      </p:sp>
      <p:sp>
        <p:nvSpPr>
          <p:cNvPr id="161" name="TextBox 161"/>
          <p:cNvSpPr txBox="1"/>
          <p:nvPr/>
        </p:nvSpPr>
        <p:spPr>
          <a:xfrm>
            <a:off x="1539364" y="4314831"/>
            <a:ext cx="3886268"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Chater Submission </a:t>
            </a:r>
          </a:p>
        </p:txBody>
      </p:sp>
      <p:sp>
        <p:nvSpPr>
          <p:cNvPr id="162" name="TextBox 162"/>
          <p:cNvSpPr txBox="1"/>
          <p:nvPr/>
        </p:nvSpPr>
        <p:spPr>
          <a:xfrm>
            <a:off x="1539364" y="4744255"/>
            <a:ext cx="3886268"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Proposal Submission</a:t>
            </a:r>
          </a:p>
        </p:txBody>
      </p:sp>
      <p:sp>
        <p:nvSpPr>
          <p:cNvPr id="163" name="TextBox 163"/>
          <p:cNvSpPr txBox="1"/>
          <p:nvPr/>
        </p:nvSpPr>
        <p:spPr>
          <a:xfrm>
            <a:off x="1561275" y="5612102"/>
            <a:ext cx="3886268"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Implementation Check List Submission</a:t>
            </a:r>
          </a:p>
        </p:txBody>
      </p:sp>
      <p:sp>
        <p:nvSpPr>
          <p:cNvPr id="164" name="TextBox 164"/>
          <p:cNvSpPr txBox="1"/>
          <p:nvPr/>
        </p:nvSpPr>
        <p:spPr>
          <a:xfrm>
            <a:off x="1539364" y="6147466"/>
            <a:ext cx="3101302"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Progress Presentation 1</a:t>
            </a:r>
          </a:p>
        </p:txBody>
      </p:sp>
      <p:sp>
        <p:nvSpPr>
          <p:cNvPr id="165" name="TextBox 165"/>
          <p:cNvSpPr txBox="1"/>
          <p:nvPr/>
        </p:nvSpPr>
        <p:spPr>
          <a:xfrm>
            <a:off x="1452718" y="6629489"/>
            <a:ext cx="3575902"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System Implementation</a:t>
            </a:r>
          </a:p>
        </p:txBody>
      </p:sp>
      <p:grpSp>
        <p:nvGrpSpPr>
          <p:cNvPr id="166" name="Group 166"/>
          <p:cNvGrpSpPr/>
          <p:nvPr/>
        </p:nvGrpSpPr>
        <p:grpSpPr>
          <a:xfrm>
            <a:off x="1293325" y="7002017"/>
            <a:ext cx="4480789" cy="421714"/>
            <a:chOff x="0" y="0"/>
            <a:chExt cx="1321320" cy="124357"/>
          </a:xfrm>
        </p:grpSpPr>
        <p:sp>
          <p:nvSpPr>
            <p:cNvPr id="167" name="Freeform 167"/>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168" name="TextBox 168"/>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grpSp>
        <p:nvGrpSpPr>
          <p:cNvPr id="169" name="Group 169"/>
          <p:cNvGrpSpPr/>
          <p:nvPr/>
        </p:nvGrpSpPr>
        <p:grpSpPr>
          <a:xfrm>
            <a:off x="1293325" y="7471584"/>
            <a:ext cx="4480789" cy="421714"/>
            <a:chOff x="0" y="0"/>
            <a:chExt cx="1321320" cy="124357"/>
          </a:xfrm>
        </p:grpSpPr>
        <p:sp>
          <p:nvSpPr>
            <p:cNvPr id="170" name="Freeform 170"/>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171" name="TextBox 171"/>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sp>
        <p:nvSpPr>
          <p:cNvPr id="172" name="TextBox 172"/>
          <p:cNvSpPr txBox="1"/>
          <p:nvPr/>
        </p:nvSpPr>
        <p:spPr>
          <a:xfrm>
            <a:off x="1452718" y="7128964"/>
            <a:ext cx="3318417"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Progress Presentation 2</a:t>
            </a:r>
          </a:p>
        </p:txBody>
      </p:sp>
      <p:grpSp>
        <p:nvGrpSpPr>
          <p:cNvPr id="173" name="Group 173"/>
          <p:cNvGrpSpPr/>
          <p:nvPr/>
        </p:nvGrpSpPr>
        <p:grpSpPr>
          <a:xfrm>
            <a:off x="1293325" y="7941150"/>
            <a:ext cx="4480789" cy="421714"/>
            <a:chOff x="0" y="0"/>
            <a:chExt cx="1321320" cy="124357"/>
          </a:xfrm>
        </p:grpSpPr>
        <p:sp>
          <p:nvSpPr>
            <p:cNvPr id="174" name="Freeform 174"/>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175" name="TextBox 175"/>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sp>
        <p:nvSpPr>
          <p:cNvPr id="176" name="TextBox 176"/>
          <p:cNvSpPr txBox="1"/>
          <p:nvPr/>
        </p:nvSpPr>
        <p:spPr>
          <a:xfrm>
            <a:off x="1417522" y="7562641"/>
            <a:ext cx="4232394"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Final Report submission</a:t>
            </a:r>
          </a:p>
        </p:txBody>
      </p:sp>
      <p:sp>
        <p:nvSpPr>
          <p:cNvPr id="177" name="TextBox 177"/>
          <p:cNvSpPr txBox="1"/>
          <p:nvPr/>
        </p:nvSpPr>
        <p:spPr>
          <a:xfrm>
            <a:off x="1452718" y="7948465"/>
            <a:ext cx="4710321"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Website evaluation &amp; Logbook submission</a:t>
            </a:r>
          </a:p>
        </p:txBody>
      </p:sp>
      <p:grpSp>
        <p:nvGrpSpPr>
          <p:cNvPr id="178" name="Group 178"/>
          <p:cNvGrpSpPr/>
          <p:nvPr/>
        </p:nvGrpSpPr>
        <p:grpSpPr>
          <a:xfrm>
            <a:off x="5845631" y="3392219"/>
            <a:ext cx="1775377" cy="116191"/>
            <a:chOff x="0" y="0"/>
            <a:chExt cx="523533" cy="34263"/>
          </a:xfrm>
        </p:grpSpPr>
        <p:sp>
          <p:nvSpPr>
            <p:cNvPr id="179" name="Freeform 179"/>
            <p:cNvSpPr/>
            <p:nvPr/>
          </p:nvSpPr>
          <p:spPr>
            <a:xfrm>
              <a:off x="0" y="0"/>
              <a:ext cx="523533" cy="34263"/>
            </a:xfrm>
            <a:custGeom>
              <a:avLst/>
              <a:gdLst/>
              <a:ahLst/>
              <a:cxnLst/>
              <a:rect l="l" t="t" r="r" b="b"/>
              <a:pathLst>
                <a:path w="523533" h="34263">
                  <a:moveTo>
                    <a:pt x="0" y="0"/>
                  </a:moveTo>
                  <a:lnTo>
                    <a:pt x="523533" y="0"/>
                  </a:lnTo>
                  <a:lnTo>
                    <a:pt x="523533" y="34263"/>
                  </a:lnTo>
                  <a:lnTo>
                    <a:pt x="0" y="34263"/>
                  </a:lnTo>
                  <a:close/>
                </a:path>
              </a:pathLst>
            </a:custGeom>
            <a:solidFill>
              <a:srgbClr val="1800AD"/>
            </a:solidFill>
          </p:spPr>
        </p:sp>
        <p:sp>
          <p:nvSpPr>
            <p:cNvPr id="180" name="TextBox 180"/>
            <p:cNvSpPr txBox="1"/>
            <p:nvPr/>
          </p:nvSpPr>
          <p:spPr>
            <a:xfrm>
              <a:off x="0" y="-28575"/>
              <a:ext cx="523533" cy="62838"/>
            </a:xfrm>
            <a:prstGeom prst="rect">
              <a:avLst/>
            </a:prstGeom>
          </p:spPr>
          <p:txBody>
            <a:bodyPr lIns="50800" tIns="50800" rIns="50800" bIns="50800" rtlCol="0" anchor="ctr"/>
            <a:lstStyle/>
            <a:p>
              <a:pPr algn="ctr">
                <a:lnSpc>
                  <a:spcPts val="1960"/>
                </a:lnSpc>
              </a:pPr>
              <a:endParaRPr/>
            </a:p>
          </p:txBody>
        </p:sp>
      </p:grpSp>
      <p:grpSp>
        <p:nvGrpSpPr>
          <p:cNvPr id="181" name="Group 181"/>
          <p:cNvGrpSpPr/>
          <p:nvPr/>
        </p:nvGrpSpPr>
        <p:grpSpPr>
          <a:xfrm>
            <a:off x="6804837" y="4329618"/>
            <a:ext cx="851930" cy="117926"/>
            <a:chOff x="0" y="0"/>
            <a:chExt cx="251222" cy="34775"/>
          </a:xfrm>
        </p:grpSpPr>
        <p:sp>
          <p:nvSpPr>
            <p:cNvPr id="182" name="Freeform 182"/>
            <p:cNvSpPr/>
            <p:nvPr/>
          </p:nvSpPr>
          <p:spPr>
            <a:xfrm>
              <a:off x="0" y="0"/>
              <a:ext cx="251222" cy="34775"/>
            </a:xfrm>
            <a:custGeom>
              <a:avLst/>
              <a:gdLst/>
              <a:ahLst/>
              <a:cxnLst/>
              <a:rect l="l" t="t" r="r" b="b"/>
              <a:pathLst>
                <a:path w="251222" h="34775">
                  <a:moveTo>
                    <a:pt x="0" y="0"/>
                  </a:moveTo>
                  <a:lnTo>
                    <a:pt x="251222" y="0"/>
                  </a:lnTo>
                  <a:lnTo>
                    <a:pt x="251222" y="34775"/>
                  </a:lnTo>
                  <a:lnTo>
                    <a:pt x="0" y="34775"/>
                  </a:lnTo>
                  <a:close/>
                </a:path>
              </a:pathLst>
            </a:custGeom>
            <a:solidFill>
              <a:srgbClr val="1800AD"/>
            </a:solidFill>
          </p:spPr>
        </p:sp>
        <p:sp>
          <p:nvSpPr>
            <p:cNvPr id="183" name="TextBox 183"/>
            <p:cNvSpPr txBox="1"/>
            <p:nvPr/>
          </p:nvSpPr>
          <p:spPr>
            <a:xfrm>
              <a:off x="0" y="-28575"/>
              <a:ext cx="251222" cy="63350"/>
            </a:xfrm>
            <a:prstGeom prst="rect">
              <a:avLst/>
            </a:prstGeom>
          </p:spPr>
          <p:txBody>
            <a:bodyPr lIns="50800" tIns="50800" rIns="50800" bIns="50800" rtlCol="0" anchor="ctr"/>
            <a:lstStyle/>
            <a:p>
              <a:pPr algn="ctr">
                <a:lnSpc>
                  <a:spcPts val="1960"/>
                </a:lnSpc>
              </a:pPr>
              <a:endParaRPr/>
            </a:p>
          </p:txBody>
        </p:sp>
      </p:grpSp>
      <p:sp>
        <p:nvSpPr>
          <p:cNvPr id="184" name="TextBox 184"/>
          <p:cNvSpPr txBox="1"/>
          <p:nvPr/>
        </p:nvSpPr>
        <p:spPr>
          <a:xfrm>
            <a:off x="1539364" y="5214808"/>
            <a:ext cx="3886268"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Proposal Presentation</a:t>
            </a:r>
          </a:p>
        </p:txBody>
      </p:sp>
      <p:grpSp>
        <p:nvGrpSpPr>
          <p:cNvPr id="185" name="Group 185"/>
          <p:cNvGrpSpPr/>
          <p:nvPr/>
        </p:nvGrpSpPr>
        <p:grpSpPr>
          <a:xfrm>
            <a:off x="1293325" y="8459556"/>
            <a:ext cx="4480789" cy="421714"/>
            <a:chOff x="0" y="0"/>
            <a:chExt cx="1321320" cy="124357"/>
          </a:xfrm>
        </p:grpSpPr>
        <p:sp>
          <p:nvSpPr>
            <p:cNvPr id="186" name="Freeform 186"/>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187" name="TextBox 187"/>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grpSp>
        <p:nvGrpSpPr>
          <p:cNvPr id="188" name="Group 188"/>
          <p:cNvGrpSpPr/>
          <p:nvPr/>
        </p:nvGrpSpPr>
        <p:grpSpPr>
          <a:xfrm>
            <a:off x="1293325" y="8929123"/>
            <a:ext cx="4480789" cy="421714"/>
            <a:chOff x="0" y="0"/>
            <a:chExt cx="1321320" cy="124357"/>
          </a:xfrm>
        </p:grpSpPr>
        <p:sp>
          <p:nvSpPr>
            <p:cNvPr id="189" name="Freeform 189"/>
            <p:cNvSpPr/>
            <p:nvPr/>
          </p:nvSpPr>
          <p:spPr>
            <a:xfrm>
              <a:off x="0" y="0"/>
              <a:ext cx="1321320" cy="124357"/>
            </a:xfrm>
            <a:custGeom>
              <a:avLst/>
              <a:gdLst/>
              <a:ahLst/>
              <a:cxnLst/>
              <a:rect l="l" t="t" r="r" b="b"/>
              <a:pathLst>
                <a:path w="1321320" h="124357">
                  <a:moveTo>
                    <a:pt x="0" y="0"/>
                  </a:moveTo>
                  <a:lnTo>
                    <a:pt x="1321320" y="0"/>
                  </a:lnTo>
                  <a:lnTo>
                    <a:pt x="1321320" y="124357"/>
                  </a:lnTo>
                  <a:lnTo>
                    <a:pt x="0" y="124357"/>
                  </a:lnTo>
                  <a:close/>
                </a:path>
              </a:pathLst>
            </a:custGeom>
            <a:solidFill>
              <a:srgbClr val="38B6FF"/>
            </a:solidFill>
          </p:spPr>
        </p:sp>
        <p:sp>
          <p:nvSpPr>
            <p:cNvPr id="190" name="TextBox 190"/>
            <p:cNvSpPr txBox="1"/>
            <p:nvPr/>
          </p:nvSpPr>
          <p:spPr>
            <a:xfrm>
              <a:off x="0" y="-28575"/>
              <a:ext cx="1321320" cy="152932"/>
            </a:xfrm>
            <a:prstGeom prst="rect">
              <a:avLst/>
            </a:prstGeom>
          </p:spPr>
          <p:txBody>
            <a:bodyPr lIns="50800" tIns="50800" rIns="50800" bIns="50800" rtlCol="0" anchor="ctr"/>
            <a:lstStyle/>
            <a:p>
              <a:pPr algn="ctr">
                <a:lnSpc>
                  <a:spcPts val="1960"/>
                </a:lnSpc>
              </a:pPr>
              <a:endParaRPr/>
            </a:p>
          </p:txBody>
        </p:sp>
      </p:grpSp>
      <p:sp>
        <p:nvSpPr>
          <p:cNvPr id="191" name="TextBox 191"/>
          <p:cNvSpPr txBox="1"/>
          <p:nvPr/>
        </p:nvSpPr>
        <p:spPr>
          <a:xfrm>
            <a:off x="1452718" y="8550613"/>
            <a:ext cx="4232394"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Research Paper Submission</a:t>
            </a:r>
          </a:p>
        </p:txBody>
      </p:sp>
      <p:sp>
        <p:nvSpPr>
          <p:cNvPr id="192" name="TextBox 192"/>
          <p:cNvSpPr txBox="1"/>
          <p:nvPr/>
        </p:nvSpPr>
        <p:spPr>
          <a:xfrm>
            <a:off x="1452718" y="8948401"/>
            <a:ext cx="4232394" cy="212011"/>
          </a:xfrm>
          <a:prstGeom prst="rect">
            <a:avLst/>
          </a:prstGeom>
        </p:spPr>
        <p:txBody>
          <a:bodyPr lIns="0" tIns="0" rIns="0" bIns="0" rtlCol="0" anchor="t">
            <a:spAutoFit/>
          </a:bodyPr>
          <a:lstStyle/>
          <a:p>
            <a:pPr algn="l">
              <a:lnSpc>
                <a:spcPts val="1758"/>
              </a:lnSpc>
            </a:pPr>
            <a:r>
              <a:rPr lang="en-US" sz="1255" b="1">
                <a:solidFill>
                  <a:srgbClr val="000000"/>
                </a:solidFill>
                <a:latin typeface="Poppins Medium"/>
                <a:ea typeface="Poppins Medium"/>
                <a:cs typeface="Poppins Medium"/>
                <a:sym typeface="Poppins Medium"/>
              </a:rPr>
              <a:t>Research Paper publication evidence submission</a:t>
            </a:r>
          </a:p>
        </p:txBody>
      </p:sp>
      <p:grpSp>
        <p:nvGrpSpPr>
          <p:cNvPr id="193" name="Group 193"/>
          <p:cNvGrpSpPr/>
          <p:nvPr/>
        </p:nvGrpSpPr>
        <p:grpSpPr>
          <a:xfrm>
            <a:off x="7692526" y="5287476"/>
            <a:ext cx="851930" cy="103643"/>
            <a:chOff x="0" y="0"/>
            <a:chExt cx="251222" cy="30563"/>
          </a:xfrm>
        </p:grpSpPr>
        <p:sp>
          <p:nvSpPr>
            <p:cNvPr id="194" name="Freeform 194"/>
            <p:cNvSpPr/>
            <p:nvPr/>
          </p:nvSpPr>
          <p:spPr>
            <a:xfrm>
              <a:off x="0" y="0"/>
              <a:ext cx="251222" cy="30563"/>
            </a:xfrm>
            <a:custGeom>
              <a:avLst/>
              <a:gdLst/>
              <a:ahLst/>
              <a:cxnLst/>
              <a:rect l="l" t="t" r="r" b="b"/>
              <a:pathLst>
                <a:path w="251222" h="30563">
                  <a:moveTo>
                    <a:pt x="0" y="0"/>
                  </a:moveTo>
                  <a:lnTo>
                    <a:pt x="251222" y="0"/>
                  </a:lnTo>
                  <a:lnTo>
                    <a:pt x="251222" y="30563"/>
                  </a:lnTo>
                  <a:lnTo>
                    <a:pt x="0" y="30563"/>
                  </a:lnTo>
                  <a:close/>
                </a:path>
              </a:pathLst>
            </a:custGeom>
            <a:solidFill>
              <a:srgbClr val="1800AD"/>
            </a:solidFill>
          </p:spPr>
        </p:sp>
        <p:sp>
          <p:nvSpPr>
            <p:cNvPr id="195" name="TextBox 195"/>
            <p:cNvSpPr txBox="1"/>
            <p:nvPr/>
          </p:nvSpPr>
          <p:spPr>
            <a:xfrm>
              <a:off x="0" y="-28575"/>
              <a:ext cx="251222" cy="59138"/>
            </a:xfrm>
            <a:prstGeom prst="rect">
              <a:avLst/>
            </a:prstGeom>
          </p:spPr>
          <p:txBody>
            <a:bodyPr lIns="50800" tIns="50800" rIns="50800" bIns="50800" rtlCol="0" anchor="ctr"/>
            <a:lstStyle/>
            <a:p>
              <a:pPr algn="ctr">
                <a:lnSpc>
                  <a:spcPts val="1960"/>
                </a:lnSpc>
              </a:pPr>
              <a:endParaRPr/>
            </a:p>
          </p:txBody>
        </p:sp>
      </p:grpSp>
      <p:grpSp>
        <p:nvGrpSpPr>
          <p:cNvPr id="196" name="Group 196"/>
          <p:cNvGrpSpPr/>
          <p:nvPr/>
        </p:nvGrpSpPr>
        <p:grpSpPr>
          <a:xfrm>
            <a:off x="9503662" y="6207553"/>
            <a:ext cx="887689" cy="132375"/>
            <a:chOff x="0" y="0"/>
            <a:chExt cx="261767" cy="39035"/>
          </a:xfrm>
        </p:grpSpPr>
        <p:sp>
          <p:nvSpPr>
            <p:cNvPr id="197" name="Freeform 197"/>
            <p:cNvSpPr/>
            <p:nvPr/>
          </p:nvSpPr>
          <p:spPr>
            <a:xfrm>
              <a:off x="0" y="0"/>
              <a:ext cx="261767" cy="39035"/>
            </a:xfrm>
            <a:custGeom>
              <a:avLst/>
              <a:gdLst/>
              <a:ahLst/>
              <a:cxnLst/>
              <a:rect l="l" t="t" r="r" b="b"/>
              <a:pathLst>
                <a:path w="261767" h="39035">
                  <a:moveTo>
                    <a:pt x="0" y="0"/>
                  </a:moveTo>
                  <a:lnTo>
                    <a:pt x="261767" y="0"/>
                  </a:lnTo>
                  <a:lnTo>
                    <a:pt x="261767" y="39035"/>
                  </a:lnTo>
                  <a:lnTo>
                    <a:pt x="0" y="39035"/>
                  </a:lnTo>
                  <a:close/>
                </a:path>
              </a:pathLst>
            </a:custGeom>
            <a:solidFill>
              <a:srgbClr val="1800AD"/>
            </a:solidFill>
          </p:spPr>
        </p:sp>
        <p:sp>
          <p:nvSpPr>
            <p:cNvPr id="198" name="TextBox 198"/>
            <p:cNvSpPr txBox="1"/>
            <p:nvPr/>
          </p:nvSpPr>
          <p:spPr>
            <a:xfrm>
              <a:off x="0" y="-28575"/>
              <a:ext cx="261767" cy="67610"/>
            </a:xfrm>
            <a:prstGeom prst="rect">
              <a:avLst/>
            </a:prstGeom>
          </p:spPr>
          <p:txBody>
            <a:bodyPr lIns="50800" tIns="50800" rIns="50800" bIns="50800" rtlCol="0" anchor="ctr"/>
            <a:lstStyle/>
            <a:p>
              <a:pPr algn="ctr">
                <a:lnSpc>
                  <a:spcPts val="1960"/>
                </a:lnSpc>
              </a:pPr>
              <a:endParaRPr/>
            </a:p>
          </p:txBody>
        </p:sp>
      </p:grpSp>
      <p:grpSp>
        <p:nvGrpSpPr>
          <p:cNvPr id="199" name="Group 199"/>
          <p:cNvGrpSpPr/>
          <p:nvPr/>
        </p:nvGrpSpPr>
        <p:grpSpPr>
          <a:xfrm>
            <a:off x="8544456" y="6605971"/>
            <a:ext cx="6499890" cy="143812"/>
            <a:chOff x="0" y="0"/>
            <a:chExt cx="1916723" cy="42408"/>
          </a:xfrm>
        </p:grpSpPr>
        <p:sp>
          <p:nvSpPr>
            <p:cNvPr id="200" name="Freeform 200"/>
            <p:cNvSpPr/>
            <p:nvPr/>
          </p:nvSpPr>
          <p:spPr>
            <a:xfrm>
              <a:off x="0" y="0"/>
              <a:ext cx="1916723" cy="42408"/>
            </a:xfrm>
            <a:custGeom>
              <a:avLst/>
              <a:gdLst/>
              <a:ahLst/>
              <a:cxnLst/>
              <a:rect l="l" t="t" r="r" b="b"/>
              <a:pathLst>
                <a:path w="1916723" h="42408">
                  <a:moveTo>
                    <a:pt x="0" y="0"/>
                  </a:moveTo>
                  <a:lnTo>
                    <a:pt x="1916723" y="0"/>
                  </a:lnTo>
                  <a:lnTo>
                    <a:pt x="1916723" y="42408"/>
                  </a:lnTo>
                  <a:lnTo>
                    <a:pt x="0" y="42408"/>
                  </a:lnTo>
                  <a:close/>
                </a:path>
              </a:pathLst>
            </a:custGeom>
            <a:solidFill>
              <a:srgbClr val="1800AD"/>
            </a:solidFill>
          </p:spPr>
        </p:sp>
        <p:sp>
          <p:nvSpPr>
            <p:cNvPr id="201" name="TextBox 201"/>
            <p:cNvSpPr txBox="1"/>
            <p:nvPr/>
          </p:nvSpPr>
          <p:spPr>
            <a:xfrm>
              <a:off x="0" y="-28575"/>
              <a:ext cx="1916723" cy="70983"/>
            </a:xfrm>
            <a:prstGeom prst="rect">
              <a:avLst/>
            </a:prstGeom>
          </p:spPr>
          <p:txBody>
            <a:bodyPr lIns="50800" tIns="50800" rIns="50800" bIns="50800" rtlCol="0" anchor="ctr"/>
            <a:lstStyle/>
            <a:p>
              <a:pPr algn="ctr">
                <a:lnSpc>
                  <a:spcPts val="1960"/>
                </a:lnSpc>
              </a:pPr>
              <a:endParaRPr/>
            </a:p>
          </p:txBody>
        </p:sp>
      </p:grpSp>
      <p:sp>
        <p:nvSpPr>
          <p:cNvPr id="202" name="AutoShape 202"/>
          <p:cNvSpPr/>
          <p:nvPr/>
        </p:nvSpPr>
        <p:spPr>
          <a:xfrm>
            <a:off x="5841474" y="7206892"/>
            <a:ext cx="10999431" cy="0"/>
          </a:xfrm>
          <a:prstGeom prst="line">
            <a:avLst/>
          </a:prstGeom>
          <a:ln w="9525" cap="flat">
            <a:solidFill>
              <a:srgbClr val="000000"/>
            </a:solidFill>
            <a:prstDash val="solid"/>
            <a:headEnd type="none" w="sm" len="sm"/>
            <a:tailEnd type="none" w="sm" len="sm"/>
          </a:ln>
        </p:spPr>
      </p:sp>
      <p:sp>
        <p:nvSpPr>
          <p:cNvPr id="203" name="AutoShape 203"/>
          <p:cNvSpPr/>
          <p:nvPr/>
        </p:nvSpPr>
        <p:spPr>
          <a:xfrm>
            <a:off x="5860208" y="7688915"/>
            <a:ext cx="10999431" cy="0"/>
          </a:xfrm>
          <a:prstGeom prst="line">
            <a:avLst/>
          </a:prstGeom>
          <a:ln w="9525" cap="flat">
            <a:solidFill>
              <a:srgbClr val="000000"/>
            </a:solidFill>
            <a:prstDash val="solid"/>
            <a:headEnd type="none" w="sm" len="sm"/>
            <a:tailEnd type="none" w="sm" len="sm"/>
          </a:ln>
        </p:spPr>
      </p:sp>
      <p:sp>
        <p:nvSpPr>
          <p:cNvPr id="204" name="AutoShape 204"/>
          <p:cNvSpPr/>
          <p:nvPr/>
        </p:nvSpPr>
        <p:spPr>
          <a:xfrm>
            <a:off x="5860208" y="8182408"/>
            <a:ext cx="10999431" cy="0"/>
          </a:xfrm>
          <a:prstGeom prst="line">
            <a:avLst/>
          </a:prstGeom>
          <a:ln w="9525" cap="flat">
            <a:solidFill>
              <a:srgbClr val="000000"/>
            </a:solidFill>
            <a:prstDash val="solid"/>
            <a:headEnd type="none" w="sm" len="sm"/>
            <a:tailEnd type="none" w="sm" len="sm"/>
          </a:ln>
        </p:spPr>
      </p:sp>
      <p:sp>
        <p:nvSpPr>
          <p:cNvPr id="205" name="AutoShape 205"/>
          <p:cNvSpPr/>
          <p:nvPr/>
        </p:nvSpPr>
        <p:spPr>
          <a:xfrm>
            <a:off x="5860208" y="8692839"/>
            <a:ext cx="10999431" cy="0"/>
          </a:xfrm>
          <a:prstGeom prst="line">
            <a:avLst/>
          </a:prstGeom>
          <a:ln w="9525" cap="flat">
            <a:solidFill>
              <a:srgbClr val="000000"/>
            </a:solidFill>
            <a:prstDash val="solid"/>
            <a:headEnd type="none" w="sm" len="sm"/>
            <a:tailEnd type="none" w="sm" len="sm"/>
          </a:ln>
        </p:spPr>
      </p:sp>
      <p:sp>
        <p:nvSpPr>
          <p:cNvPr id="206" name="AutoShape 206"/>
          <p:cNvSpPr/>
          <p:nvPr/>
        </p:nvSpPr>
        <p:spPr>
          <a:xfrm>
            <a:off x="5886600" y="9067752"/>
            <a:ext cx="10999431" cy="0"/>
          </a:xfrm>
          <a:prstGeom prst="line">
            <a:avLst/>
          </a:prstGeom>
          <a:ln w="9525" cap="flat">
            <a:solidFill>
              <a:srgbClr val="000000"/>
            </a:solidFill>
            <a:prstDash val="solid"/>
            <a:headEnd type="none" w="sm" len="sm"/>
            <a:tailEnd type="none" w="sm" len="sm"/>
          </a:ln>
        </p:spPr>
      </p:sp>
      <p:grpSp>
        <p:nvGrpSpPr>
          <p:cNvPr id="207" name="Group 207"/>
          <p:cNvGrpSpPr/>
          <p:nvPr/>
        </p:nvGrpSpPr>
        <p:grpSpPr>
          <a:xfrm>
            <a:off x="12291883" y="7116882"/>
            <a:ext cx="887689" cy="132375"/>
            <a:chOff x="0" y="0"/>
            <a:chExt cx="261767" cy="39035"/>
          </a:xfrm>
        </p:grpSpPr>
        <p:sp>
          <p:nvSpPr>
            <p:cNvPr id="208" name="Freeform 208"/>
            <p:cNvSpPr/>
            <p:nvPr/>
          </p:nvSpPr>
          <p:spPr>
            <a:xfrm>
              <a:off x="0" y="0"/>
              <a:ext cx="261767" cy="39035"/>
            </a:xfrm>
            <a:custGeom>
              <a:avLst/>
              <a:gdLst/>
              <a:ahLst/>
              <a:cxnLst/>
              <a:rect l="l" t="t" r="r" b="b"/>
              <a:pathLst>
                <a:path w="261767" h="39035">
                  <a:moveTo>
                    <a:pt x="0" y="0"/>
                  </a:moveTo>
                  <a:lnTo>
                    <a:pt x="261767" y="0"/>
                  </a:lnTo>
                  <a:lnTo>
                    <a:pt x="261767" y="39035"/>
                  </a:lnTo>
                  <a:lnTo>
                    <a:pt x="0" y="39035"/>
                  </a:lnTo>
                  <a:close/>
                </a:path>
              </a:pathLst>
            </a:custGeom>
            <a:solidFill>
              <a:srgbClr val="1800AD"/>
            </a:solidFill>
          </p:spPr>
        </p:sp>
        <p:sp>
          <p:nvSpPr>
            <p:cNvPr id="209" name="TextBox 209"/>
            <p:cNvSpPr txBox="1"/>
            <p:nvPr/>
          </p:nvSpPr>
          <p:spPr>
            <a:xfrm>
              <a:off x="0" y="-28575"/>
              <a:ext cx="261767" cy="67610"/>
            </a:xfrm>
            <a:prstGeom prst="rect">
              <a:avLst/>
            </a:prstGeom>
          </p:spPr>
          <p:txBody>
            <a:bodyPr lIns="50800" tIns="50800" rIns="50800" bIns="50800" rtlCol="0" anchor="ctr"/>
            <a:lstStyle/>
            <a:p>
              <a:pPr algn="ctr">
                <a:lnSpc>
                  <a:spcPts val="1960"/>
                </a:lnSpc>
              </a:pPr>
              <a:endParaRPr/>
            </a:p>
          </p:txBody>
        </p:sp>
      </p:grpSp>
      <p:grpSp>
        <p:nvGrpSpPr>
          <p:cNvPr id="210" name="Group 210"/>
          <p:cNvGrpSpPr/>
          <p:nvPr/>
        </p:nvGrpSpPr>
        <p:grpSpPr>
          <a:xfrm>
            <a:off x="14120898" y="7595697"/>
            <a:ext cx="887689" cy="132375"/>
            <a:chOff x="0" y="0"/>
            <a:chExt cx="261767" cy="39035"/>
          </a:xfrm>
        </p:grpSpPr>
        <p:sp>
          <p:nvSpPr>
            <p:cNvPr id="211" name="Freeform 211"/>
            <p:cNvSpPr/>
            <p:nvPr/>
          </p:nvSpPr>
          <p:spPr>
            <a:xfrm>
              <a:off x="0" y="0"/>
              <a:ext cx="261767" cy="39035"/>
            </a:xfrm>
            <a:custGeom>
              <a:avLst/>
              <a:gdLst/>
              <a:ahLst/>
              <a:cxnLst/>
              <a:rect l="l" t="t" r="r" b="b"/>
              <a:pathLst>
                <a:path w="261767" h="39035">
                  <a:moveTo>
                    <a:pt x="0" y="0"/>
                  </a:moveTo>
                  <a:lnTo>
                    <a:pt x="261767" y="0"/>
                  </a:lnTo>
                  <a:lnTo>
                    <a:pt x="261767" y="39035"/>
                  </a:lnTo>
                  <a:lnTo>
                    <a:pt x="0" y="39035"/>
                  </a:lnTo>
                  <a:close/>
                </a:path>
              </a:pathLst>
            </a:custGeom>
            <a:solidFill>
              <a:srgbClr val="1800AD"/>
            </a:solidFill>
          </p:spPr>
        </p:sp>
        <p:sp>
          <p:nvSpPr>
            <p:cNvPr id="212" name="TextBox 212"/>
            <p:cNvSpPr txBox="1"/>
            <p:nvPr/>
          </p:nvSpPr>
          <p:spPr>
            <a:xfrm>
              <a:off x="0" y="-28575"/>
              <a:ext cx="261767" cy="67610"/>
            </a:xfrm>
            <a:prstGeom prst="rect">
              <a:avLst/>
            </a:prstGeom>
          </p:spPr>
          <p:txBody>
            <a:bodyPr lIns="50800" tIns="50800" rIns="50800" bIns="50800" rtlCol="0" anchor="ctr"/>
            <a:lstStyle/>
            <a:p>
              <a:pPr algn="ctr">
                <a:lnSpc>
                  <a:spcPts val="1960"/>
                </a:lnSpc>
              </a:pPr>
              <a:endParaRPr/>
            </a:p>
          </p:txBody>
        </p:sp>
      </p:grpSp>
      <p:grpSp>
        <p:nvGrpSpPr>
          <p:cNvPr id="213" name="Group 213"/>
          <p:cNvGrpSpPr/>
          <p:nvPr/>
        </p:nvGrpSpPr>
        <p:grpSpPr>
          <a:xfrm>
            <a:off x="14156657" y="8085820"/>
            <a:ext cx="887689" cy="132375"/>
            <a:chOff x="0" y="0"/>
            <a:chExt cx="261767" cy="39035"/>
          </a:xfrm>
        </p:grpSpPr>
        <p:sp>
          <p:nvSpPr>
            <p:cNvPr id="214" name="Freeform 214"/>
            <p:cNvSpPr/>
            <p:nvPr/>
          </p:nvSpPr>
          <p:spPr>
            <a:xfrm>
              <a:off x="0" y="0"/>
              <a:ext cx="261767" cy="39035"/>
            </a:xfrm>
            <a:custGeom>
              <a:avLst/>
              <a:gdLst/>
              <a:ahLst/>
              <a:cxnLst/>
              <a:rect l="l" t="t" r="r" b="b"/>
              <a:pathLst>
                <a:path w="261767" h="39035">
                  <a:moveTo>
                    <a:pt x="0" y="0"/>
                  </a:moveTo>
                  <a:lnTo>
                    <a:pt x="261767" y="0"/>
                  </a:lnTo>
                  <a:lnTo>
                    <a:pt x="261767" y="39035"/>
                  </a:lnTo>
                  <a:lnTo>
                    <a:pt x="0" y="39035"/>
                  </a:lnTo>
                  <a:close/>
                </a:path>
              </a:pathLst>
            </a:custGeom>
            <a:solidFill>
              <a:srgbClr val="1800AD"/>
            </a:solidFill>
          </p:spPr>
        </p:sp>
        <p:sp>
          <p:nvSpPr>
            <p:cNvPr id="215" name="TextBox 215"/>
            <p:cNvSpPr txBox="1"/>
            <p:nvPr/>
          </p:nvSpPr>
          <p:spPr>
            <a:xfrm>
              <a:off x="0" y="-28575"/>
              <a:ext cx="261767" cy="67610"/>
            </a:xfrm>
            <a:prstGeom prst="rect">
              <a:avLst/>
            </a:prstGeom>
          </p:spPr>
          <p:txBody>
            <a:bodyPr lIns="50800" tIns="50800" rIns="50800" bIns="50800" rtlCol="0" anchor="ctr"/>
            <a:lstStyle/>
            <a:p>
              <a:pPr algn="ctr">
                <a:lnSpc>
                  <a:spcPts val="1960"/>
                </a:lnSpc>
              </a:pPr>
              <a:endParaRPr/>
            </a:p>
          </p:txBody>
        </p:sp>
      </p:grpSp>
      <p:grpSp>
        <p:nvGrpSpPr>
          <p:cNvPr id="216" name="Group 216"/>
          <p:cNvGrpSpPr/>
          <p:nvPr/>
        </p:nvGrpSpPr>
        <p:grpSpPr>
          <a:xfrm>
            <a:off x="14138778" y="8612981"/>
            <a:ext cx="887689" cy="132375"/>
            <a:chOff x="0" y="0"/>
            <a:chExt cx="261767" cy="39035"/>
          </a:xfrm>
        </p:grpSpPr>
        <p:sp>
          <p:nvSpPr>
            <p:cNvPr id="217" name="Freeform 217"/>
            <p:cNvSpPr/>
            <p:nvPr/>
          </p:nvSpPr>
          <p:spPr>
            <a:xfrm>
              <a:off x="0" y="0"/>
              <a:ext cx="261767" cy="39035"/>
            </a:xfrm>
            <a:custGeom>
              <a:avLst/>
              <a:gdLst/>
              <a:ahLst/>
              <a:cxnLst/>
              <a:rect l="l" t="t" r="r" b="b"/>
              <a:pathLst>
                <a:path w="261767" h="39035">
                  <a:moveTo>
                    <a:pt x="0" y="0"/>
                  </a:moveTo>
                  <a:lnTo>
                    <a:pt x="261767" y="0"/>
                  </a:lnTo>
                  <a:lnTo>
                    <a:pt x="261767" y="39035"/>
                  </a:lnTo>
                  <a:lnTo>
                    <a:pt x="0" y="39035"/>
                  </a:lnTo>
                  <a:close/>
                </a:path>
              </a:pathLst>
            </a:custGeom>
            <a:solidFill>
              <a:srgbClr val="1800AD"/>
            </a:solidFill>
          </p:spPr>
        </p:sp>
        <p:sp>
          <p:nvSpPr>
            <p:cNvPr id="218" name="TextBox 218"/>
            <p:cNvSpPr txBox="1"/>
            <p:nvPr/>
          </p:nvSpPr>
          <p:spPr>
            <a:xfrm>
              <a:off x="0" y="-28575"/>
              <a:ext cx="261767" cy="67610"/>
            </a:xfrm>
            <a:prstGeom prst="rect">
              <a:avLst/>
            </a:prstGeom>
          </p:spPr>
          <p:txBody>
            <a:bodyPr lIns="50800" tIns="50800" rIns="50800" bIns="50800" rtlCol="0" anchor="ctr"/>
            <a:lstStyle/>
            <a:p>
              <a:pPr algn="ctr">
                <a:lnSpc>
                  <a:spcPts val="1960"/>
                </a:lnSpc>
              </a:pPr>
              <a:endParaRPr/>
            </a:p>
          </p:txBody>
        </p:sp>
      </p:grpSp>
      <p:grpSp>
        <p:nvGrpSpPr>
          <p:cNvPr id="219" name="Group 219"/>
          <p:cNvGrpSpPr/>
          <p:nvPr/>
        </p:nvGrpSpPr>
        <p:grpSpPr>
          <a:xfrm>
            <a:off x="15044346" y="9009810"/>
            <a:ext cx="1815293" cy="118148"/>
            <a:chOff x="0" y="0"/>
            <a:chExt cx="535304" cy="34840"/>
          </a:xfrm>
        </p:grpSpPr>
        <p:sp>
          <p:nvSpPr>
            <p:cNvPr id="220" name="Freeform 220"/>
            <p:cNvSpPr/>
            <p:nvPr/>
          </p:nvSpPr>
          <p:spPr>
            <a:xfrm>
              <a:off x="0" y="0"/>
              <a:ext cx="535304" cy="34840"/>
            </a:xfrm>
            <a:custGeom>
              <a:avLst/>
              <a:gdLst/>
              <a:ahLst/>
              <a:cxnLst/>
              <a:rect l="l" t="t" r="r" b="b"/>
              <a:pathLst>
                <a:path w="535304" h="34840">
                  <a:moveTo>
                    <a:pt x="0" y="0"/>
                  </a:moveTo>
                  <a:lnTo>
                    <a:pt x="535304" y="0"/>
                  </a:lnTo>
                  <a:lnTo>
                    <a:pt x="535304" y="34840"/>
                  </a:lnTo>
                  <a:lnTo>
                    <a:pt x="0" y="34840"/>
                  </a:lnTo>
                  <a:close/>
                </a:path>
              </a:pathLst>
            </a:custGeom>
            <a:solidFill>
              <a:srgbClr val="1800AD"/>
            </a:solidFill>
          </p:spPr>
        </p:sp>
        <p:sp>
          <p:nvSpPr>
            <p:cNvPr id="221" name="TextBox 221"/>
            <p:cNvSpPr txBox="1"/>
            <p:nvPr/>
          </p:nvSpPr>
          <p:spPr>
            <a:xfrm>
              <a:off x="0" y="-28575"/>
              <a:ext cx="535304" cy="63415"/>
            </a:xfrm>
            <a:prstGeom prst="rect">
              <a:avLst/>
            </a:prstGeom>
          </p:spPr>
          <p:txBody>
            <a:bodyPr lIns="50800" tIns="50800" rIns="50800" bIns="50800" rtlCol="0" anchor="ctr"/>
            <a:lstStyle/>
            <a:p>
              <a:pPr algn="ctr">
                <a:lnSpc>
                  <a:spcPts val="1960"/>
                </a:lnSpc>
              </a:pPr>
              <a:endParaRPr/>
            </a:p>
          </p:txBody>
        </p:sp>
      </p:grpSp>
      <p:sp>
        <p:nvSpPr>
          <p:cNvPr id="222" name="TextBox 222"/>
          <p:cNvSpPr txBox="1"/>
          <p:nvPr/>
        </p:nvSpPr>
        <p:spPr>
          <a:xfrm>
            <a:off x="4884958" y="870415"/>
            <a:ext cx="8971394" cy="323622"/>
          </a:xfrm>
          <a:prstGeom prst="rect">
            <a:avLst/>
          </a:prstGeom>
        </p:spPr>
        <p:txBody>
          <a:bodyPr lIns="0" tIns="0" rIns="0" bIns="0" rtlCol="0" anchor="t">
            <a:spAutoFit/>
          </a:bodyPr>
          <a:lstStyle/>
          <a:p>
            <a:pPr algn="ctr">
              <a:lnSpc>
                <a:spcPts val="2637"/>
              </a:lnSpc>
              <a:spcBef>
                <a:spcPct val="0"/>
              </a:spcBef>
            </a:pPr>
            <a:r>
              <a:rPr lang="en-US" sz="1883">
                <a:solidFill>
                  <a:srgbClr val="000000"/>
                </a:solidFill>
                <a:latin typeface="Anton"/>
                <a:ea typeface="Anton"/>
                <a:cs typeface="Anton"/>
                <a:sym typeface="Anton"/>
              </a:rPr>
              <a:t>Research Project Gantt Chart (Jan 2026 - Dec 2026)</a:t>
            </a:r>
          </a:p>
        </p:txBody>
      </p:sp>
      <p:sp>
        <p:nvSpPr>
          <p:cNvPr id="223" name="TextBox 223"/>
          <p:cNvSpPr txBox="1"/>
          <p:nvPr/>
        </p:nvSpPr>
        <p:spPr>
          <a:xfrm>
            <a:off x="1293325" y="525361"/>
            <a:ext cx="8389620" cy="428625"/>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Gantt Chart</a:t>
            </a:r>
          </a:p>
        </p:txBody>
      </p:sp>
      <p:grpSp>
        <p:nvGrpSpPr>
          <p:cNvPr id="224" name="Group 224"/>
          <p:cNvGrpSpPr/>
          <p:nvPr/>
        </p:nvGrpSpPr>
        <p:grpSpPr>
          <a:xfrm>
            <a:off x="0" y="9559957"/>
            <a:ext cx="3771900" cy="735463"/>
            <a:chOff x="0" y="0"/>
            <a:chExt cx="5029200" cy="980618"/>
          </a:xfrm>
        </p:grpSpPr>
        <p:sp>
          <p:nvSpPr>
            <p:cNvPr id="225" name="Freeform 225"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2"/>
              <a:stretch>
                <a:fillRect t="-929488" r="-256844" b="-5"/>
              </a:stretch>
            </a:blipFill>
          </p:spPr>
        </p:sp>
      </p:grpSp>
      <p:sp>
        <p:nvSpPr>
          <p:cNvPr id="226" name="TextBox 226"/>
          <p:cNvSpPr txBox="1"/>
          <p:nvPr/>
        </p:nvSpPr>
        <p:spPr>
          <a:xfrm>
            <a:off x="15521940" y="9841601"/>
            <a:ext cx="1417320" cy="5429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a:p>
            <a:pPr algn="l">
              <a:lnSpc>
                <a:spcPts val="2160"/>
              </a:lnSpc>
            </a:pPr>
            <a:endParaRPr lang="en-US" sz="1800" b="1">
              <a:solidFill>
                <a:srgbClr val="000000"/>
              </a:solidFill>
              <a:latin typeface="Cambria Bold"/>
              <a:ea typeface="Cambria Bold"/>
              <a:cs typeface="Cambria Bold"/>
              <a:sym typeface="Cambria 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93325" y="1028700"/>
            <a:ext cx="14918844" cy="8481122"/>
          </a:xfrm>
          <a:custGeom>
            <a:avLst/>
            <a:gdLst/>
            <a:ahLst/>
            <a:cxnLst/>
            <a:rect l="l" t="t" r="r" b="b"/>
            <a:pathLst>
              <a:path w="14918844" h="8481122">
                <a:moveTo>
                  <a:pt x="0" y="0"/>
                </a:moveTo>
                <a:lnTo>
                  <a:pt x="14918843" y="0"/>
                </a:lnTo>
                <a:lnTo>
                  <a:pt x="14918843" y="8481122"/>
                </a:lnTo>
                <a:lnTo>
                  <a:pt x="0" y="8481122"/>
                </a:lnTo>
                <a:lnTo>
                  <a:pt x="0" y="0"/>
                </a:lnTo>
                <a:close/>
              </a:path>
            </a:pathLst>
          </a:custGeom>
          <a:blipFill>
            <a:blip r:embed="rId2"/>
            <a:stretch>
              <a:fillRect l="-3666" t="-8402" b="-13092"/>
            </a:stretch>
          </a:blipFill>
        </p:spPr>
      </p:sp>
      <p:sp>
        <p:nvSpPr>
          <p:cNvPr id="3" name="TextBox 3"/>
          <p:cNvSpPr txBox="1"/>
          <p:nvPr/>
        </p:nvSpPr>
        <p:spPr>
          <a:xfrm>
            <a:off x="1293325" y="525361"/>
            <a:ext cx="8389620" cy="428625"/>
          </a:xfrm>
          <a:prstGeom prst="rect">
            <a:avLst/>
          </a:prstGeom>
        </p:spPr>
        <p:txBody>
          <a:bodyPr lIns="0" tIns="0" rIns="0" bIns="0" rtlCol="0" anchor="t">
            <a:spAutoFit/>
          </a:bodyPr>
          <a:lstStyle/>
          <a:p>
            <a:pPr algn="l">
              <a:lnSpc>
                <a:spcPts val="3240"/>
              </a:lnSpc>
            </a:pPr>
            <a:r>
              <a:rPr lang="en-US" sz="2700" b="1">
                <a:solidFill>
                  <a:srgbClr val="000000"/>
                </a:solidFill>
                <a:latin typeface="Cambria Bold"/>
                <a:ea typeface="Cambria Bold"/>
                <a:cs typeface="Cambria Bold"/>
                <a:sym typeface="Cambria Bold"/>
              </a:rPr>
              <a:t>Work Breakdown Structure (WBS)</a:t>
            </a:r>
          </a:p>
        </p:txBody>
      </p:sp>
      <p:sp>
        <p:nvSpPr>
          <p:cNvPr id="4" name="TextBox 4"/>
          <p:cNvSpPr txBox="1"/>
          <p:nvPr/>
        </p:nvSpPr>
        <p:spPr>
          <a:xfrm>
            <a:off x="15521940" y="9841601"/>
            <a:ext cx="1417320" cy="5429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3/20/2026</a:t>
            </a:r>
          </a:p>
          <a:p>
            <a:pPr algn="l">
              <a:lnSpc>
                <a:spcPts val="2160"/>
              </a:lnSpc>
            </a:pPr>
            <a:endParaRPr lang="en-US" sz="1800" b="1">
              <a:solidFill>
                <a:srgbClr val="000000"/>
              </a:solidFill>
              <a:latin typeface="Cambria Bold"/>
              <a:ea typeface="Cambria Bold"/>
              <a:cs typeface="Cambria Bold"/>
              <a:sym typeface="Cambria Bold"/>
            </a:endParaRPr>
          </a:p>
        </p:txBody>
      </p:sp>
      <p:grpSp>
        <p:nvGrpSpPr>
          <p:cNvPr id="5" name="Group 5"/>
          <p:cNvGrpSpPr/>
          <p:nvPr/>
        </p:nvGrpSpPr>
        <p:grpSpPr>
          <a:xfrm>
            <a:off x="0" y="9559957"/>
            <a:ext cx="3771900" cy="735463"/>
            <a:chOff x="0" y="0"/>
            <a:chExt cx="5029200" cy="980618"/>
          </a:xfrm>
        </p:grpSpPr>
        <p:sp>
          <p:nvSpPr>
            <p:cNvPr id="6" name="Freeform 6"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3"/>
              <a:stretch>
                <a:fillRect t="-929488" r="-256844" b="-5"/>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1335</TotalTime>
  <Words>3010</Words>
  <Application>Microsoft Office PowerPoint</Application>
  <PresentationFormat>Custom</PresentationFormat>
  <Paragraphs>381</Paragraphs>
  <Slides>22</Slides>
  <Notes>0</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Arimo Bold</vt:lpstr>
      <vt:lpstr>Anton</vt:lpstr>
      <vt:lpstr>Poppins</vt:lpstr>
      <vt:lpstr>Arial</vt:lpstr>
      <vt:lpstr>Calibri</vt:lpstr>
      <vt:lpstr>Cambria Bold</vt:lpstr>
      <vt:lpstr>Cambria</vt:lpstr>
      <vt:lpstr>Poppins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Template-1.pptx</dc:title>
  <cp:lastModifiedBy>HEWAPATHIRANA N T it22371836</cp:lastModifiedBy>
  <cp:revision>2</cp:revision>
  <dcterms:created xsi:type="dcterms:W3CDTF">2006-08-16T00:00:00Z</dcterms:created>
  <dcterms:modified xsi:type="dcterms:W3CDTF">2026-04-06T04:52:41Z</dcterms:modified>
  <dc:identifier>DAHE-eKTIek</dc:identifier>
</cp:coreProperties>
</file>