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3"/>
  </p:sldMasterIdLst>
  <p:notesMasterIdLst>
    <p:notesMasterId r:id="rId35"/>
  </p:notesMasterIdLst>
  <p:handoutMasterIdLst>
    <p:handoutMasterId r:id="rId36"/>
  </p:handoutMasterIdLst>
  <p:sldIdLst>
    <p:sldId id="277" r:id="rId4"/>
    <p:sldId id="297" r:id="rId5"/>
    <p:sldId id="393" r:id="rId6"/>
    <p:sldId id="298" r:id="rId7"/>
    <p:sldId id="533" r:id="rId8"/>
    <p:sldId id="300" r:id="rId9"/>
    <p:sldId id="264" r:id="rId10"/>
    <p:sldId id="390" r:id="rId11"/>
    <p:sldId id="534" r:id="rId12"/>
    <p:sldId id="519" r:id="rId13"/>
    <p:sldId id="523" r:id="rId14"/>
    <p:sldId id="524" r:id="rId15"/>
    <p:sldId id="520" r:id="rId16"/>
    <p:sldId id="521" r:id="rId17"/>
    <p:sldId id="522" r:id="rId18"/>
    <p:sldId id="512" r:id="rId19"/>
    <p:sldId id="513" r:id="rId20"/>
    <p:sldId id="274" r:id="rId21"/>
    <p:sldId id="537" r:id="rId22"/>
    <p:sldId id="517" r:id="rId23"/>
    <p:sldId id="536" r:id="rId24"/>
    <p:sldId id="516" r:id="rId25"/>
    <p:sldId id="518" r:id="rId26"/>
    <p:sldId id="532" r:id="rId27"/>
    <p:sldId id="525" r:id="rId28"/>
    <p:sldId id="527" r:id="rId29"/>
    <p:sldId id="528" r:id="rId30"/>
    <p:sldId id="531" r:id="rId31"/>
    <p:sldId id="529" r:id="rId32"/>
    <p:sldId id="511" r:id="rId33"/>
    <p:sldId id="433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4617B"/>
    <a:srgbClr val="DFECE8"/>
    <a:srgbClr val="A36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86" autoAdjust="0"/>
    <p:restoredTop sz="94660"/>
  </p:normalViewPr>
  <p:slideViewPr>
    <p:cSldViewPr>
      <p:cViewPr varScale="1">
        <p:scale>
          <a:sx n="82" d="100"/>
          <a:sy n="82" d="100"/>
        </p:scale>
        <p:origin x="56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2568" y="3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heme" Target="theme/theme1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3T07:18:58.92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2-03T07:19:49.534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169 111 24575,'-65'-53'0,"16"12"0,44 38 0,-17-11 0,22 14 0,-1 0 0,1 0 0,-1 0 0,1 0 0,-1 0 0,1 0 0,-1 0 0,1 1 0,-1-1 0,1 0 0,-1 0 0,1 0 0,-1 0 0,1 1 0,0-1 0,-1 0 0,1 0 0,-1 1 0,1-1 0,-1 0 0,1 1 0,0-1 0,-1 0 0,1 1 0,0-1 0,-1 1 0,1-1 0,0 0 0,0 1 0,0-1 0,-1 1 0,1-1 0,0 1 0,0-1 0,0 1 0,0-1 0,0 1 0,0-1 0,0 1 0,0-1 0,0 1 0,0-1 0,0 1 0,0 0 0,-7 24 0,6-22 0,-1 1 0,1 0 0,0 0 0,0 0 0,1 0 0,-1 0 0,1 0 0,-1 4 0,2-7 0,-1-1 0,0 1 0,0 0 0,0-1 0,1 1 0,-1 0 0,0-1 0,0 1 0,1-1 0,-1 1 0,1 0 0,-1-1 0,1 1 0,-1-1 0,1 1 0,-1-1 0,1 1 0,-1-1 0,1 0 0,0 1 0,1 0 0,0 0 0,0-1 0,0 1 0,0-1 0,0 0 0,0 0 0,-1 0 0,1 1 0,0-2 0,4 1 0,88-20 0,-16 1 0,-53 12 0,12-4 0,-14 4 0,42-7 0,-42 6 0,-2 1 0,-20 7 0,0 0 0,-1 1 0,1-1 0,0 0 0,0 0 0,0 1 0,0-1 0,0 0 0,0 1 0,-1-1 0,1 1 0,0-1 0,0 1 0,-1 0 0,1-1 0,0 1 0,-1 0 0,1-1 0,-1 1 0,1 0 0,-1 0 0,1 0 0,0 1 0,2 2 0,0 1 0,1-1 0,0 0 0,0 0 0,0-1 0,0 1 0,1-1 0,-1 1 0,1-2 0,0 1 0,0 0 0,0-1 0,0 0 0,0 0 0,0 0 0,1-1 0,10 2 0,9 0 0,0-1 0,42-1 0,-43-1 0,107 5 0,114 2 0,-173-8 0,-63-1 0,-22-2 0,-24-1 0,-58-1 0,95 6 0,-1 0 0,1 0 0,0 0 0,0 0 0,0 0 0,-1 0 0,1 0 0,0 0 0,0 0 0,0 0 0,-1 0 0,1 0 0,0 0 0,0 0 0,-1 0 0,1 1 0,0-1 0,0 0 0,0 0 0,0 0 0,-1 0 0,1 0 0,0 0 0,0 1 0,0-1 0,0 0 0,-1 0 0,1 0 0,0 0 0,0 1 0,0-1 0,0 0 0,0 0 0,0 0 0,0 1 0,0-1 0,-1 0 0,1 0 0,0 0 0,0 1 0,0-1 0,0 0 0,0 0 0,0 1 0,0-1 0,0 0 0,0 0 0,1 0 0,-1 1 0,0-1 0,0 0 0,0 1 0,0-1 0,0 1 0,0-1 0,0 0 0,0 1 0,0-1 0,0 0 0,0 1 0,0-1 0,0 0 0,0 1 0,-1-1 0,1 1 0,0-1 0,0 0 0,0 1 0,0-1 0,-1 0 0,1 0 0,0 1 0,0-1 0,-1 0 0,1 1 0,0-1 0,0 0 0,-1 0 0,1 0 0,0 1 0,-1-1 0,1 0 0,0 0 0,-1 0 0,1 0 0,0 0 0,-1 1 0,1-1 0,0 0 0,-1 0 0,1 0 0,-1 0 0,1 0 0,0 0 0,-1 0 0,0-1 0,-132 2 0,119-2 0,85 0 0,76 2 0,-140 0 0,34 3 0,74-3 0,-33-14 0,-62 10 0,11-1 0,35 0 0,-54 4 0,0-1 0,0-1 0,14-3 0,-14 2 0,0 1 0,-1 0 0,18 0 0,-20 1 0,0 0 0,0 0 0,1 0 0,10-5 0,22-2 0,-24 0 0,-17 5 0,-11 3 0,-32 10 0,-47 18 0,71-23 0,0 0 0,0-1 0,0-1 0,-22 0 0,-77-1 0,69-3 0,-7 2 0,-62-3 0,72-3 0,-45-1 0,78 4 0,10 1 0,0 1 0,0-1 0,0 1 0,0-1 0,0 1 0,0 0 0,0 0 0,0 0 0,-4 1 0,17 2-1365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ITXXXXXXXX</a:t>
            </a:r>
            <a:r>
              <a:rPr lang="en-US" sz="1800" dirty="0">
                <a:solidFill>
                  <a:schemeClr val="tx1"/>
                </a:solidFill>
              </a:rPr>
              <a:t>   |   &lt;</a:t>
            </a:r>
            <a:r>
              <a:rPr lang="en-US" sz="1800" b="1" dirty="0">
                <a:solidFill>
                  <a:schemeClr val="tx1"/>
                </a:solidFill>
              </a:rPr>
              <a:t>&lt;Student Name&gt;&gt;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b="0" dirty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5/11/2026</a:t>
            </a:fld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customXml" Target="../ink/ink2.xml"/><Relationship Id="rId5" Type="http://schemas.openxmlformats.org/officeDocument/2006/relationships/image" Target="../media/image39.png"/><Relationship Id="rId4" Type="http://schemas.openxmlformats.org/officeDocument/2006/relationships/customXml" Target="../ink/ink1.xml"/><Relationship Id="rId9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jpeg"/><Relationship Id="rId4" Type="http://schemas.openxmlformats.org/officeDocument/2006/relationships/image" Target="../media/image34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75E098-F3D0-453C-BBF5-A7C840F21F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6600" y="1766777"/>
            <a:ext cx="5105400" cy="3250019"/>
          </a:xfrm>
        </p:spPr>
        <p:txBody>
          <a:bodyPr>
            <a:normAutofit/>
          </a:bodyPr>
          <a:lstStyle/>
          <a:p>
            <a:r>
              <a:rPr lang="en-US" sz="2800" b="1" dirty="0" err="1"/>
              <a:t>Weda.lk</a:t>
            </a:r>
            <a:r>
              <a:rPr lang="en-US" sz="2800" dirty="0" err="1"/>
              <a:t>:</a:t>
            </a:r>
            <a:r>
              <a:rPr lang="en-US" sz="2800" dirty="0" err="1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AI</a:t>
            </a:r>
            <a:r>
              <a:rPr lang="en-US" sz="28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/ML Driven Maintenance Service Provider Matching Platform For Sri Lanka</a:t>
            </a:r>
            <a:br>
              <a:rPr lang="en-US" sz="28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</a:br>
            <a:endParaRPr lang="en-US" sz="28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88F3F03-40A0-499D-BDCC-A8E886D9D7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06340" y="4495800"/>
            <a:ext cx="4953000" cy="609600"/>
          </a:xfrm>
        </p:spPr>
        <p:txBody>
          <a:bodyPr>
            <a:normAutofit/>
          </a:bodyPr>
          <a:lstStyle/>
          <a:p>
            <a:r>
              <a:rPr lang="en-US" sz="1800" dirty="0">
                <a:effectLst/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Project ID: </a:t>
            </a:r>
            <a:r>
              <a:rPr lang="en-US" sz="1800" dirty="0"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dirty="0">
              <a:effectLst/>
              <a:latin typeface="Century Gothic (Headings)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sz="4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6F2186-9C44-5E55-956E-B546F998BC58}"/>
              </a:ext>
            </a:extLst>
          </p:cNvPr>
          <p:cNvSpPr/>
          <p:nvPr/>
        </p:nvSpPr>
        <p:spPr>
          <a:xfrm>
            <a:off x="6248400" y="0"/>
            <a:ext cx="383435" cy="600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1F21EC-333A-C00F-25A1-DBB0BA73F5BD}"/>
              </a:ext>
            </a:extLst>
          </p:cNvPr>
          <p:cNvSpPr/>
          <p:nvPr/>
        </p:nvSpPr>
        <p:spPr>
          <a:xfrm>
            <a:off x="6631837" y="0"/>
            <a:ext cx="235023" cy="571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3D465B-E0F9-D08F-6A40-E9791640E8D2}"/>
              </a:ext>
            </a:extLst>
          </p:cNvPr>
          <p:cNvSpPr/>
          <p:nvPr/>
        </p:nvSpPr>
        <p:spPr>
          <a:xfrm rot="5400000">
            <a:off x="3398875" y="2316125"/>
            <a:ext cx="288850" cy="7086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B092C6-1C6F-6297-2D6D-977E9C5B13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392961"/>
            <a:ext cx="1804878" cy="18048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7446527-1EF4-908B-586A-54A938E118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874" y="-6927"/>
            <a:ext cx="6639709" cy="60038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450E67D-7C3F-A5CD-BF3A-31E3DB1CD013}"/>
              </a:ext>
            </a:extLst>
          </p:cNvPr>
          <p:cNvSpPr/>
          <p:nvPr/>
        </p:nvSpPr>
        <p:spPr>
          <a:xfrm rot="5400000">
            <a:off x="9267493" y="3079343"/>
            <a:ext cx="288850" cy="5560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88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8CE42-A398-3BF4-C164-6404A17A03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6642" y="702908"/>
            <a:ext cx="4800600" cy="838200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01. 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0DFB02-FD12-A102-B6C9-FDDEA28951AC}"/>
              </a:ext>
            </a:extLst>
          </p:cNvPr>
          <p:cNvSpPr txBox="1"/>
          <p:nvPr/>
        </p:nvSpPr>
        <p:spPr>
          <a:xfrm>
            <a:off x="905570" y="1770221"/>
            <a:ext cx="3806837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The Core Problem:</a:t>
            </a:r>
          </a:p>
          <a:p>
            <a:endParaRPr lang="en-US" sz="16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In Sri Lanka, users seeking services (AC repair, plumbing, electrical work) rely on inefficient listing-based platforms (e.g., classified websites). These platforms provide long, static lists without intelligent filtering.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71E436-7F92-E68F-F046-8DC63BF8BB25}"/>
              </a:ext>
            </a:extLst>
          </p:cNvPr>
          <p:cNvSpPr txBox="1"/>
          <p:nvPr/>
        </p:nvSpPr>
        <p:spPr>
          <a:xfrm>
            <a:off x="7467600" y="1908720"/>
            <a:ext cx="37338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The Gravity : for Users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latin typeface="Aptos" panose="020B0004020202020204" pitchFamily="34" charset="0"/>
              </a:rPr>
              <a:t>AcademicWasted</a:t>
            </a:r>
            <a:r>
              <a:rPr lang="en-US" sz="1600" dirty="0">
                <a:latin typeface="Aptos" panose="020B0004020202020204" pitchFamily="34" charset="0"/>
              </a:rPr>
              <a:t> time contacting multiple providers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High risk of selecting unqualified or unavailable providers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Inefficient and unreliable matching.</a:t>
            </a:r>
          </a:p>
        </p:txBody>
      </p:sp>
      <p:pic>
        <p:nvPicPr>
          <p:cNvPr id="8" name="Google Shape;378;p51">
            <a:extLst>
              <a:ext uri="{FF2B5EF4-FFF2-40B4-BE49-F238E27FC236}">
                <a16:creationId xmlns:a16="http://schemas.microsoft.com/office/drawing/2014/main" id="{C2AB4829-87E3-A908-6A73-52AC0F1DC32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56126"/>
          <a:stretch/>
        </p:blipFill>
        <p:spPr>
          <a:xfrm>
            <a:off x="5144275" y="1344312"/>
            <a:ext cx="1650485" cy="236988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B9BA4E-21EA-18C5-5067-4129A78B1E0B}"/>
              </a:ext>
            </a:extLst>
          </p:cNvPr>
          <p:cNvSpPr txBox="1"/>
          <p:nvPr/>
        </p:nvSpPr>
        <p:spPr>
          <a:xfrm>
            <a:off x="4327643" y="4393944"/>
            <a:ext cx="3795306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The Gravity : For Society &amp; Trust</a:t>
            </a:r>
            <a:endParaRPr lang="en-US" sz="1600" b="1" dirty="0">
              <a:solidFill>
                <a:schemeClr val="bg1">
                  <a:lumMod val="50000"/>
                </a:schemeClr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Increased time and effort for basic service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Poor service quality due to incorrect matching.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Loss of trust in digital service platforms.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ptos" panose="020B0004020202020204" pitchFamily="34" charset="0"/>
              </a:rPr>
              <a:t>Reduced income opportunities for skilled but less visible providers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750EBD-BC78-F275-FDA3-9F2FD3A98EA6}"/>
              </a:ext>
            </a:extLst>
          </p:cNvPr>
          <p:cNvSpPr/>
          <p:nvPr/>
        </p:nvSpPr>
        <p:spPr>
          <a:xfrm>
            <a:off x="11887200" y="1404057"/>
            <a:ext cx="320750" cy="4864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162AF77-0F31-8417-C503-0A4953141A27}"/>
              </a:ext>
            </a:extLst>
          </p:cNvPr>
          <p:cNvSpPr/>
          <p:nvPr/>
        </p:nvSpPr>
        <p:spPr>
          <a:xfrm>
            <a:off x="667843" y="1524000"/>
            <a:ext cx="4199402" cy="2616101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2E8E2E3-EE6E-A5E2-E0CB-134CF6A670FB}"/>
              </a:ext>
            </a:extLst>
          </p:cNvPr>
          <p:cNvSpPr/>
          <p:nvPr/>
        </p:nvSpPr>
        <p:spPr>
          <a:xfrm>
            <a:off x="4038600" y="4343399"/>
            <a:ext cx="4199402" cy="2369879"/>
          </a:xfrm>
          <a:prstGeom prst="round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4DC7BB1-4F2F-5B4C-6019-B0968A96D193}"/>
              </a:ext>
            </a:extLst>
          </p:cNvPr>
          <p:cNvSpPr/>
          <p:nvPr/>
        </p:nvSpPr>
        <p:spPr>
          <a:xfrm>
            <a:off x="7187325" y="1524000"/>
            <a:ext cx="4099105" cy="2616101"/>
          </a:xfrm>
          <a:prstGeom prst="round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2ACFAA0-F382-8E00-5B6C-99013DD989ED}"/>
              </a:ext>
            </a:extLst>
          </p:cNvPr>
          <p:cNvSpPr/>
          <p:nvPr/>
        </p:nvSpPr>
        <p:spPr>
          <a:xfrm>
            <a:off x="11427490" y="5304068"/>
            <a:ext cx="242161" cy="17980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45D7F83-A5B5-2FAB-D7CD-C4A20CE4BF51}"/>
              </a:ext>
            </a:extLst>
          </p:cNvPr>
          <p:cNvSpPr/>
          <p:nvPr/>
        </p:nvSpPr>
        <p:spPr>
          <a:xfrm>
            <a:off x="11430000" y="5660157"/>
            <a:ext cx="242161" cy="17980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BAF9DCC-4650-1119-FBE7-B4A1F8E7E629}"/>
              </a:ext>
            </a:extLst>
          </p:cNvPr>
          <p:cNvSpPr/>
          <p:nvPr/>
        </p:nvSpPr>
        <p:spPr>
          <a:xfrm>
            <a:off x="11432779" y="6014048"/>
            <a:ext cx="242161" cy="17980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B9E449-94B7-4B86-8217-808225475287}"/>
              </a:ext>
            </a:extLst>
          </p:cNvPr>
          <p:cNvSpPr/>
          <p:nvPr/>
        </p:nvSpPr>
        <p:spPr>
          <a:xfrm rot="5400000">
            <a:off x="3033695" y="-2271695"/>
            <a:ext cx="320750" cy="4864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C8E618F-2A18-6C73-915F-99697CC7678F}"/>
              </a:ext>
            </a:extLst>
          </p:cNvPr>
          <p:cNvSpPr/>
          <p:nvPr/>
        </p:nvSpPr>
        <p:spPr>
          <a:xfrm>
            <a:off x="802966" y="467809"/>
            <a:ext cx="242161" cy="17980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53CF38A-3D53-5046-0FD2-567B330F524F}"/>
              </a:ext>
            </a:extLst>
          </p:cNvPr>
          <p:cNvSpPr/>
          <p:nvPr/>
        </p:nvSpPr>
        <p:spPr>
          <a:xfrm>
            <a:off x="1144562" y="458260"/>
            <a:ext cx="242161" cy="17980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E519D46-4CD7-D612-7D86-7BB63B1C5678}"/>
              </a:ext>
            </a:extLst>
          </p:cNvPr>
          <p:cNvSpPr/>
          <p:nvPr/>
        </p:nvSpPr>
        <p:spPr>
          <a:xfrm>
            <a:off x="1481837" y="467808"/>
            <a:ext cx="242161" cy="17980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F85C790-6A92-5E0C-FCCF-B901AE27EA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4200" y="1"/>
            <a:ext cx="146963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292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8880C-9C3B-BCFE-7664-9CC3F2C98B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084" y="224289"/>
            <a:ext cx="6172200" cy="99156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Introduction Cont.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1CE758-ABAB-617E-654B-46D95A25EBDF}"/>
              </a:ext>
            </a:extLst>
          </p:cNvPr>
          <p:cNvSpPr txBox="1"/>
          <p:nvPr/>
        </p:nvSpPr>
        <p:spPr>
          <a:xfrm>
            <a:off x="1524000" y="3721894"/>
            <a:ext cx="37338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rPr>
              <a:t>Who will be benefited?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Google Shape;406;p53">
            <a:extLst>
              <a:ext uri="{FF2B5EF4-FFF2-40B4-BE49-F238E27FC236}">
                <a16:creationId xmlns:a16="http://schemas.microsoft.com/office/drawing/2014/main" id="{3848FC49-5427-53F7-0C6B-9779A6EDAC8C}"/>
              </a:ext>
            </a:extLst>
          </p:cNvPr>
          <p:cNvSpPr/>
          <p:nvPr/>
        </p:nvSpPr>
        <p:spPr>
          <a:xfrm rot="8084128" flipH="1">
            <a:off x="5300553" y="2885370"/>
            <a:ext cx="2160563" cy="1264785"/>
          </a:xfrm>
          <a:prstGeom prst="bentArrow">
            <a:avLst>
              <a:gd name="adj1" fmla="val 13210"/>
              <a:gd name="adj2" fmla="val 23576"/>
              <a:gd name="adj3" fmla="val 44278"/>
              <a:gd name="adj4" fmla="val 79401"/>
            </a:avLst>
          </a:prstGeom>
          <a:gradFill>
            <a:gsLst>
              <a:gs pos="0">
                <a:schemeClr val="accent1"/>
              </a:gs>
              <a:gs pos="50000">
                <a:schemeClr val="accent1"/>
              </a:gs>
              <a:gs pos="100000">
                <a:schemeClr val="accent2"/>
              </a:gs>
            </a:gsLst>
            <a:lin ang="16198662" scaled="0"/>
          </a:gra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AE7CAC-1F2B-B93E-3997-ED1658267708}"/>
              </a:ext>
            </a:extLst>
          </p:cNvPr>
          <p:cNvSpPr txBox="1"/>
          <p:nvPr/>
        </p:nvSpPr>
        <p:spPr>
          <a:xfrm>
            <a:off x="7924800" y="2007275"/>
            <a:ext cx="30882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Individuals &amp; Households (Primary Users)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Skilled but Less Visible Providers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General Society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Digital Platform Ecosystem</a:t>
            </a:r>
          </a:p>
        </p:txBody>
      </p:sp>
      <p:pic>
        <p:nvPicPr>
          <p:cNvPr id="10" name="Google Shape;392;p52">
            <a:extLst>
              <a:ext uri="{FF2B5EF4-FFF2-40B4-BE49-F238E27FC236}">
                <a16:creationId xmlns:a16="http://schemas.microsoft.com/office/drawing/2014/main" id="{3B93ADDD-CAA8-0277-A225-D3572CA1AEF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l="43965" r="5214"/>
          <a:stretch/>
        </p:blipFill>
        <p:spPr>
          <a:xfrm>
            <a:off x="5839840" y="4295887"/>
            <a:ext cx="2050324" cy="25294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4578AB3-DA39-3BB6-463E-57A6DBCC2128}"/>
              </a:ext>
            </a:extLst>
          </p:cNvPr>
          <p:cNvSpPr/>
          <p:nvPr/>
        </p:nvSpPr>
        <p:spPr>
          <a:xfrm>
            <a:off x="1143000" y="3124200"/>
            <a:ext cx="3618912" cy="1606057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4E72153-43FB-6C92-2FEE-7C94FE2C754C}"/>
              </a:ext>
            </a:extLst>
          </p:cNvPr>
          <p:cNvSpPr/>
          <p:nvPr/>
        </p:nvSpPr>
        <p:spPr>
          <a:xfrm>
            <a:off x="7662976" y="1766487"/>
            <a:ext cx="3618912" cy="252940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light bulb and gear with arrow up&#10;&#10;Description automatically generated">
            <a:extLst>
              <a:ext uri="{FF2B5EF4-FFF2-40B4-BE49-F238E27FC236}">
                <a16:creationId xmlns:a16="http://schemas.microsoft.com/office/drawing/2014/main" id="{EDFA1DA5-651F-AFD5-AF01-1B761F004C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2735" y="2529017"/>
            <a:ext cx="997605" cy="997605"/>
          </a:xfrm>
          <a:prstGeom prst="rect">
            <a:avLst/>
          </a:prstGeom>
        </p:spPr>
      </p:pic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2EB27BDC-6E7E-36D0-7D0D-B17F7123AAEB}"/>
              </a:ext>
            </a:extLst>
          </p:cNvPr>
          <p:cNvSpPr/>
          <p:nvPr/>
        </p:nvSpPr>
        <p:spPr>
          <a:xfrm rot="5400000">
            <a:off x="-228600" y="187552"/>
            <a:ext cx="1524000" cy="1066800"/>
          </a:xfrm>
          <a:prstGeom prst="triangle">
            <a:avLst>
              <a:gd name="adj" fmla="val 4930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65C71C-937D-8827-E7C8-2AEF93B7A7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370" y="1"/>
            <a:ext cx="146963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53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A01A0-4B98-9C0C-C92B-6F2BFB1822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304800"/>
            <a:ext cx="6324600" cy="12192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02. Design Excellence of the Overall Solution</a:t>
            </a:r>
            <a:br>
              <a:rPr lang="en-US" b="1" dirty="0"/>
            </a:b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38A787-9758-2EE2-654F-4766BDA43581}"/>
              </a:ext>
            </a:extLst>
          </p:cNvPr>
          <p:cNvSpPr txBox="1"/>
          <p:nvPr/>
        </p:nvSpPr>
        <p:spPr>
          <a:xfrm>
            <a:off x="6781800" y="2728079"/>
            <a:ext cx="482326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Aptos" panose="020B0004020202020204" pitchFamily="34" charset="0"/>
              </a:rPr>
              <a:t>Skill Verification &amp; Credibility Scoring</a:t>
            </a:r>
            <a:r>
              <a:rPr lang="en-US" dirty="0">
                <a:latin typeface="Aptos" panose="020B0004020202020204" pitchFamily="34" charset="0"/>
              </a:rPr>
              <a:t> – Evaluates provider trustworthiness and qualifications.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i="1" dirty="0">
                <a:latin typeface="Aptos" panose="020B0004020202020204" pitchFamily="34" charset="0"/>
              </a:rPr>
              <a:t>Advantage:</a:t>
            </a:r>
            <a:r>
              <a:rPr lang="en-US" dirty="0">
                <a:latin typeface="Aptos" panose="020B0004020202020204" pitchFamily="34" charset="0"/>
              </a:rPr>
              <a:t> Prevents unqualified providers from being matched, ensuring quality.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Aptos" panose="020B0004020202020204" pitchFamily="34" charset="0"/>
              </a:rPr>
              <a:t>Sentiment Analysis &amp; Fake Review Detection</a:t>
            </a:r>
            <a:r>
              <a:rPr lang="en-US" dirty="0">
                <a:latin typeface="Aptos" panose="020B0004020202020204" pitchFamily="34" charset="0"/>
              </a:rPr>
              <a:t> – Analyzes feedback using LSTM and detects fake reviews.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i="1" dirty="0">
                <a:latin typeface="Aptos" panose="020B0004020202020204" pitchFamily="34" charset="0"/>
              </a:rPr>
              <a:t>Advantage:</a:t>
            </a:r>
            <a:r>
              <a:rPr lang="en-US" dirty="0">
                <a:latin typeface="Aptos" panose="020B0004020202020204" pitchFamily="34" charset="0"/>
              </a:rPr>
              <a:t> Ensures trust and reliability; prevents manipulation of ratings.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Aptos" panose="020B0004020202020204" pitchFamily="34" charset="0"/>
            </a:endParaRPr>
          </a:p>
        </p:txBody>
      </p:sp>
      <p:grpSp>
        <p:nvGrpSpPr>
          <p:cNvPr id="6" name="Google Shape;533;p56">
            <a:extLst>
              <a:ext uri="{FF2B5EF4-FFF2-40B4-BE49-F238E27FC236}">
                <a16:creationId xmlns:a16="http://schemas.microsoft.com/office/drawing/2014/main" id="{112DFC52-0597-85D9-94B0-879949DB640E}"/>
              </a:ext>
            </a:extLst>
          </p:cNvPr>
          <p:cNvGrpSpPr/>
          <p:nvPr/>
        </p:nvGrpSpPr>
        <p:grpSpPr>
          <a:xfrm>
            <a:off x="3317609" y="5014028"/>
            <a:ext cx="1747880" cy="1295775"/>
            <a:chOff x="2270525" y="117216"/>
            <a:chExt cx="4650765" cy="4762722"/>
          </a:xfrm>
        </p:grpSpPr>
        <p:sp>
          <p:nvSpPr>
            <p:cNvPr id="7" name="Google Shape;534;p56">
              <a:extLst>
                <a:ext uri="{FF2B5EF4-FFF2-40B4-BE49-F238E27FC236}">
                  <a16:creationId xmlns:a16="http://schemas.microsoft.com/office/drawing/2014/main" id="{4253DE17-48E5-6662-EA7A-031C4B673EEE}"/>
                </a:ext>
              </a:extLst>
            </p:cNvPr>
            <p:cNvSpPr/>
            <p:nvPr/>
          </p:nvSpPr>
          <p:spPr>
            <a:xfrm>
              <a:off x="2270525" y="2788917"/>
              <a:ext cx="1367464" cy="791146"/>
            </a:xfrm>
            <a:custGeom>
              <a:avLst/>
              <a:gdLst/>
              <a:ahLst/>
              <a:cxnLst/>
              <a:rect l="l" t="t" r="r" b="b"/>
              <a:pathLst>
                <a:path w="1367464" h="791146" extrusionOk="0">
                  <a:moveTo>
                    <a:pt x="1367464" y="395573"/>
                  </a:moveTo>
                  <a:cubicBezTo>
                    <a:pt x="1367464" y="614042"/>
                    <a:pt x="1061347" y="791146"/>
                    <a:pt x="683732" y="791146"/>
                  </a:cubicBezTo>
                  <a:cubicBezTo>
                    <a:pt x="306117" y="791146"/>
                    <a:pt x="0" y="614042"/>
                    <a:pt x="0" y="395573"/>
                  </a:cubicBezTo>
                  <a:cubicBezTo>
                    <a:pt x="0" y="177104"/>
                    <a:pt x="306117" y="0"/>
                    <a:pt x="683732" y="0"/>
                  </a:cubicBezTo>
                  <a:cubicBezTo>
                    <a:pt x="1061347" y="0"/>
                    <a:pt x="1367464" y="177104"/>
                    <a:pt x="1367464" y="395573"/>
                  </a:cubicBezTo>
                  <a:close/>
                </a:path>
              </a:pathLst>
            </a:custGeom>
            <a:solidFill>
              <a:srgbClr val="D6D8E5">
                <a:alpha val="149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535;p56">
              <a:extLst>
                <a:ext uri="{FF2B5EF4-FFF2-40B4-BE49-F238E27FC236}">
                  <a16:creationId xmlns:a16="http://schemas.microsoft.com/office/drawing/2014/main" id="{CF67F4A7-AA7C-3622-5E87-0694293AB8DE}"/>
                </a:ext>
              </a:extLst>
            </p:cNvPr>
            <p:cNvSpPr/>
            <p:nvPr/>
          </p:nvSpPr>
          <p:spPr>
            <a:xfrm>
              <a:off x="2565006" y="2921600"/>
              <a:ext cx="762723" cy="441198"/>
            </a:xfrm>
            <a:custGeom>
              <a:avLst/>
              <a:gdLst/>
              <a:ahLst/>
              <a:cxnLst/>
              <a:rect l="l" t="t" r="r" b="b"/>
              <a:pathLst>
                <a:path w="762723" h="441198" extrusionOk="0">
                  <a:moveTo>
                    <a:pt x="762723" y="220599"/>
                  </a:moveTo>
                  <a:cubicBezTo>
                    <a:pt x="762723" y="342432"/>
                    <a:pt x="591982" y="441198"/>
                    <a:pt x="381362" y="441198"/>
                  </a:cubicBezTo>
                  <a:cubicBezTo>
                    <a:pt x="170741" y="441198"/>
                    <a:pt x="0" y="342432"/>
                    <a:pt x="0" y="220599"/>
                  </a:cubicBezTo>
                  <a:cubicBezTo>
                    <a:pt x="0" y="98765"/>
                    <a:pt x="170741" y="0"/>
                    <a:pt x="381362" y="0"/>
                  </a:cubicBezTo>
                  <a:cubicBezTo>
                    <a:pt x="591982" y="0"/>
                    <a:pt x="762723" y="98765"/>
                    <a:pt x="762723" y="220599"/>
                  </a:cubicBezTo>
                  <a:close/>
                </a:path>
              </a:pathLst>
            </a:custGeom>
            <a:solidFill>
              <a:srgbClr val="EDEFF9">
                <a:alpha val="498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536;p56">
              <a:extLst>
                <a:ext uri="{FF2B5EF4-FFF2-40B4-BE49-F238E27FC236}">
                  <a16:creationId xmlns:a16="http://schemas.microsoft.com/office/drawing/2014/main" id="{1E59F8DA-F53D-12B5-A083-CADAB887BE0F}"/>
                </a:ext>
              </a:extLst>
            </p:cNvPr>
            <p:cNvSpPr/>
            <p:nvPr/>
          </p:nvSpPr>
          <p:spPr>
            <a:xfrm>
              <a:off x="2834012" y="3000943"/>
              <a:ext cx="217486" cy="125920"/>
            </a:xfrm>
            <a:custGeom>
              <a:avLst/>
              <a:gdLst/>
              <a:ahLst/>
              <a:cxnLst/>
              <a:rect l="l" t="t" r="r" b="b"/>
              <a:pathLst>
                <a:path w="217486" h="125920" extrusionOk="0">
                  <a:moveTo>
                    <a:pt x="217486" y="62960"/>
                  </a:moveTo>
                  <a:cubicBezTo>
                    <a:pt x="217486" y="97732"/>
                    <a:pt x="168800" y="125920"/>
                    <a:pt x="108743" y="125920"/>
                  </a:cubicBezTo>
                  <a:cubicBezTo>
                    <a:pt x="48686" y="125920"/>
                    <a:pt x="0" y="97732"/>
                    <a:pt x="0" y="62960"/>
                  </a:cubicBezTo>
                  <a:cubicBezTo>
                    <a:pt x="0" y="28188"/>
                    <a:pt x="48686" y="0"/>
                    <a:pt x="108743" y="0"/>
                  </a:cubicBezTo>
                  <a:cubicBezTo>
                    <a:pt x="168800" y="0"/>
                    <a:pt x="217486" y="28188"/>
                    <a:pt x="217486" y="62960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537;p56">
              <a:extLst>
                <a:ext uri="{FF2B5EF4-FFF2-40B4-BE49-F238E27FC236}">
                  <a16:creationId xmlns:a16="http://schemas.microsoft.com/office/drawing/2014/main" id="{1E0CBFDB-5F73-A431-295C-3BBEA4CC5D68}"/>
                </a:ext>
              </a:extLst>
            </p:cNvPr>
            <p:cNvSpPr/>
            <p:nvPr/>
          </p:nvSpPr>
          <p:spPr>
            <a:xfrm>
              <a:off x="2841806" y="2229228"/>
              <a:ext cx="209121" cy="823531"/>
            </a:xfrm>
            <a:custGeom>
              <a:avLst/>
              <a:gdLst/>
              <a:ahLst/>
              <a:cxnLst/>
              <a:rect l="l" t="t" r="r" b="b"/>
              <a:pathLst>
                <a:path w="209121" h="823531" extrusionOk="0">
                  <a:moveTo>
                    <a:pt x="0" y="0"/>
                  </a:moveTo>
                  <a:lnTo>
                    <a:pt x="209121" y="0"/>
                  </a:lnTo>
                  <a:lnTo>
                    <a:pt x="209121" y="823532"/>
                  </a:lnTo>
                  <a:lnTo>
                    <a:pt x="0" y="823532"/>
                  </a:ln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538;p56">
              <a:extLst>
                <a:ext uri="{FF2B5EF4-FFF2-40B4-BE49-F238E27FC236}">
                  <a16:creationId xmlns:a16="http://schemas.microsoft.com/office/drawing/2014/main" id="{E2C540FD-EC34-6CA1-0053-ABD7A43ACC5E}"/>
                </a:ext>
              </a:extLst>
            </p:cNvPr>
            <p:cNvSpPr/>
            <p:nvPr/>
          </p:nvSpPr>
          <p:spPr>
            <a:xfrm>
              <a:off x="2831826" y="2112223"/>
              <a:ext cx="249895" cy="580777"/>
            </a:xfrm>
            <a:custGeom>
              <a:avLst/>
              <a:gdLst/>
              <a:ahLst/>
              <a:cxnLst/>
              <a:rect l="l" t="t" r="r" b="b"/>
              <a:pathLst>
                <a:path w="249895" h="580777" extrusionOk="0">
                  <a:moveTo>
                    <a:pt x="0" y="107670"/>
                  </a:moveTo>
                  <a:cubicBezTo>
                    <a:pt x="0" y="107670"/>
                    <a:pt x="5703" y="277025"/>
                    <a:pt x="125948" y="580777"/>
                  </a:cubicBezTo>
                  <a:cubicBezTo>
                    <a:pt x="125948" y="580777"/>
                    <a:pt x="237923" y="336175"/>
                    <a:pt x="249520" y="102527"/>
                  </a:cubicBezTo>
                  <a:cubicBezTo>
                    <a:pt x="261117" y="-131122"/>
                    <a:pt x="0" y="107670"/>
                    <a:pt x="0" y="107670"/>
                  </a:cubicBezTo>
                  <a:close/>
                </a:path>
              </a:pathLst>
            </a:custGeom>
            <a:solidFill>
              <a:srgbClr val="FFBC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539;p56">
              <a:extLst>
                <a:ext uri="{FF2B5EF4-FFF2-40B4-BE49-F238E27FC236}">
                  <a16:creationId xmlns:a16="http://schemas.microsoft.com/office/drawing/2014/main" id="{6CDE5D0B-27C0-9AAC-7596-4C298DFFB28F}"/>
                </a:ext>
              </a:extLst>
            </p:cNvPr>
            <p:cNvSpPr/>
            <p:nvPr/>
          </p:nvSpPr>
          <p:spPr>
            <a:xfrm>
              <a:off x="2373659" y="1582290"/>
              <a:ext cx="397711" cy="625506"/>
            </a:xfrm>
            <a:custGeom>
              <a:avLst/>
              <a:gdLst/>
              <a:ahLst/>
              <a:cxnLst/>
              <a:rect l="l" t="t" r="r" b="b"/>
              <a:pathLst>
                <a:path w="397711" h="625506" extrusionOk="0">
                  <a:moveTo>
                    <a:pt x="311306" y="0"/>
                  </a:moveTo>
                  <a:lnTo>
                    <a:pt x="33079" y="271272"/>
                  </a:lnTo>
                  <a:lnTo>
                    <a:pt x="0" y="625507"/>
                  </a:lnTo>
                  <a:lnTo>
                    <a:pt x="336495" y="456438"/>
                  </a:lnTo>
                  <a:lnTo>
                    <a:pt x="397711" y="24384"/>
                  </a:lnTo>
                  <a:lnTo>
                    <a:pt x="31130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540;p56">
              <a:extLst>
                <a:ext uri="{FF2B5EF4-FFF2-40B4-BE49-F238E27FC236}">
                  <a16:creationId xmlns:a16="http://schemas.microsoft.com/office/drawing/2014/main" id="{D5B9E69C-283B-B248-9AF7-A420485FBEA3}"/>
                </a:ext>
              </a:extLst>
            </p:cNvPr>
            <p:cNvSpPr/>
            <p:nvPr/>
          </p:nvSpPr>
          <p:spPr>
            <a:xfrm>
              <a:off x="3144177" y="1582290"/>
              <a:ext cx="397710" cy="625506"/>
            </a:xfrm>
            <a:custGeom>
              <a:avLst/>
              <a:gdLst/>
              <a:ahLst/>
              <a:cxnLst/>
              <a:rect l="l" t="t" r="r" b="b"/>
              <a:pathLst>
                <a:path w="397710" h="625506" extrusionOk="0">
                  <a:moveTo>
                    <a:pt x="86405" y="0"/>
                  </a:moveTo>
                  <a:lnTo>
                    <a:pt x="364537" y="271272"/>
                  </a:lnTo>
                  <a:lnTo>
                    <a:pt x="397711" y="625507"/>
                  </a:lnTo>
                  <a:lnTo>
                    <a:pt x="59980" y="444722"/>
                  </a:lnTo>
                  <a:lnTo>
                    <a:pt x="0" y="24384"/>
                  </a:lnTo>
                  <a:lnTo>
                    <a:pt x="8640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541;p56">
              <a:extLst>
                <a:ext uri="{FF2B5EF4-FFF2-40B4-BE49-F238E27FC236}">
                  <a16:creationId xmlns:a16="http://schemas.microsoft.com/office/drawing/2014/main" id="{963DD81F-46DD-BCC2-535C-1901564E45D0}"/>
                </a:ext>
              </a:extLst>
            </p:cNvPr>
            <p:cNvSpPr/>
            <p:nvPr/>
          </p:nvSpPr>
          <p:spPr>
            <a:xfrm>
              <a:off x="2815951" y="2102641"/>
              <a:ext cx="276610" cy="160020"/>
            </a:xfrm>
            <a:custGeom>
              <a:avLst/>
              <a:gdLst/>
              <a:ahLst/>
              <a:cxnLst/>
              <a:rect l="l" t="t" r="r" b="b"/>
              <a:pathLst>
                <a:path w="276610" h="160020" extrusionOk="0">
                  <a:moveTo>
                    <a:pt x="276611" y="80010"/>
                  </a:moveTo>
                  <a:cubicBezTo>
                    <a:pt x="276611" y="124198"/>
                    <a:pt x="214689" y="160020"/>
                    <a:pt x="138305" y="160020"/>
                  </a:cubicBezTo>
                  <a:cubicBezTo>
                    <a:pt x="61921" y="160020"/>
                    <a:pt x="0" y="124198"/>
                    <a:pt x="0" y="80010"/>
                  </a:cubicBezTo>
                  <a:cubicBezTo>
                    <a:pt x="0" y="35822"/>
                    <a:pt x="61921" y="0"/>
                    <a:pt x="138305" y="0"/>
                  </a:cubicBezTo>
                  <a:cubicBezTo>
                    <a:pt x="214689" y="0"/>
                    <a:pt x="276611" y="35822"/>
                    <a:pt x="276611" y="80010"/>
                  </a:cubicBezTo>
                  <a:close/>
                </a:path>
              </a:pathLst>
            </a:custGeom>
            <a:solidFill>
              <a:srgbClr val="4249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542;p56">
              <a:extLst>
                <a:ext uri="{FF2B5EF4-FFF2-40B4-BE49-F238E27FC236}">
                  <a16:creationId xmlns:a16="http://schemas.microsoft.com/office/drawing/2014/main" id="{EDA7893F-A123-974C-A1A6-FE8B9C210417}"/>
                </a:ext>
              </a:extLst>
            </p:cNvPr>
            <p:cNvSpPr/>
            <p:nvPr/>
          </p:nvSpPr>
          <p:spPr>
            <a:xfrm>
              <a:off x="2744565" y="2030632"/>
              <a:ext cx="418908" cy="74675"/>
            </a:xfrm>
            <a:custGeom>
              <a:avLst/>
              <a:gdLst/>
              <a:ahLst/>
              <a:cxnLst/>
              <a:rect l="l" t="t" r="r" b="b"/>
              <a:pathLst>
                <a:path w="418908" h="74675" extrusionOk="0">
                  <a:moveTo>
                    <a:pt x="0" y="72009"/>
                  </a:moveTo>
                  <a:lnTo>
                    <a:pt x="0" y="0"/>
                  </a:lnTo>
                  <a:lnTo>
                    <a:pt x="418908" y="0"/>
                  </a:lnTo>
                  <a:lnTo>
                    <a:pt x="418908" y="74676"/>
                  </a:lnTo>
                  <a:lnTo>
                    <a:pt x="0" y="72009"/>
                  </a:lnTo>
                  <a:close/>
                </a:path>
              </a:pathLst>
            </a:custGeom>
            <a:solidFill>
              <a:srgbClr val="49494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543;p56">
              <a:extLst>
                <a:ext uri="{FF2B5EF4-FFF2-40B4-BE49-F238E27FC236}">
                  <a16:creationId xmlns:a16="http://schemas.microsoft.com/office/drawing/2014/main" id="{329A2EA7-9224-C858-5C5C-0BB108AC4DC0}"/>
                </a:ext>
              </a:extLst>
            </p:cNvPr>
            <p:cNvSpPr/>
            <p:nvPr/>
          </p:nvSpPr>
          <p:spPr>
            <a:xfrm>
              <a:off x="2744565" y="1981197"/>
              <a:ext cx="419383" cy="242697"/>
            </a:xfrm>
            <a:custGeom>
              <a:avLst/>
              <a:gdLst/>
              <a:ahLst/>
              <a:cxnLst/>
              <a:rect l="l" t="t" r="r" b="b"/>
              <a:pathLst>
                <a:path w="419383" h="242697" extrusionOk="0">
                  <a:moveTo>
                    <a:pt x="419384" y="121348"/>
                  </a:moveTo>
                  <a:cubicBezTo>
                    <a:pt x="419384" y="188367"/>
                    <a:pt x="325501" y="242697"/>
                    <a:pt x="209692" y="242697"/>
                  </a:cubicBezTo>
                  <a:cubicBezTo>
                    <a:pt x="93882" y="242697"/>
                    <a:pt x="0" y="188367"/>
                    <a:pt x="0" y="121348"/>
                  </a:cubicBezTo>
                  <a:cubicBezTo>
                    <a:pt x="0" y="54330"/>
                    <a:pt x="93882" y="0"/>
                    <a:pt x="209692" y="0"/>
                  </a:cubicBezTo>
                  <a:cubicBezTo>
                    <a:pt x="325501" y="0"/>
                    <a:pt x="419384" y="54329"/>
                    <a:pt x="419384" y="121348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544;p56">
              <a:extLst>
                <a:ext uri="{FF2B5EF4-FFF2-40B4-BE49-F238E27FC236}">
                  <a16:creationId xmlns:a16="http://schemas.microsoft.com/office/drawing/2014/main" id="{C4EAD55E-597E-CC70-257F-AF4A89895B5D}"/>
                </a:ext>
              </a:extLst>
            </p:cNvPr>
            <p:cNvSpPr/>
            <p:nvPr/>
          </p:nvSpPr>
          <p:spPr>
            <a:xfrm>
              <a:off x="2697703" y="1845275"/>
              <a:ext cx="511777" cy="296036"/>
            </a:xfrm>
            <a:custGeom>
              <a:avLst/>
              <a:gdLst/>
              <a:ahLst/>
              <a:cxnLst/>
              <a:rect l="l" t="t" r="r" b="b"/>
              <a:pathLst>
                <a:path w="511777" h="296036" extrusionOk="0">
                  <a:moveTo>
                    <a:pt x="511777" y="148019"/>
                  </a:moveTo>
                  <a:cubicBezTo>
                    <a:pt x="511777" y="229767"/>
                    <a:pt x="397212" y="296037"/>
                    <a:pt x="255889" y="296037"/>
                  </a:cubicBezTo>
                  <a:cubicBezTo>
                    <a:pt x="114565" y="296037"/>
                    <a:pt x="0" y="229767"/>
                    <a:pt x="0" y="148019"/>
                  </a:cubicBezTo>
                  <a:cubicBezTo>
                    <a:pt x="0" y="66270"/>
                    <a:pt x="114565" y="0"/>
                    <a:pt x="255889" y="0"/>
                  </a:cubicBezTo>
                  <a:cubicBezTo>
                    <a:pt x="397212" y="0"/>
                    <a:pt x="511777" y="66270"/>
                    <a:pt x="511777" y="148019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545;p56">
              <a:extLst>
                <a:ext uri="{FF2B5EF4-FFF2-40B4-BE49-F238E27FC236}">
                  <a16:creationId xmlns:a16="http://schemas.microsoft.com/office/drawing/2014/main" id="{8A0C1357-2716-504C-7ED6-60CFA345AF97}"/>
                </a:ext>
              </a:extLst>
            </p:cNvPr>
            <p:cNvSpPr/>
            <p:nvPr/>
          </p:nvSpPr>
          <p:spPr>
            <a:xfrm>
              <a:off x="2681484" y="530635"/>
              <a:ext cx="548516" cy="1538895"/>
            </a:xfrm>
            <a:custGeom>
              <a:avLst/>
              <a:gdLst/>
              <a:ahLst/>
              <a:cxnLst/>
              <a:rect l="l" t="t" r="r" b="b"/>
              <a:pathLst>
                <a:path w="548516" h="1538895" extrusionOk="0">
                  <a:moveTo>
                    <a:pt x="548433" y="1199007"/>
                  </a:moveTo>
                  <a:lnTo>
                    <a:pt x="548433" y="1199007"/>
                  </a:lnTo>
                  <a:cubicBezTo>
                    <a:pt x="548433" y="1210913"/>
                    <a:pt x="548433" y="1222629"/>
                    <a:pt x="548433" y="1233964"/>
                  </a:cubicBezTo>
                  <a:cubicBezTo>
                    <a:pt x="548433" y="1243489"/>
                    <a:pt x="548433" y="1253014"/>
                    <a:pt x="548433" y="1262539"/>
                  </a:cubicBezTo>
                  <a:cubicBezTo>
                    <a:pt x="548433" y="1275398"/>
                    <a:pt x="547767" y="1287685"/>
                    <a:pt x="547292" y="1299686"/>
                  </a:cubicBezTo>
                  <a:cubicBezTo>
                    <a:pt x="547292" y="1314641"/>
                    <a:pt x="546246" y="1328833"/>
                    <a:pt x="545486" y="1342454"/>
                  </a:cubicBezTo>
                  <a:cubicBezTo>
                    <a:pt x="544725" y="1356074"/>
                    <a:pt x="544060" y="1369409"/>
                    <a:pt x="543109" y="1381697"/>
                  </a:cubicBezTo>
                  <a:cubicBezTo>
                    <a:pt x="539212" y="1435513"/>
                    <a:pt x="539307" y="1475137"/>
                    <a:pt x="532653" y="1490662"/>
                  </a:cubicBezTo>
                  <a:cubicBezTo>
                    <a:pt x="496437" y="1575530"/>
                    <a:pt x="373911" y="1528762"/>
                    <a:pt x="313456" y="1498283"/>
                  </a:cubicBezTo>
                  <a:cubicBezTo>
                    <a:pt x="291118" y="1487043"/>
                    <a:pt x="276384" y="1477804"/>
                    <a:pt x="276384" y="1477804"/>
                  </a:cubicBezTo>
                  <a:lnTo>
                    <a:pt x="270871" y="1477804"/>
                  </a:lnTo>
                  <a:cubicBezTo>
                    <a:pt x="270871" y="1477804"/>
                    <a:pt x="253381" y="1487329"/>
                    <a:pt x="227526" y="1497616"/>
                  </a:cubicBezTo>
                  <a:cubicBezTo>
                    <a:pt x="164124" y="1523333"/>
                    <a:pt x="51104" y="1568958"/>
                    <a:pt x="19735" y="1490377"/>
                  </a:cubicBezTo>
                  <a:cubicBezTo>
                    <a:pt x="14127" y="1476280"/>
                    <a:pt x="8519" y="1429703"/>
                    <a:pt x="5097" y="1380935"/>
                  </a:cubicBezTo>
                  <a:cubicBezTo>
                    <a:pt x="4241" y="1368743"/>
                    <a:pt x="3481" y="1355693"/>
                    <a:pt x="2721" y="1341787"/>
                  </a:cubicBezTo>
                  <a:cubicBezTo>
                    <a:pt x="1960" y="1327880"/>
                    <a:pt x="1580" y="1314069"/>
                    <a:pt x="1010" y="1299115"/>
                  </a:cubicBezTo>
                  <a:cubicBezTo>
                    <a:pt x="1010" y="1287208"/>
                    <a:pt x="344" y="1274921"/>
                    <a:pt x="59" y="1262158"/>
                  </a:cubicBezTo>
                  <a:cubicBezTo>
                    <a:pt x="59" y="1252633"/>
                    <a:pt x="59" y="1243108"/>
                    <a:pt x="59" y="1233583"/>
                  </a:cubicBezTo>
                  <a:lnTo>
                    <a:pt x="59" y="1233583"/>
                  </a:lnTo>
                  <a:lnTo>
                    <a:pt x="59" y="1198626"/>
                  </a:lnTo>
                  <a:lnTo>
                    <a:pt x="59" y="1198626"/>
                  </a:lnTo>
                  <a:cubicBezTo>
                    <a:pt x="-1652" y="866299"/>
                    <a:pt x="33518" y="334899"/>
                    <a:pt x="149676" y="108109"/>
                  </a:cubicBezTo>
                  <a:cubicBezTo>
                    <a:pt x="183230" y="42481"/>
                    <a:pt x="223534" y="2381"/>
                    <a:pt x="271727" y="0"/>
                  </a:cubicBezTo>
                  <a:lnTo>
                    <a:pt x="271727" y="0"/>
                  </a:lnTo>
                  <a:lnTo>
                    <a:pt x="277240" y="0"/>
                  </a:lnTo>
                  <a:lnTo>
                    <a:pt x="277240" y="0"/>
                  </a:lnTo>
                  <a:cubicBezTo>
                    <a:pt x="324768" y="2476"/>
                    <a:pt x="365546" y="42386"/>
                    <a:pt x="399196" y="107728"/>
                  </a:cubicBezTo>
                  <a:cubicBezTo>
                    <a:pt x="513737" y="333661"/>
                    <a:pt x="550524" y="862965"/>
                    <a:pt x="548433" y="1199007"/>
                  </a:cubicBezTo>
                  <a:close/>
                </a:path>
              </a:pathLst>
            </a:custGeom>
            <a:solidFill>
              <a:srgbClr val="EDEF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546;p56">
              <a:extLst>
                <a:ext uri="{FF2B5EF4-FFF2-40B4-BE49-F238E27FC236}">
                  <a16:creationId xmlns:a16="http://schemas.microsoft.com/office/drawing/2014/main" id="{22301A43-36B8-5753-DAC7-E3C57C93460C}"/>
                </a:ext>
              </a:extLst>
            </p:cNvPr>
            <p:cNvSpPr/>
            <p:nvPr/>
          </p:nvSpPr>
          <p:spPr>
            <a:xfrm>
              <a:off x="2858251" y="1222531"/>
              <a:ext cx="193342" cy="193738"/>
            </a:xfrm>
            <a:custGeom>
              <a:avLst/>
              <a:gdLst/>
              <a:ahLst/>
              <a:cxnLst/>
              <a:rect l="l" t="t" r="r" b="b"/>
              <a:pathLst>
                <a:path w="193342" h="193738" extrusionOk="0">
                  <a:moveTo>
                    <a:pt x="193342" y="96869"/>
                  </a:moveTo>
                  <a:cubicBezTo>
                    <a:pt x="193342" y="150369"/>
                    <a:pt x="150061" y="193739"/>
                    <a:pt x="96671" y="193739"/>
                  </a:cubicBezTo>
                  <a:cubicBezTo>
                    <a:pt x="43281" y="193739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547;p56">
              <a:extLst>
                <a:ext uri="{FF2B5EF4-FFF2-40B4-BE49-F238E27FC236}">
                  <a16:creationId xmlns:a16="http://schemas.microsoft.com/office/drawing/2014/main" id="{8B3A4CB9-9FE2-3970-07C2-8E4040B5816B}"/>
                </a:ext>
              </a:extLst>
            </p:cNvPr>
            <p:cNvSpPr/>
            <p:nvPr/>
          </p:nvSpPr>
          <p:spPr>
            <a:xfrm>
              <a:off x="2844088" y="1208338"/>
              <a:ext cx="221668" cy="222122"/>
            </a:xfrm>
            <a:custGeom>
              <a:avLst/>
              <a:gdLst/>
              <a:ahLst/>
              <a:cxnLst/>
              <a:rect l="l" t="t" r="r" b="b"/>
              <a:pathLst>
                <a:path w="221668" h="222122" extrusionOk="0">
                  <a:moveTo>
                    <a:pt x="110834" y="222123"/>
                  </a:moveTo>
                  <a:cubicBezTo>
                    <a:pt x="49623" y="222123"/>
                    <a:pt x="0" y="172402"/>
                    <a:pt x="0" y="111061"/>
                  </a:cubicBezTo>
                  <a:cubicBezTo>
                    <a:pt x="0" y="49720"/>
                    <a:pt x="49623" y="0"/>
                    <a:pt x="110834" y="0"/>
                  </a:cubicBezTo>
                  <a:cubicBezTo>
                    <a:pt x="172046" y="0"/>
                    <a:pt x="221669" y="49720"/>
                    <a:pt x="221669" y="111061"/>
                  </a:cubicBezTo>
                  <a:cubicBezTo>
                    <a:pt x="221617" y="172374"/>
                    <a:pt x="172025" y="222066"/>
                    <a:pt x="110834" y="222123"/>
                  </a:cubicBezTo>
                  <a:close/>
                  <a:moveTo>
                    <a:pt x="110834" y="28384"/>
                  </a:moveTo>
                  <a:cubicBezTo>
                    <a:pt x="65267" y="28327"/>
                    <a:pt x="28284" y="65303"/>
                    <a:pt x="28231" y="110966"/>
                  </a:cubicBezTo>
                  <a:cubicBezTo>
                    <a:pt x="28179" y="156629"/>
                    <a:pt x="65077" y="193681"/>
                    <a:pt x="110644" y="193738"/>
                  </a:cubicBezTo>
                  <a:cubicBezTo>
                    <a:pt x="156212" y="193796"/>
                    <a:pt x="193195" y="156820"/>
                    <a:pt x="193247" y="111157"/>
                  </a:cubicBezTo>
                  <a:cubicBezTo>
                    <a:pt x="193247" y="111128"/>
                    <a:pt x="193247" y="111090"/>
                    <a:pt x="193247" y="111061"/>
                  </a:cubicBezTo>
                  <a:cubicBezTo>
                    <a:pt x="193195" y="65456"/>
                    <a:pt x="156343" y="28489"/>
                    <a:pt x="110834" y="28384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548;p56">
              <a:extLst>
                <a:ext uri="{FF2B5EF4-FFF2-40B4-BE49-F238E27FC236}">
                  <a16:creationId xmlns:a16="http://schemas.microsoft.com/office/drawing/2014/main" id="{2DF5136D-3E5A-AC3E-CBFC-A4CFD31E671D}"/>
                </a:ext>
              </a:extLst>
            </p:cNvPr>
            <p:cNvSpPr/>
            <p:nvPr/>
          </p:nvSpPr>
          <p:spPr>
            <a:xfrm>
              <a:off x="2858251" y="937733"/>
              <a:ext cx="193342" cy="193738"/>
            </a:xfrm>
            <a:custGeom>
              <a:avLst/>
              <a:gdLst/>
              <a:ahLst/>
              <a:cxnLst/>
              <a:rect l="l" t="t" r="r" b="b"/>
              <a:pathLst>
                <a:path w="193342" h="193738" extrusionOk="0">
                  <a:moveTo>
                    <a:pt x="193342" y="96869"/>
                  </a:moveTo>
                  <a:cubicBezTo>
                    <a:pt x="193342" y="150369"/>
                    <a:pt x="150061" y="193738"/>
                    <a:pt x="96671" y="193738"/>
                  </a:cubicBezTo>
                  <a:cubicBezTo>
                    <a:pt x="43281" y="193738"/>
                    <a:pt x="0" y="150369"/>
                    <a:pt x="0" y="96869"/>
                  </a:cubicBezTo>
                  <a:cubicBezTo>
                    <a:pt x="0" y="43370"/>
                    <a:pt x="43281" y="0"/>
                    <a:pt x="96671" y="0"/>
                  </a:cubicBezTo>
                  <a:cubicBezTo>
                    <a:pt x="150061" y="0"/>
                    <a:pt x="193342" y="43370"/>
                    <a:pt x="193342" y="96869"/>
                  </a:cubicBezTo>
                  <a:close/>
                </a:path>
              </a:pathLst>
            </a:custGeom>
            <a:solidFill>
              <a:srgbClr val="2B303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549;p56">
              <a:extLst>
                <a:ext uri="{FF2B5EF4-FFF2-40B4-BE49-F238E27FC236}">
                  <a16:creationId xmlns:a16="http://schemas.microsoft.com/office/drawing/2014/main" id="{8C00325A-4284-407C-D563-AF6F9E150EC4}"/>
                </a:ext>
              </a:extLst>
            </p:cNvPr>
            <p:cNvSpPr/>
            <p:nvPr/>
          </p:nvSpPr>
          <p:spPr>
            <a:xfrm>
              <a:off x="2843898" y="923636"/>
              <a:ext cx="221858" cy="222313"/>
            </a:xfrm>
            <a:custGeom>
              <a:avLst/>
              <a:gdLst/>
              <a:ahLst/>
              <a:cxnLst/>
              <a:rect l="l" t="t" r="r" b="b"/>
              <a:pathLst>
                <a:path w="221858" h="222313" extrusionOk="0">
                  <a:moveTo>
                    <a:pt x="111025" y="222314"/>
                  </a:moveTo>
                  <a:cubicBezTo>
                    <a:pt x="49760" y="222371"/>
                    <a:pt x="52" y="172641"/>
                    <a:pt x="0" y="111252"/>
                  </a:cubicBezTo>
                  <a:cubicBezTo>
                    <a:pt x="-52" y="49861"/>
                    <a:pt x="49570" y="52"/>
                    <a:pt x="110834" y="0"/>
                  </a:cubicBezTo>
                  <a:cubicBezTo>
                    <a:pt x="172062" y="-52"/>
                    <a:pt x="221754" y="49614"/>
                    <a:pt x="221859" y="110966"/>
                  </a:cubicBezTo>
                  <a:cubicBezTo>
                    <a:pt x="221911" y="172374"/>
                    <a:pt x="172305" y="222209"/>
                    <a:pt x="111025" y="222314"/>
                  </a:cubicBezTo>
                  <a:close/>
                  <a:moveTo>
                    <a:pt x="111025" y="28575"/>
                  </a:moveTo>
                  <a:cubicBezTo>
                    <a:pt x="65457" y="28523"/>
                    <a:pt x="28474" y="65496"/>
                    <a:pt x="28422" y="111157"/>
                  </a:cubicBezTo>
                  <a:cubicBezTo>
                    <a:pt x="28369" y="156820"/>
                    <a:pt x="65267" y="193872"/>
                    <a:pt x="110834" y="193929"/>
                  </a:cubicBezTo>
                  <a:cubicBezTo>
                    <a:pt x="156402" y="193986"/>
                    <a:pt x="193385" y="157010"/>
                    <a:pt x="193437" y="111347"/>
                  </a:cubicBezTo>
                  <a:cubicBezTo>
                    <a:pt x="193437" y="111283"/>
                    <a:pt x="193437" y="111221"/>
                    <a:pt x="193437" y="111157"/>
                  </a:cubicBezTo>
                  <a:cubicBezTo>
                    <a:pt x="193490" y="65496"/>
                    <a:pt x="156592" y="28437"/>
                    <a:pt x="111025" y="28385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550;p56">
              <a:extLst>
                <a:ext uri="{FF2B5EF4-FFF2-40B4-BE49-F238E27FC236}">
                  <a16:creationId xmlns:a16="http://schemas.microsoft.com/office/drawing/2014/main" id="{6489AC28-0FE0-4FB5-9BDE-886EF970BFB1}"/>
                </a:ext>
              </a:extLst>
            </p:cNvPr>
            <p:cNvSpPr/>
            <p:nvPr/>
          </p:nvSpPr>
          <p:spPr>
            <a:xfrm>
              <a:off x="2680593" y="1921189"/>
              <a:ext cx="549324" cy="167997"/>
            </a:xfrm>
            <a:custGeom>
              <a:avLst/>
              <a:gdLst/>
              <a:ahLst/>
              <a:cxnLst/>
              <a:rect l="l" t="t" r="r" b="b"/>
              <a:pathLst>
                <a:path w="549324" h="167997" extrusionOk="0">
                  <a:moveTo>
                    <a:pt x="549324" y="0"/>
                  </a:moveTo>
                  <a:cubicBezTo>
                    <a:pt x="549324" y="11906"/>
                    <a:pt x="549324" y="23622"/>
                    <a:pt x="549324" y="35052"/>
                  </a:cubicBezTo>
                  <a:cubicBezTo>
                    <a:pt x="539819" y="66484"/>
                    <a:pt x="513964" y="96583"/>
                    <a:pt x="471949" y="120777"/>
                  </a:cubicBezTo>
                  <a:cubicBezTo>
                    <a:pt x="363016" y="183737"/>
                    <a:pt x="186784" y="183737"/>
                    <a:pt x="77375" y="120777"/>
                  </a:cubicBezTo>
                  <a:cubicBezTo>
                    <a:pt x="35361" y="96393"/>
                    <a:pt x="9601" y="66199"/>
                    <a:pt x="0" y="35052"/>
                  </a:cubicBezTo>
                  <a:lnTo>
                    <a:pt x="0" y="35052"/>
                  </a:lnTo>
                  <a:lnTo>
                    <a:pt x="0" y="95"/>
                  </a:lnTo>
                  <a:cubicBezTo>
                    <a:pt x="9506" y="32099"/>
                    <a:pt x="35170" y="62579"/>
                    <a:pt x="77755" y="87249"/>
                  </a:cubicBezTo>
                  <a:cubicBezTo>
                    <a:pt x="186784" y="150209"/>
                    <a:pt x="363396" y="150209"/>
                    <a:pt x="472329" y="87249"/>
                  </a:cubicBezTo>
                  <a:cubicBezTo>
                    <a:pt x="514059" y="62293"/>
                    <a:pt x="540484" y="31909"/>
                    <a:pt x="549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551;p56">
              <a:extLst>
                <a:ext uri="{FF2B5EF4-FFF2-40B4-BE49-F238E27FC236}">
                  <a16:creationId xmlns:a16="http://schemas.microsoft.com/office/drawing/2014/main" id="{F93E2D9A-B2A0-B72B-F897-D3F6EA967573}"/>
                </a:ext>
              </a:extLst>
            </p:cNvPr>
            <p:cNvSpPr/>
            <p:nvPr/>
          </p:nvSpPr>
          <p:spPr>
            <a:xfrm>
              <a:off x="2680308" y="1976244"/>
              <a:ext cx="548753" cy="165782"/>
            </a:xfrm>
            <a:custGeom>
              <a:avLst/>
              <a:gdLst/>
              <a:ahLst/>
              <a:cxnLst/>
              <a:rect l="l" t="t" r="r" b="b"/>
              <a:pathLst>
                <a:path w="548753" h="165782" extrusionOk="0">
                  <a:moveTo>
                    <a:pt x="548754" y="381"/>
                  </a:moveTo>
                  <a:cubicBezTo>
                    <a:pt x="548754" y="13145"/>
                    <a:pt x="548088" y="25527"/>
                    <a:pt x="547613" y="37433"/>
                  </a:cubicBezTo>
                  <a:cubicBezTo>
                    <a:pt x="536967" y="67151"/>
                    <a:pt x="511682" y="95441"/>
                    <a:pt x="471569" y="118491"/>
                  </a:cubicBezTo>
                  <a:cubicBezTo>
                    <a:pt x="362636" y="181546"/>
                    <a:pt x="186403" y="181546"/>
                    <a:pt x="76995" y="118491"/>
                  </a:cubicBezTo>
                  <a:cubicBezTo>
                    <a:pt x="36976" y="95250"/>
                    <a:pt x="11692" y="66770"/>
                    <a:pt x="951" y="36862"/>
                  </a:cubicBezTo>
                  <a:cubicBezTo>
                    <a:pt x="951" y="24955"/>
                    <a:pt x="285" y="12668"/>
                    <a:pt x="0" y="0"/>
                  </a:cubicBezTo>
                  <a:cubicBezTo>
                    <a:pt x="9506" y="31051"/>
                    <a:pt x="35456" y="60579"/>
                    <a:pt x="76900" y="84582"/>
                  </a:cubicBezTo>
                  <a:cubicBezTo>
                    <a:pt x="185928" y="147638"/>
                    <a:pt x="362541" y="147638"/>
                    <a:pt x="471474" y="84582"/>
                  </a:cubicBezTo>
                  <a:cubicBezTo>
                    <a:pt x="513108" y="60674"/>
                    <a:pt x="538773" y="31242"/>
                    <a:pt x="548754" y="3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552;p56">
              <a:extLst>
                <a:ext uri="{FF2B5EF4-FFF2-40B4-BE49-F238E27FC236}">
                  <a16:creationId xmlns:a16="http://schemas.microsoft.com/office/drawing/2014/main" id="{D7CEBC92-55A8-ACF3-E00A-B3B0968A9599}"/>
                </a:ext>
              </a:extLst>
            </p:cNvPr>
            <p:cNvSpPr/>
            <p:nvPr/>
          </p:nvSpPr>
          <p:spPr>
            <a:xfrm>
              <a:off x="2683349" y="1877470"/>
              <a:ext cx="542765" cy="158087"/>
            </a:xfrm>
            <a:custGeom>
              <a:avLst/>
              <a:gdLst/>
              <a:ahLst/>
              <a:cxnLst/>
              <a:rect l="l" t="t" r="r" b="b"/>
              <a:pathLst>
                <a:path w="542765" h="158087" extrusionOk="0">
                  <a:moveTo>
                    <a:pt x="542765" y="762"/>
                  </a:moveTo>
                  <a:cubicBezTo>
                    <a:pt x="531264" y="28670"/>
                    <a:pt x="506549" y="55245"/>
                    <a:pt x="468812" y="76962"/>
                  </a:cubicBezTo>
                  <a:cubicBezTo>
                    <a:pt x="359879" y="139922"/>
                    <a:pt x="183647" y="139922"/>
                    <a:pt x="74238" y="76962"/>
                  </a:cubicBezTo>
                  <a:cubicBezTo>
                    <a:pt x="36216" y="54864"/>
                    <a:pt x="11502" y="28194"/>
                    <a:pt x="0" y="0"/>
                  </a:cubicBezTo>
                  <a:cubicBezTo>
                    <a:pt x="760" y="13906"/>
                    <a:pt x="1521" y="26956"/>
                    <a:pt x="2376" y="39148"/>
                  </a:cubicBezTo>
                  <a:cubicBezTo>
                    <a:pt x="14639" y="65437"/>
                    <a:pt x="38592" y="90202"/>
                    <a:pt x="74238" y="110871"/>
                  </a:cubicBezTo>
                  <a:cubicBezTo>
                    <a:pt x="120732" y="136255"/>
                    <a:pt x="172028" y="151571"/>
                    <a:pt x="224806" y="155829"/>
                  </a:cubicBezTo>
                  <a:cubicBezTo>
                    <a:pt x="253246" y="158601"/>
                    <a:pt x="281876" y="158820"/>
                    <a:pt x="310355" y="156496"/>
                  </a:cubicBezTo>
                  <a:cubicBezTo>
                    <a:pt x="365732" y="152991"/>
                    <a:pt x="419677" y="137417"/>
                    <a:pt x="468432" y="110871"/>
                  </a:cubicBezTo>
                  <a:cubicBezTo>
                    <a:pt x="503793" y="90392"/>
                    <a:pt x="527652" y="65913"/>
                    <a:pt x="540009" y="399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553;p56">
              <a:extLst>
                <a:ext uri="{FF2B5EF4-FFF2-40B4-BE49-F238E27FC236}">
                  <a16:creationId xmlns:a16="http://schemas.microsoft.com/office/drawing/2014/main" id="{4F8D9A73-C994-A946-A20D-8F5F8E0B8AF3}"/>
                </a:ext>
              </a:extLst>
            </p:cNvPr>
            <p:cNvSpPr/>
            <p:nvPr/>
          </p:nvSpPr>
          <p:spPr>
            <a:xfrm>
              <a:off x="2829449" y="530444"/>
              <a:ext cx="249519" cy="126863"/>
            </a:xfrm>
            <a:custGeom>
              <a:avLst/>
              <a:gdLst/>
              <a:ahLst/>
              <a:cxnLst/>
              <a:rect l="l" t="t" r="r" b="b"/>
              <a:pathLst>
                <a:path w="249519" h="126863" extrusionOk="0">
                  <a:moveTo>
                    <a:pt x="249520" y="108109"/>
                  </a:moveTo>
                  <a:cubicBezTo>
                    <a:pt x="168218" y="133115"/>
                    <a:pt x="81302" y="133115"/>
                    <a:pt x="0" y="108109"/>
                  </a:cubicBezTo>
                  <a:cubicBezTo>
                    <a:pt x="33555" y="42481"/>
                    <a:pt x="73858" y="2381"/>
                    <a:pt x="122051" y="0"/>
                  </a:cubicBezTo>
                  <a:lnTo>
                    <a:pt x="122051" y="0"/>
                  </a:lnTo>
                  <a:lnTo>
                    <a:pt x="127564" y="0"/>
                  </a:lnTo>
                  <a:lnTo>
                    <a:pt x="127564" y="0"/>
                  </a:lnTo>
                  <a:cubicBezTo>
                    <a:pt x="175567" y="2857"/>
                    <a:pt x="215870" y="42767"/>
                    <a:pt x="249520" y="10810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554;p56">
              <a:extLst>
                <a:ext uri="{FF2B5EF4-FFF2-40B4-BE49-F238E27FC236}">
                  <a16:creationId xmlns:a16="http://schemas.microsoft.com/office/drawing/2014/main" id="{7E6146E2-A4F6-9EC1-8D78-819E49923D23}"/>
                </a:ext>
              </a:extLst>
            </p:cNvPr>
            <p:cNvSpPr/>
            <p:nvPr/>
          </p:nvSpPr>
          <p:spPr>
            <a:xfrm>
              <a:off x="2934010" y="1583052"/>
              <a:ext cx="47432" cy="623982"/>
            </a:xfrm>
            <a:custGeom>
              <a:avLst/>
              <a:gdLst/>
              <a:ahLst/>
              <a:cxnLst/>
              <a:rect l="l" t="t" r="r" b="b"/>
              <a:pathLst>
                <a:path w="47432" h="623982" extrusionOk="0">
                  <a:moveTo>
                    <a:pt x="0" y="0"/>
                  </a:moveTo>
                  <a:lnTo>
                    <a:pt x="47433" y="0"/>
                  </a:lnTo>
                  <a:lnTo>
                    <a:pt x="47433" y="623983"/>
                  </a:lnTo>
                  <a:lnTo>
                    <a:pt x="0" y="62398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" name="Google Shape;555;p56">
              <a:extLst>
                <a:ext uri="{FF2B5EF4-FFF2-40B4-BE49-F238E27FC236}">
                  <a16:creationId xmlns:a16="http://schemas.microsoft.com/office/drawing/2014/main" id="{4D39CE0F-E033-5486-8DE6-AA3C68B55500}"/>
                </a:ext>
              </a:extLst>
            </p:cNvPr>
            <p:cNvGrpSpPr/>
            <p:nvPr/>
          </p:nvGrpSpPr>
          <p:grpSpPr>
            <a:xfrm>
              <a:off x="4031993" y="117216"/>
              <a:ext cx="2889297" cy="3901793"/>
              <a:chOff x="5533368" y="1047716"/>
              <a:chExt cx="2889297" cy="3901793"/>
            </a:xfrm>
          </p:grpSpPr>
          <p:sp>
            <p:nvSpPr>
              <p:cNvPr id="72" name="Google Shape;556;p56">
                <a:extLst>
                  <a:ext uri="{FF2B5EF4-FFF2-40B4-BE49-F238E27FC236}">
                    <a16:creationId xmlns:a16="http://schemas.microsoft.com/office/drawing/2014/main" id="{F4EED033-1821-C285-4A40-81373DE80D58}"/>
                  </a:ext>
                </a:extLst>
              </p:cNvPr>
              <p:cNvSpPr/>
              <p:nvPr/>
            </p:nvSpPr>
            <p:spPr>
              <a:xfrm>
                <a:off x="6153722" y="4072604"/>
                <a:ext cx="1090544" cy="630910"/>
              </a:xfrm>
              <a:custGeom>
                <a:avLst/>
                <a:gdLst/>
                <a:ahLst/>
                <a:cxnLst/>
                <a:rect l="l" t="t" r="r" b="b"/>
                <a:pathLst>
                  <a:path w="1090544" h="630910" extrusionOk="0">
                    <a:moveTo>
                      <a:pt x="578197" y="615410"/>
                    </a:moveTo>
                    <a:lnTo>
                      <a:pt x="26877" y="296418"/>
                    </a:lnTo>
                    <a:cubicBezTo>
                      <a:pt x="-12951" y="273367"/>
                      <a:pt x="-7913" y="233172"/>
                      <a:pt x="37998" y="206597"/>
                    </a:cubicBezTo>
                    <a:lnTo>
                      <a:pt x="395216" y="0"/>
                    </a:lnTo>
                    <a:lnTo>
                      <a:pt x="1090545" y="402241"/>
                    </a:lnTo>
                    <a:lnTo>
                      <a:pt x="733327" y="608933"/>
                    </a:lnTo>
                    <a:cubicBezTo>
                      <a:pt x="687320" y="635508"/>
                      <a:pt x="617930" y="638365"/>
                      <a:pt x="578197" y="615410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557;p56">
                <a:extLst>
                  <a:ext uri="{FF2B5EF4-FFF2-40B4-BE49-F238E27FC236}">
                    <a16:creationId xmlns:a16="http://schemas.microsoft.com/office/drawing/2014/main" id="{38D877D4-6EFC-0AB3-8C36-4918EE515284}"/>
                  </a:ext>
                </a:extLst>
              </p:cNvPr>
              <p:cNvSpPr/>
              <p:nvPr/>
            </p:nvSpPr>
            <p:spPr>
              <a:xfrm>
                <a:off x="6193969" y="4048886"/>
                <a:ext cx="1090601" cy="630901"/>
              </a:xfrm>
              <a:custGeom>
                <a:avLst/>
                <a:gdLst/>
                <a:ahLst/>
                <a:cxnLst/>
                <a:rect l="l" t="t" r="r" b="b"/>
                <a:pathLst>
                  <a:path w="1090601" h="630901" extrusionOk="0">
                    <a:moveTo>
                      <a:pt x="578158" y="615410"/>
                    </a:moveTo>
                    <a:lnTo>
                      <a:pt x="26838" y="296323"/>
                    </a:lnTo>
                    <a:cubicBezTo>
                      <a:pt x="-12895" y="273368"/>
                      <a:pt x="-7952" y="233172"/>
                      <a:pt x="37960" y="206597"/>
                    </a:cubicBezTo>
                    <a:lnTo>
                      <a:pt x="395272" y="0"/>
                    </a:lnTo>
                    <a:lnTo>
                      <a:pt x="1090601" y="402241"/>
                    </a:lnTo>
                    <a:lnTo>
                      <a:pt x="733764" y="608838"/>
                    </a:lnTo>
                    <a:cubicBezTo>
                      <a:pt x="687377" y="635508"/>
                      <a:pt x="617891" y="638366"/>
                      <a:pt x="578158" y="61541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558;p56">
                <a:extLst>
                  <a:ext uri="{FF2B5EF4-FFF2-40B4-BE49-F238E27FC236}">
                    <a16:creationId xmlns:a16="http://schemas.microsoft.com/office/drawing/2014/main" id="{B01645DC-F438-546A-7448-855AB84A3E80}"/>
                  </a:ext>
                </a:extLst>
              </p:cNvPr>
              <p:cNvSpPr/>
              <p:nvPr/>
            </p:nvSpPr>
            <p:spPr>
              <a:xfrm>
                <a:off x="7252346" y="4430077"/>
                <a:ext cx="32128" cy="21050"/>
              </a:xfrm>
              <a:custGeom>
                <a:avLst/>
                <a:gdLst/>
                <a:ahLst/>
                <a:cxnLst/>
                <a:rect l="l" t="t" r="r" b="b"/>
                <a:pathLst>
                  <a:path w="32128" h="21050" extrusionOk="0">
                    <a:moveTo>
                      <a:pt x="32129" y="21050"/>
                    </a:moveTo>
                    <a:lnTo>
                      <a:pt x="32129" y="0"/>
                    </a:lnTo>
                    <a:lnTo>
                      <a:pt x="0" y="18574"/>
                    </a:lnTo>
                    <a:lnTo>
                      <a:pt x="32129" y="2105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559;p56">
                <a:extLst>
                  <a:ext uri="{FF2B5EF4-FFF2-40B4-BE49-F238E27FC236}">
                    <a16:creationId xmlns:a16="http://schemas.microsoft.com/office/drawing/2014/main" id="{97394597-164A-060B-6F09-2316AC7597D7}"/>
                  </a:ext>
                </a:extLst>
              </p:cNvPr>
              <p:cNvSpPr/>
              <p:nvPr/>
            </p:nvSpPr>
            <p:spPr>
              <a:xfrm>
                <a:off x="6193906" y="4285773"/>
                <a:ext cx="32984" cy="21431"/>
              </a:xfrm>
              <a:custGeom>
                <a:avLst/>
                <a:gdLst/>
                <a:ahLst/>
                <a:cxnLst/>
                <a:rect l="l" t="t" r="r" b="b"/>
                <a:pathLst>
                  <a:path w="32984" h="21431" extrusionOk="0">
                    <a:moveTo>
                      <a:pt x="0" y="21431"/>
                    </a:moveTo>
                    <a:lnTo>
                      <a:pt x="0" y="0"/>
                    </a:lnTo>
                    <a:lnTo>
                      <a:pt x="32984" y="13716"/>
                    </a:lnTo>
                    <a:lnTo>
                      <a:pt x="0" y="214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560;p56">
                <a:extLst>
                  <a:ext uri="{FF2B5EF4-FFF2-40B4-BE49-F238E27FC236}">
                    <a16:creationId xmlns:a16="http://schemas.microsoft.com/office/drawing/2014/main" id="{86D2E6D0-8A0C-0B31-8F95-E30B63006CE2}"/>
                  </a:ext>
                </a:extLst>
              </p:cNvPr>
              <p:cNvSpPr/>
              <p:nvPr/>
            </p:nvSpPr>
            <p:spPr>
              <a:xfrm>
                <a:off x="6193969" y="4027741"/>
                <a:ext cx="1090601" cy="630949"/>
              </a:xfrm>
              <a:custGeom>
                <a:avLst/>
                <a:gdLst/>
                <a:ahLst/>
                <a:cxnLst/>
                <a:rect l="l" t="t" r="r" b="b"/>
                <a:pathLst>
                  <a:path w="1090601" h="630949" extrusionOk="0">
                    <a:moveTo>
                      <a:pt x="578158" y="615410"/>
                    </a:moveTo>
                    <a:lnTo>
                      <a:pt x="26838" y="296418"/>
                    </a:lnTo>
                    <a:cubicBezTo>
                      <a:pt x="-12895" y="273368"/>
                      <a:pt x="-7952" y="233267"/>
                      <a:pt x="37960" y="206693"/>
                    </a:cubicBezTo>
                    <a:lnTo>
                      <a:pt x="395272" y="0"/>
                    </a:lnTo>
                    <a:lnTo>
                      <a:pt x="1090601" y="402336"/>
                    </a:lnTo>
                    <a:lnTo>
                      <a:pt x="733764" y="608934"/>
                    </a:lnTo>
                    <a:cubicBezTo>
                      <a:pt x="687377" y="635508"/>
                      <a:pt x="617891" y="638461"/>
                      <a:pt x="578158" y="615410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561;p56">
                <a:extLst>
                  <a:ext uri="{FF2B5EF4-FFF2-40B4-BE49-F238E27FC236}">
                    <a16:creationId xmlns:a16="http://schemas.microsoft.com/office/drawing/2014/main" id="{3CF7780B-C5AF-E7E1-0986-D72AC38A4A15}"/>
                  </a:ext>
                </a:extLst>
              </p:cNvPr>
              <p:cNvSpPr/>
              <p:nvPr/>
            </p:nvSpPr>
            <p:spPr>
              <a:xfrm>
                <a:off x="6504927" y="3742563"/>
                <a:ext cx="779547" cy="687514"/>
              </a:xfrm>
              <a:custGeom>
                <a:avLst/>
                <a:gdLst/>
                <a:ahLst/>
                <a:cxnLst/>
                <a:rect l="l" t="t" r="r" b="b"/>
                <a:pathLst>
                  <a:path w="779547" h="687514" extrusionOk="0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0"/>
                    </a:lnTo>
                    <a:lnTo>
                      <a:pt x="779548" y="687514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562;p56">
                <a:extLst>
                  <a:ext uri="{FF2B5EF4-FFF2-40B4-BE49-F238E27FC236}">
                    <a16:creationId xmlns:a16="http://schemas.microsoft.com/office/drawing/2014/main" id="{D953633F-6467-9338-9774-5141CE941AB8}"/>
                  </a:ext>
                </a:extLst>
              </p:cNvPr>
              <p:cNvSpPr/>
              <p:nvPr/>
            </p:nvSpPr>
            <p:spPr>
              <a:xfrm>
                <a:off x="7254152" y="4405788"/>
                <a:ext cx="30322" cy="36004"/>
              </a:xfrm>
              <a:custGeom>
                <a:avLst/>
                <a:gdLst/>
                <a:ahLst/>
                <a:cxnLst/>
                <a:rect l="l" t="t" r="r" b="b"/>
                <a:pathLst>
                  <a:path w="30322" h="36004" extrusionOk="0">
                    <a:moveTo>
                      <a:pt x="9981" y="36004"/>
                    </a:moveTo>
                    <a:lnTo>
                      <a:pt x="30323" y="2428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A1A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563;p56">
                <a:extLst>
                  <a:ext uri="{FF2B5EF4-FFF2-40B4-BE49-F238E27FC236}">
                    <a16:creationId xmlns:a16="http://schemas.microsoft.com/office/drawing/2014/main" id="{A0098A89-E579-E84D-6633-DAAE04B83CED}"/>
                  </a:ext>
                </a:extLst>
              </p:cNvPr>
              <p:cNvSpPr/>
              <p:nvPr/>
            </p:nvSpPr>
            <p:spPr>
              <a:xfrm>
                <a:off x="6482779" y="3753326"/>
                <a:ext cx="781258" cy="688466"/>
              </a:xfrm>
              <a:custGeom>
                <a:avLst/>
                <a:gdLst/>
                <a:ahLst/>
                <a:cxnLst/>
                <a:rect l="l" t="t" r="r" b="b"/>
                <a:pathLst>
                  <a:path w="781258" h="688466" extrusionOk="0">
                    <a:moveTo>
                      <a:pt x="86025" y="286131"/>
                    </a:moveTo>
                    <a:lnTo>
                      <a:pt x="0" y="0"/>
                    </a:lnTo>
                    <a:lnTo>
                      <a:pt x="702933" y="404051"/>
                    </a:lnTo>
                    <a:lnTo>
                      <a:pt x="781259" y="688467"/>
                    </a:lnTo>
                    <a:lnTo>
                      <a:pt x="86025" y="286131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564;p56">
                <a:extLst>
                  <a:ext uri="{FF2B5EF4-FFF2-40B4-BE49-F238E27FC236}">
                    <a16:creationId xmlns:a16="http://schemas.microsoft.com/office/drawing/2014/main" id="{84F9EC39-076F-6DC0-4B02-3938D59F68AC}"/>
                  </a:ext>
                </a:extLst>
              </p:cNvPr>
              <p:cNvSpPr/>
              <p:nvPr/>
            </p:nvSpPr>
            <p:spPr>
              <a:xfrm>
                <a:off x="5563120" y="1047716"/>
                <a:ext cx="2859545" cy="3884751"/>
              </a:xfrm>
              <a:custGeom>
                <a:avLst/>
                <a:gdLst/>
                <a:ahLst/>
                <a:cxnLst/>
                <a:rect l="l" t="t" r="r" b="b"/>
                <a:pathLst>
                  <a:path w="2859545" h="3884751" extrusionOk="0">
                    <a:moveTo>
                      <a:pt x="2790441" y="3876709"/>
                    </a:moveTo>
                    <a:lnTo>
                      <a:pt x="69105" y="2302131"/>
                    </a:lnTo>
                    <a:cubicBezTo>
                      <a:pt x="31083" y="2280033"/>
                      <a:pt x="0" y="2220787"/>
                      <a:pt x="0" y="2169829"/>
                    </a:cubicBezTo>
                    <a:lnTo>
                      <a:pt x="0" y="60708"/>
                    </a:lnTo>
                    <a:cubicBezTo>
                      <a:pt x="0" y="9654"/>
                      <a:pt x="30988" y="-13778"/>
                      <a:pt x="69105" y="8320"/>
                    </a:cubicBezTo>
                    <a:lnTo>
                      <a:pt x="2790441" y="1582517"/>
                    </a:lnTo>
                    <a:cubicBezTo>
                      <a:pt x="2828463" y="1604615"/>
                      <a:pt x="2859546" y="1663861"/>
                      <a:pt x="2859546" y="1714819"/>
                    </a:cubicBezTo>
                    <a:lnTo>
                      <a:pt x="2859546" y="3823940"/>
                    </a:lnTo>
                    <a:cubicBezTo>
                      <a:pt x="2859261" y="3874899"/>
                      <a:pt x="2828463" y="3898330"/>
                      <a:pt x="2790441" y="3876709"/>
                    </a:cubicBez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565;p56">
                <a:extLst>
                  <a:ext uri="{FF2B5EF4-FFF2-40B4-BE49-F238E27FC236}">
                    <a16:creationId xmlns:a16="http://schemas.microsoft.com/office/drawing/2014/main" id="{65C01901-A496-87E9-9E2B-C2BD327111E9}"/>
                  </a:ext>
                </a:extLst>
              </p:cNvPr>
              <p:cNvSpPr/>
              <p:nvPr/>
            </p:nvSpPr>
            <p:spPr>
              <a:xfrm>
                <a:off x="8367249" y="4838795"/>
                <a:ext cx="30132" cy="106965"/>
              </a:xfrm>
              <a:custGeom>
                <a:avLst/>
                <a:gdLst/>
                <a:ahLst/>
                <a:cxnLst/>
                <a:rect l="l" t="t" r="r" b="b"/>
                <a:pathLst>
                  <a:path w="30132" h="106965" extrusionOk="0">
                    <a:moveTo>
                      <a:pt x="0" y="106966"/>
                    </a:moveTo>
                    <a:lnTo>
                      <a:pt x="30132" y="89535"/>
                    </a:lnTo>
                    <a:lnTo>
                      <a:pt x="17110" y="0"/>
                    </a:lnTo>
                    <a:lnTo>
                      <a:pt x="0" y="106966"/>
                    </a:lnTo>
                    <a:close/>
                  </a:path>
                </a:pathLst>
              </a:custGeom>
              <a:solidFill>
                <a:srgbClr val="C4C7D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566;p56">
                <a:extLst>
                  <a:ext uri="{FF2B5EF4-FFF2-40B4-BE49-F238E27FC236}">
                    <a16:creationId xmlns:a16="http://schemas.microsoft.com/office/drawing/2014/main" id="{F5AB537C-5E6A-65DD-388E-153A1C2C3E80}"/>
                  </a:ext>
                </a:extLst>
              </p:cNvPr>
              <p:cNvSpPr/>
              <p:nvPr/>
            </p:nvSpPr>
            <p:spPr>
              <a:xfrm>
                <a:off x="5558272" y="1051845"/>
                <a:ext cx="72337" cy="31155"/>
              </a:xfrm>
              <a:custGeom>
                <a:avLst/>
                <a:gdLst/>
                <a:ahLst/>
                <a:cxnLst/>
                <a:rect l="l" t="t" r="r" b="b"/>
                <a:pathLst>
                  <a:path w="72337" h="31155" extrusionOk="0">
                    <a:moveTo>
                      <a:pt x="0" y="17240"/>
                    </a:moveTo>
                    <a:lnTo>
                      <a:pt x="29657" y="0"/>
                    </a:lnTo>
                    <a:lnTo>
                      <a:pt x="72337" y="24479"/>
                    </a:lnTo>
                    <a:cubicBezTo>
                      <a:pt x="72337" y="24479"/>
                      <a:pt x="26901" y="31433"/>
                      <a:pt x="25760" y="31147"/>
                    </a:cubicBezTo>
                    <a:cubicBezTo>
                      <a:pt x="24619" y="30861"/>
                      <a:pt x="0" y="17240"/>
                      <a:pt x="0" y="17240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567;p56">
                <a:extLst>
                  <a:ext uri="{FF2B5EF4-FFF2-40B4-BE49-F238E27FC236}">
                    <a16:creationId xmlns:a16="http://schemas.microsoft.com/office/drawing/2014/main" id="{C004AC49-3BE9-FE02-CCA6-091669BA2AD4}"/>
                  </a:ext>
                </a:extLst>
              </p:cNvPr>
              <p:cNvSpPr/>
              <p:nvPr/>
            </p:nvSpPr>
            <p:spPr>
              <a:xfrm>
                <a:off x="5538216" y="1062192"/>
                <a:ext cx="2859165" cy="3884558"/>
              </a:xfrm>
              <a:custGeom>
                <a:avLst/>
                <a:gdLst/>
                <a:ahLst/>
                <a:cxnLst/>
                <a:rect l="l" t="t" r="r" b="b"/>
                <a:pathLst>
                  <a:path w="2859165" h="3884558" extrusionOk="0">
                    <a:moveTo>
                      <a:pt x="2790061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789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893" y="-13776"/>
                      <a:pt x="69105" y="8322"/>
                    </a:cubicBezTo>
                    <a:lnTo>
                      <a:pt x="2790061" y="1582519"/>
                    </a:lnTo>
                    <a:cubicBezTo>
                      <a:pt x="2828083" y="1604617"/>
                      <a:pt x="2859166" y="1663862"/>
                      <a:pt x="2859166" y="1714821"/>
                    </a:cubicBezTo>
                    <a:lnTo>
                      <a:pt x="2859166" y="3824132"/>
                    </a:lnTo>
                    <a:cubicBezTo>
                      <a:pt x="2859166" y="3874900"/>
                      <a:pt x="2828273" y="3898332"/>
                      <a:pt x="2790061" y="3876234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568;p56">
                <a:extLst>
                  <a:ext uri="{FF2B5EF4-FFF2-40B4-BE49-F238E27FC236}">
                    <a16:creationId xmlns:a16="http://schemas.microsoft.com/office/drawing/2014/main" id="{F1EA68B6-7503-240E-EAB4-7F8FF9C5C5BA}"/>
                  </a:ext>
                </a:extLst>
              </p:cNvPr>
              <p:cNvSpPr/>
              <p:nvPr/>
            </p:nvSpPr>
            <p:spPr>
              <a:xfrm>
                <a:off x="5533368" y="1064955"/>
                <a:ext cx="2859260" cy="3884554"/>
              </a:xfrm>
              <a:custGeom>
                <a:avLst/>
                <a:gdLst/>
                <a:ahLst/>
                <a:cxnLst/>
                <a:rect l="l" t="t" r="r" b="b"/>
                <a:pathLst>
                  <a:path w="2859260" h="3884554" extrusionOk="0">
                    <a:moveTo>
                      <a:pt x="2790156" y="3876234"/>
                    </a:moveTo>
                    <a:lnTo>
                      <a:pt x="69105" y="2302037"/>
                    </a:lnTo>
                    <a:cubicBezTo>
                      <a:pt x="31083" y="2279939"/>
                      <a:pt x="0" y="2220694"/>
                      <a:pt x="0" y="2169735"/>
                    </a:cubicBezTo>
                    <a:lnTo>
                      <a:pt x="0" y="60614"/>
                    </a:lnTo>
                    <a:cubicBezTo>
                      <a:pt x="0" y="9655"/>
                      <a:pt x="30988" y="-13776"/>
                      <a:pt x="69105" y="8322"/>
                    </a:cubicBezTo>
                    <a:lnTo>
                      <a:pt x="2790156" y="1582995"/>
                    </a:lnTo>
                    <a:cubicBezTo>
                      <a:pt x="2828178" y="1604998"/>
                      <a:pt x="2859261" y="1664243"/>
                      <a:pt x="2859261" y="1715297"/>
                    </a:cubicBezTo>
                    <a:lnTo>
                      <a:pt x="2859261" y="3823847"/>
                    </a:lnTo>
                    <a:cubicBezTo>
                      <a:pt x="2859261" y="3874900"/>
                      <a:pt x="2828273" y="3898332"/>
                      <a:pt x="2790156" y="3876234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569;p56">
                <a:extLst>
                  <a:ext uri="{FF2B5EF4-FFF2-40B4-BE49-F238E27FC236}">
                    <a16:creationId xmlns:a16="http://schemas.microsoft.com/office/drawing/2014/main" id="{695434EB-2923-31DD-6EE2-CB57BEEAF6F5}"/>
                  </a:ext>
                </a:extLst>
              </p:cNvPr>
              <p:cNvSpPr/>
              <p:nvPr/>
            </p:nvSpPr>
            <p:spPr>
              <a:xfrm>
                <a:off x="5568443" y="1110406"/>
                <a:ext cx="2788159" cy="3702480"/>
              </a:xfrm>
              <a:custGeom>
                <a:avLst/>
                <a:gdLst/>
                <a:ahLst/>
                <a:cxnLst/>
                <a:rect l="l" t="t" r="r" b="b"/>
                <a:pathLst>
                  <a:path w="2788159" h="3702480" extrusionOk="0">
                    <a:moveTo>
                      <a:pt x="2786734" y="3702481"/>
                    </a:moveTo>
                    <a:lnTo>
                      <a:pt x="0" y="2089993"/>
                    </a:lnTo>
                    <a:lnTo>
                      <a:pt x="951" y="23640"/>
                    </a:lnTo>
                    <a:cubicBezTo>
                      <a:pt x="951" y="2494"/>
                      <a:pt x="15779" y="-6078"/>
                      <a:pt x="34030" y="4590"/>
                    </a:cubicBezTo>
                    <a:lnTo>
                      <a:pt x="2755080" y="1578691"/>
                    </a:lnTo>
                    <a:cubicBezTo>
                      <a:pt x="2774529" y="1591407"/>
                      <a:pt x="2786800" y="1612610"/>
                      <a:pt x="2788160" y="163584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570;p56">
                <a:extLst>
                  <a:ext uri="{FF2B5EF4-FFF2-40B4-BE49-F238E27FC236}">
                    <a16:creationId xmlns:a16="http://schemas.microsoft.com/office/drawing/2014/main" id="{A3D8458B-7AA2-9EB2-D192-2B1257184E78}"/>
                  </a:ext>
                </a:extLst>
              </p:cNvPr>
              <p:cNvSpPr/>
              <p:nvPr/>
            </p:nvSpPr>
            <p:spPr>
              <a:xfrm>
                <a:off x="5762166" y="1403396"/>
                <a:ext cx="919754" cy="618313"/>
              </a:xfrm>
              <a:custGeom>
                <a:avLst/>
                <a:gdLst/>
                <a:ahLst/>
                <a:cxnLst/>
                <a:rect l="l" t="t" r="r" b="b"/>
                <a:pathLst>
                  <a:path w="919754" h="618313" extrusionOk="0">
                    <a:moveTo>
                      <a:pt x="906256" y="616665"/>
                    </a:moveTo>
                    <a:lnTo>
                      <a:pt x="13498" y="100220"/>
                    </a:lnTo>
                    <a:cubicBezTo>
                      <a:pt x="5142" y="94185"/>
                      <a:pt x="133" y="84538"/>
                      <a:pt x="0" y="74217"/>
                    </a:cubicBezTo>
                    <a:lnTo>
                      <a:pt x="0" y="11828"/>
                    </a:lnTo>
                    <a:cubicBezTo>
                      <a:pt x="0" y="2303"/>
                      <a:pt x="5988" y="-2745"/>
                      <a:pt x="13498" y="1541"/>
                    </a:cubicBezTo>
                    <a:lnTo>
                      <a:pt x="906256" y="517986"/>
                    </a:lnTo>
                    <a:cubicBezTo>
                      <a:pt x="914574" y="524052"/>
                      <a:pt x="919574" y="533680"/>
                      <a:pt x="919754" y="543990"/>
                    </a:cubicBezTo>
                    <a:lnTo>
                      <a:pt x="919754" y="606378"/>
                    </a:lnTo>
                    <a:cubicBezTo>
                      <a:pt x="919754" y="616380"/>
                      <a:pt x="913671" y="621047"/>
                      <a:pt x="906256" y="61666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571;p56">
                <a:extLst>
                  <a:ext uri="{FF2B5EF4-FFF2-40B4-BE49-F238E27FC236}">
                    <a16:creationId xmlns:a16="http://schemas.microsoft.com/office/drawing/2014/main" id="{CD4A2568-EA3D-8030-ACFF-0DBCFFF25C23}"/>
                  </a:ext>
                </a:extLst>
              </p:cNvPr>
              <p:cNvSpPr/>
              <p:nvPr/>
            </p:nvSpPr>
            <p:spPr>
              <a:xfrm>
                <a:off x="5766158" y="1584712"/>
                <a:ext cx="686298" cy="451951"/>
              </a:xfrm>
              <a:custGeom>
                <a:avLst/>
                <a:gdLst/>
                <a:ahLst/>
                <a:cxnLst/>
                <a:rect l="l" t="t" r="r" b="b"/>
                <a:pathLst>
                  <a:path w="686298" h="451951" extrusionOk="0">
                    <a:moveTo>
                      <a:pt x="672991" y="450304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057"/>
                    </a:lnTo>
                    <a:cubicBezTo>
                      <a:pt x="681261" y="389103"/>
                      <a:pt x="686194" y="398708"/>
                      <a:pt x="686299" y="408965"/>
                    </a:cubicBezTo>
                    <a:lnTo>
                      <a:pt x="686299" y="440017"/>
                    </a:lnTo>
                    <a:cubicBezTo>
                      <a:pt x="686299" y="450018"/>
                      <a:pt x="680405" y="454685"/>
                      <a:pt x="672991" y="45030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572;p56">
                <a:extLst>
                  <a:ext uri="{FF2B5EF4-FFF2-40B4-BE49-F238E27FC236}">
                    <a16:creationId xmlns:a16="http://schemas.microsoft.com/office/drawing/2014/main" id="{57347C56-489F-3979-3743-FD8784F91083}"/>
                  </a:ext>
                </a:extLst>
              </p:cNvPr>
              <p:cNvSpPr/>
              <p:nvPr/>
            </p:nvSpPr>
            <p:spPr>
              <a:xfrm>
                <a:off x="5766158" y="1702632"/>
                <a:ext cx="686488" cy="451759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759" extrusionOk="0">
                    <a:moveTo>
                      <a:pt x="672991" y="450018"/>
                    </a:moveTo>
                    <a:lnTo>
                      <a:pt x="13593" y="69018"/>
                    </a:lnTo>
                    <a:cubicBezTo>
                      <a:pt x="5199" y="63044"/>
                      <a:pt x="152" y="53422"/>
                      <a:pt x="0" y="43110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72991" y="383343"/>
                    </a:lnTo>
                    <a:cubicBezTo>
                      <a:pt x="681337" y="389344"/>
                      <a:pt x="686337" y="398964"/>
                      <a:pt x="686489" y="409251"/>
                    </a:cubicBezTo>
                    <a:lnTo>
                      <a:pt x="686489" y="440302"/>
                    </a:lnTo>
                    <a:cubicBezTo>
                      <a:pt x="686299" y="450018"/>
                      <a:pt x="680405" y="454495"/>
                      <a:pt x="672991" y="450018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573;p56">
                <a:extLst>
                  <a:ext uri="{FF2B5EF4-FFF2-40B4-BE49-F238E27FC236}">
                    <a16:creationId xmlns:a16="http://schemas.microsoft.com/office/drawing/2014/main" id="{DAEF5B99-52AA-FBB7-4A3C-CAD0FF7F99A8}"/>
                  </a:ext>
                </a:extLst>
              </p:cNvPr>
              <p:cNvSpPr/>
              <p:nvPr/>
            </p:nvSpPr>
            <p:spPr>
              <a:xfrm>
                <a:off x="5766158" y="1820170"/>
                <a:ext cx="562156" cy="379997"/>
              </a:xfrm>
              <a:custGeom>
                <a:avLst/>
                <a:gdLst/>
                <a:ahLst/>
                <a:cxnLst/>
                <a:rect l="l" t="t" r="r" b="b"/>
                <a:pathLst>
                  <a:path w="562156" h="379997" extrusionOk="0">
                    <a:moveTo>
                      <a:pt x="548564" y="378390"/>
                    </a:moveTo>
                    <a:lnTo>
                      <a:pt x="13593" y="68827"/>
                    </a:lnTo>
                    <a:cubicBezTo>
                      <a:pt x="5199" y="62853"/>
                      <a:pt x="152" y="53231"/>
                      <a:pt x="0" y="42919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548564" y="311048"/>
                    </a:lnTo>
                    <a:cubicBezTo>
                      <a:pt x="556948" y="317077"/>
                      <a:pt x="561985" y="326717"/>
                      <a:pt x="562157" y="337051"/>
                    </a:cubicBezTo>
                    <a:lnTo>
                      <a:pt x="562157" y="368103"/>
                    </a:lnTo>
                    <a:cubicBezTo>
                      <a:pt x="562157" y="378104"/>
                      <a:pt x="556073" y="382676"/>
                      <a:pt x="548564" y="3783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574;p56">
                <a:extLst>
                  <a:ext uri="{FF2B5EF4-FFF2-40B4-BE49-F238E27FC236}">
                    <a16:creationId xmlns:a16="http://schemas.microsoft.com/office/drawing/2014/main" id="{C03F62A8-BE29-D9C3-E95F-9D08B61EF09C}"/>
                  </a:ext>
                </a:extLst>
              </p:cNvPr>
              <p:cNvSpPr/>
              <p:nvPr/>
            </p:nvSpPr>
            <p:spPr>
              <a:xfrm>
                <a:off x="5762166" y="2639293"/>
                <a:ext cx="919754" cy="618340"/>
              </a:xfrm>
              <a:custGeom>
                <a:avLst/>
                <a:gdLst/>
                <a:ahLst/>
                <a:cxnLst/>
                <a:rect l="l" t="t" r="r" b="b"/>
                <a:pathLst>
                  <a:path w="919754" h="618340" extrusionOk="0">
                    <a:moveTo>
                      <a:pt x="906256" y="616732"/>
                    </a:moveTo>
                    <a:lnTo>
                      <a:pt x="13498" y="100287"/>
                    </a:lnTo>
                    <a:cubicBezTo>
                      <a:pt x="5142" y="94248"/>
                      <a:pt x="133" y="84609"/>
                      <a:pt x="0" y="74284"/>
                    </a:cubicBezTo>
                    <a:lnTo>
                      <a:pt x="0" y="11895"/>
                    </a:lnTo>
                    <a:cubicBezTo>
                      <a:pt x="0" y="1894"/>
                      <a:pt x="5988" y="-2678"/>
                      <a:pt x="13498" y="1608"/>
                    </a:cubicBezTo>
                    <a:lnTo>
                      <a:pt x="906256" y="518053"/>
                    </a:lnTo>
                    <a:cubicBezTo>
                      <a:pt x="914574" y="524121"/>
                      <a:pt x="919574" y="533751"/>
                      <a:pt x="919754" y="544057"/>
                    </a:cubicBezTo>
                    <a:lnTo>
                      <a:pt x="919754" y="606445"/>
                    </a:lnTo>
                    <a:cubicBezTo>
                      <a:pt x="919754" y="616447"/>
                      <a:pt x="913671" y="621019"/>
                      <a:pt x="906256" y="61673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575;p56">
                <a:extLst>
                  <a:ext uri="{FF2B5EF4-FFF2-40B4-BE49-F238E27FC236}">
                    <a16:creationId xmlns:a16="http://schemas.microsoft.com/office/drawing/2014/main" id="{221AC9D9-C13E-537A-7F49-9E250ECEC03E}"/>
                  </a:ext>
                </a:extLst>
              </p:cNvPr>
              <p:cNvSpPr/>
              <p:nvPr/>
            </p:nvSpPr>
            <p:spPr>
              <a:xfrm>
                <a:off x="5766158" y="2821069"/>
                <a:ext cx="686488" cy="451519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519" extrusionOk="0">
                    <a:moveTo>
                      <a:pt x="672991" y="449910"/>
                    </a:moveTo>
                    <a:lnTo>
                      <a:pt x="13593" y="68910"/>
                    </a:lnTo>
                    <a:cubicBezTo>
                      <a:pt x="5209" y="62881"/>
                      <a:pt x="171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672991" y="382664"/>
                    </a:lnTo>
                    <a:cubicBezTo>
                      <a:pt x="681308" y="388731"/>
                      <a:pt x="686308" y="398361"/>
                      <a:pt x="686489" y="408667"/>
                    </a:cubicBezTo>
                    <a:lnTo>
                      <a:pt x="686489" y="439719"/>
                    </a:lnTo>
                    <a:cubicBezTo>
                      <a:pt x="686299" y="449625"/>
                      <a:pt x="680405" y="454197"/>
                      <a:pt x="672991" y="44991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576;p56">
                <a:extLst>
                  <a:ext uri="{FF2B5EF4-FFF2-40B4-BE49-F238E27FC236}">
                    <a16:creationId xmlns:a16="http://schemas.microsoft.com/office/drawing/2014/main" id="{8FAA82E9-65AA-83F2-AA34-1DD374BDE4B5}"/>
                  </a:ext>
                </a:extLst>
              </p:cNvPr>
              <p:cNvSpPr/>
              <p:nvPr/>
            </p:nvSpPr>
            <p:spPr>
              <a:xfrm>
                <a:off x="5766158" y="2938486"/>
                <a:ext cx="686488" cy="451826"/>
              </a:xfrm>
              <a:custGeom>
                <a:avLst/>
                <a:gdLst/>
                <a:ahLst/>
                <a:cxnLst/>
                <a:rect l="l" t="t" r="r" b="b"/>
                <a:pathLst>
                  <a:path w="686488" h="451826" extrusionOk="0">
                    <a:moveTo>
                      <a:pt x="672991" y="450223"/>
                    </a:moveTo>
                    <a:lnTo>
                      <a:pt x="13593" y="68747"/>
                    </a:lnTo>
                    <a:cubicBezTo>
                      <a:pt x="5228" y="62756"/>
                      <a:pt x="190" y="53145"/>
                      <a:pt x="0" y="42839"/>
                    </a:cubicBezTo>
                    <a:lnTo>
                      <a:pt x="0" y="11787"/>
                    </a:lnTo>
                    <a:cubicBezTo>
                      <a:pt x="0" y="2262"/>
                      <a:pt x="6084" y="-2786"/>
                      <a:pt x="13593" y="1595"/>
                    </a:cubicBezTo>
                    <a:lnTo>
                      <a:pt x="672991" y="382595"/>
                    </a:lnTo>
                    <a:cubicBezTo>
                      <a:pt x="681308" y="388663"/>
                      <a:pt x="686308" y="398293"/>
                      <a:pt x="686489" y="408599"/>
                    </a:cubicBezTo>
                    <a:lnTo>
                      <a:pt x="686489" y="439650"/>
                    </a:lnTo>
                    <a:cubicBezTo>
                      <a:pt x="686299" y="449937"/>
                      <a:pt x="680405" y="454509"/>
                      <a:pt x="672991" y="450223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577;p56">
                <a:extLst>
                  <a:ext uri="{FF2B5EF4-FFF2-40B4-BE49-F238E27FC236}">
                    <a16:creationId xmlns:a16="http://schemas.microsoft.com/office/drawing/2014/main" id="{DBD712F4-DF0A-FC6D-62FD-202318231558}"/>
                  </a:ext>
                </a:extLst>
              </p:cNvPr>
              <p:cNvSpPr/>
              <p:nvPr/>
            </p:nvSpPr>
            <p:spPr>
              <a:xfrm>
                <a:off x="5766158" y="3056051"/>
                <a:ext cx="562156" cy="379920"/>
              </a:xfrm>
              <a:custGeom>
                <a:avLst/>
                <a:gdLst/>
                <a:ahLst/>
                <a:cxnLst/>
                <a:rect l="l" t="t" r="r" b="b"/>
                <a:pathLst>
                  <a:path w="562156" h="379920" extrusionOk="0">
                    <a:moveTo>
                      <a:pt x="548564" y="378378"/>
                    </a:moveTo>
                    <a:lnTo>
                      <a:pt x="13593" y="68910"/>
                    </a:lnTo>
                    <a:cubicBezTo>
                      <a:pt x="5199" y="62900"/>
                      <a:pt x="152" y="53242"/>
                      <a:pt x="0" y="42907"/>
                    </a:cubicBezTo>
                    <a:lnTo>
                      <a:pt x="0" y="11856"/>
                    </a:lnTo>
                    <a:cubicBezTo>
                      <a:pt x="0" y="1854"/>
                      <a:pt x="6084" y="-2718"/>
                      <a:pt x="13593" y="1664"/>
                    </a:cubicBezTo>
                    <a:lnTo>
                      <a:pt x="548564" y="311131"/>
                    </a:lnTo>
                    <a:cubicBezTo>
                      <a:pt x="556948" y="317161"/>
                      <a:pt x="561985" y="326800"/>
                      <a:pt x="562157" y="337134"/>
                    </a:cubicBezTo>
                    <a:lnTo>
                      <a:pt x="562157" y="368186"/>
                    </a:lnTo>
                    <a:cubicBezTo>
                      <a:pt x="562157" y="378187"/>
                      <a:pt x="556073" y="382473"/>
                      <a:pt x="548564" y="378378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578;p56">
                <a:extLst>
                  <a:ext uri="{FF2B5EF4-FFF2-40B4-BE49-F238E27FC236}">
                    <a16:creationId xmlns:a16="http://schemas.microsoft.com/office/drawing/2014/main" id="{288FF745-0202-3D6D-E195-34A95FC6A469}"/>
                  </a:ext>
                </a:extLst>
              </p:cNvPr>
              <p:cNvSpPr/>
              <p:nvPr/>
            </p:nvSpPr>
            <p:spPr>
              <a:xfrm>
                <a:off x="6897600" y="3332192"/>
                <a:ext cx="1250451" cy="1162368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1162368" extrusionOk="0">
                    <a:moveTo>
                      <a:pt x="9696" y="77186"/>
                    </a:moveTo>
                    <a:cubicBezTo>
                      <a:pt x="9696" y="77186"/>
                      <a:pt x="108173" y="160053"/>
                      <a:pt x="250376" y="46896"/>
                    </a:cubicBezTo>
                    <a:cubicBezTo>
                      <a:pt x="351895" y="-36543"/>
                      <a:pt x="442672" y="11082"/>
                      <a:pt x="493242" y="39657"/>
                    </a:cubicBezTo>
                    <a:cubicBezTo>
                      <a:pt x="543811" y="68232"/>
                      <a:pt x="616813" y="85758"/>
                      <a:pt x="755879" y="337409"/>
                    </a:cubicBezTo>
                    <a:cubicBezTo>
                      <a:pt x="755879" y="337409"/>
                      <a:pt x="801125" y="416276"/>
                      <a:pt x="875839" y="459519"/>
                    </a:cubicBezTo>
                    <a:cubicBezTo>
                      <a:pt x="950552" y="502763"/>
                      <a:pt x="986483" y="481617"/>
                      <a:pt x="1045227" y="392844"/>
                    </a:cubicBezTo>
                    <a:cubicBezTo>
                      <a:pt x="1103971" y="304071"/>
                      <a:pt x="1142469" y="205773"/>
                      <a:pt x="1250452" y="269972"/>
                    </a:cubicBezTo>
                    <a:lnTo>
                      <a:pt x="1250452" y="1162369"/>
                    </a:lnTo>
                    <a:lnTo>
                      <a:pt x="0" y="439707"/>
                    </a:lnTo>
                    <a:lnTo>
                      <a:pt x="0" y="71375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579;p56">
                <a:extLst>
                  <a:ext uri="{FF2B5EF4-FFF2-40B4-BE49-F238E27FC236}">
                    <a16:creationId xmlns:a16="http://schemas.microsoft.com/office/drawing/2014/main" id="{4445474A-B478-084B-A057-94117D30BD46}"/>
                  </a:ext>
                </a:extLst>
              </p:cNvPr>
              <p:cNvSpPr/>
              <p:nvPr/>
            </p:nvSpPr>
            <p:spPr>
              <a:xfrm>
                <a:off x="5766443" y="2003281"/>
                <a:ext cx="882682" cy="1029375"/>
              </a:xfrm>
              <a:custGeom>
                <a:avLst/>
                <a:gdLst/>
                <a:ahLst/>
                <a:cxnLst/>
                <a:rect l="l" t="t" r="r" b="b"/>
                <a:pathLst>
                  <a:path w="882682" h="1029375" extrusionOk="0">
                    <a:moveTo>
                      <a:pt x="869090" y="1027764"/>
                    </a:moveTo>
                    <a:lnTo>
                      <a:pt x="13593" y="532464"/>
                    </a:lnTo>
                    <a:cubicBezTo>
                      <a:pt x="5209" y="526435"/>
                      <a:pt x="171" y="516796"/>
                      <a:pt x="0" y="506461"/>
                    </a:cubicBezTo>
                    <a:lnTo>
                      <a:pt x="0" y="11828"/>
                    </a:lnTo>
                    <a:cubicBezTo>
                      <a:pt x="0" y="2303"/>
                      <a:pt x="6084" y="-2745"/>
                      <a:pt x="13593" y="1541"/>
                    </a:cubicBezTo>
                    <a:lnTo>
                      <a:pt x="869090" y="496841"/>
                    </a:lnTo>
                    <a:cubicBezTo>
                      <a:pt x="877474" y="502870"/>
                      <a:pt x="882512" y="512510"/>
                      <a:pt x="882683" y="522844"/>
                    </a:cubicBezTo>
                    <a:lnTo>
                      <a:pt x="882683" y="1017668"/>
                    </a:lnTo>
                    <a:cubicBezTo>
                      <a:pt x="882683" y="1027479"/>
                      <a:pt x="876599" y="1032051"/>
                      <a:pt x="869090" y="102776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580;p56">
                <a:extLst>
                  <a:ext uri="{FF2B5EF4-FFF2-40B4-BE49-F238E27FC236}">
                    <a16:creationId xmlns:a16="http://schemas.microsoft.com/office/drawing/2014/main" id="{106F2302-96D0-BE53-00EF-C41B55B34EEF}"/>
                  </a:ext>
                </a:extLst>
              </p:cNvPr>
              <p:cNvSpPr/>
              <p:nvPr/>
            </p:nvSpPr>
            <p:spPr>
              <a:xfrm>
                <a:off x="6897600" y="3388613"/>
                <a:ext cx="1250451" cy="1106424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1106424" extrusionOk="0">
                    <a:moveTo>
                      <a:pt x="0" y="0"/>
                    </a:moveTo>
                    <a:lnTo>
                      <a:pt x="0" y="383096"/>
                    </a:lnTo>
                    <a:lnTo>
                      <a:pt x="1250452" y="1106424"/>
                    </a:lnTo>
                    <a:lnTo>
                      <a:pt x="1250452" y="214027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581;p56">
                <a:extLst>
                  <a:ext uri="{FF2B5EF4-FFF2-40B4-BE49-F238E27FC236}">
                    <a16:creationId xmlns:a16="http://schemas.microsoft.com/office/drawing/2014/main" id="{60020EAF-13AF-970D-029A-394528B1EF23}"/>
                  </a:ext>
                </a:extLst>
              </p:cNvPr>
              <p:cNvSpPr/>
              <p:nvPr/>
            </p:nvSpPr>
            <p:spPr>
              <a:xfrm>
                <a:off x="7389036" y="3376326"/>
                <a:ext cx="9505" cy="678751"/>
              </a:xfrm>
              <a:custGeom>
                <a:avLst/>
                <a:gdLst/>
                <a:ahLst/>
                <a:cxnLst/>
                <a:rect l="l" t="t" r="r" b="b"/>
                <a:pathLst>
                  <a:path w="9505" h="678751" extrusionOk="0">
                    <a:moveTo>
                      <a:pt x="0" y="0"/>
                    </a:moveTo>
                    <a:lnTo>
                      <a:pt x="0" y="678752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582;p56">
                <a:extLst>
                  <a:ext uri="{FF2B5EF4-FFF2-40B4-BE49-F238E27FC236}">
                    <a16:creationId xmlns:a16="http://schemas.microsoft.com/office/drawing/2014/main" id="{3DBF1D41-56D6-AD89-33FE-4008E2901BDA}"/>
                  </a:ext>
                </a:extLst>
              </p:cNvPr>
              <p:cNvSpPr/>
              <p:nvPr/>
            </p:nvSpPr>
            <p:spPr>
              <a:xfrm>
                <a:off x="7771633" y="3805618"/>
                <a:ext cx="9505" cy="470725"/>
              </a:xfrm>
              <a:custGeom>
                <a:avLst/>
                <a:gdLst/>
                <a:ahLst/>
                <a:cxnLst/>
                <a:rect l="l" t="t" r="r" b="b"/>
                <a:pathLst>
                  <a:path w="9505" h="470725" extrusionOk="0">
                    <a:moveTo>
                      <a:pt x="0" y="0"/>
                    </a:moveTo>
                    <a:lnTo>
                      <a:pt x="0" y="470725"/>
                    </a:lnTo>
                  </a:path>
                </a:pathLst>
              </a:custGeom>
              <a:noFill/>
              <a:ln w="9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583;p56">
                <a:extLst>
                  <a:ext uri="{FF2B5EF4-FFF2-40B4-BE49-F238E27FC236}">
                    <a16:creationId xmlns:a16="http://schemas.microsoft.com/office/drawing/2014/main" id="{6310DE42-6527-0168-FFD0-CF3169DC3E97}"/>
                  </a:ext>
                </a:extLst>
              </p:cNvPr>
              <p:cNvSpPr/>
              <p:nvPr/>
            </p:nvSpPr>
            <p:spPr>
              <a:xfrm>
                <a:off x="6897600" y="3332663"/>
                <a:ext cx="1250451" cy="479359"/>
              </a:xfrm>
              <a:custGeom>
                <a:avLst/>
                <a:gdLst/>
                <a:ahLst/>
                <a:cxnLst/>
                <a:rect l="l" t="t" r="r" b="b"/>
                <a:pathLst>
                  <a:path w="1250451" h="479359" extrusionOk="0">
                    <a:moveTo>
                      <a:pt x="0" y="70905"/>
                    </a:moveTo>
                    <a:cubicBezTo>
                      <a:pt x="221859" y="208732"/>
                      <a:pt x="253227" y="-102831"/>
                      <a:pt x="494953" y="36996"/>
                    </a:cubicBezTo>
                    <a:cubicBezTo>
                      <a:pt x="736678" y="176823"/>
                      <a:pt x="703314" y="359036"/>
                      <a:pt x="881732" y="462288"/>
                    </a:cubicBezTo>
                    <a:cubicBezTo>
                      <a:pt x="1060151" y="565538"/>
                      <a:pt x="1064333" y="162250"/>
                      <a:pt x="1250452" y="269978"/>
                    </a:cubicBezTo>
                  </a:path>
                </a:pathLst>
              </a:custGeom>
              <a:noFill/>
              <a:ln w="14525" cap="flat" cmpd="sng">
                <a:solidFill>
                  <a:srgbClr val="E9EAF2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584;p56">
                <a:extLst>
                  <a:ext uri="{FF2B5EF4-FFF2-40B4-BE49-F238E27FC236}">
                    <a16:creationId xmlns:a16="http://schemas.microsoft.com/office/drawing/2014/main" id="{08A13D7B-855F-A596-3A8E-867DAC40982C}"/>
                  </a:ext>
                </a:extLst>
              </p:cNvPr>
              <p:cNvSpPr/>
              <p:nvPr/>
            </p:nvSpPr>
            <p:spPr>
              <a:xfrm rot="-1801764">
                <a:off x="7364922" y="3334621"/>
                <a:ext cx="48054" cy="83555"/>
              </a:xfrm>
              <a:custGeom>
                <a:avLst/>
                <a:gdLst/>
                <a:ahLst/>
                <a:cxnLst/>
                <a:rect l="l" t="t" r="r" b="b"/>
                <a:pathLst>
                  <a:path w="48097" h="83629" extrusionOk="0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585;p56">
                <a:extLst>
                  <a:ext uri="{FF2B5EF4-FFF2-40B4-BE49-F238E27FC236}">
                    <a16:creationId xmlns:a16="http://schemas.microsoft.com/office/drawing/2014/main" id="{58EEF22C-FA93-FCB5-9103-EA6B77FE0C04}"/>
                  </a:ext>
                </a:extLst>
              </p:cNvPr>
              <p:cNvSpPr/>
              <p:nvPr/>
            </p:nvSpPr>
            <p:spPr>
              <a:xfrm rot="-1790023">
                <a:off x="8141346" y="3571007"/>
                <a:ext cx="48265" cy="83920"/>
              </a:xfrm>
              <a:custGeom>
                <a:avLst/>
                <a:gdLst/>
                <a:ahLst/>
                <a:cxnLst/>
                <a:rect l="l" t="t" r="r" b="b"/>
                <a:pathLst>
                  <a:path w="48263" h="83917" extrusionOk="0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4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4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586;p56">
                <a:extLst>
                  <a:ext uri="{FF2B5EF4-FFF2-40B4-BE49-F238E27FC236}">
                    <a16:creationId xmlns:a16="http://schemas.microsoft.com/office/drawing/2014/main" id="{169E437B-4248-24FE-DD67-C13E706266AA}"/>
                  </a:ext>
                </a:extLst>
              </p:cNvPr>
              <p:cNvSpPr/>
              <p:nvPr/>
            </p:nvSpPr>
            <p:spPr>
              <a:xfrm rot="-1790023">
                <a:off x="7763340" y="3766404"/>
                <a:ext cx="48265" cy="83920"/>
              </a:xfrm>
              <a:custGeom>
                <a:avLst/>
                <a:gdLst/>
                <a:ahLst/>
                <a:cxnLst/>
                <a:rect l="l" t="t" r="r" b="b"/>
                <a:pathLst>
                  <a:path w="48263" h="83917" extrusionOk="0">
                    <a:moveTo>
                      <a:pt x="48265" y="41960"/>
                    </a:moveTo>
                    <a:cubicBezTo>
                      <a:pt x="48265" y="65133"/>
                      <a:pt x="37461" y="83919"/>
                      <a:pt x="24133" y="83919"/>
                    </a:cubicBezTo>
                    <a:cubicBezTo>
                      <a:pt x="10806" y="83919"/>
                      <a:pt x="2" y="65133"/>
                      <a:pt x="2" y="41960"/>
                    </a:cubicBezTo>
                    <a:cubicBezTo>
                      <a:pt x="2" y="18787"/>
                      <a:pt x="10806" y="1"/>
                      <a:pt x="24133" y="1"/>
                    </a:cubicBezTo>
                    <a:cubicBezTo>
                      <a:pt x="37461" y="1"/>
                      <a:pt x="48265" y="18787"/>
                      <a:pt x="48265" y="4196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587;p56">
                <a:extLst>
                  <a:ext uri="{FF2B5EF4-FFF2-40B4-BE49-F238E27FC236}">
                    <a16:creationId xmlns:a16="http://schemas.microsoft.com/office/drawing/2014/main" id="{060D8835-4047-673F-24F2-7799FDCFA7FB}"/>
                  </a:ext>
                </a:extLst>
              </p:cNvPr>
              <p:cNvSpPr/>
              <p:nvPr/>
            </p:nvSpPr>
            <p:spPr>
              <a:xfrm rot="-1801764">
                <a:off x="6873548" y="3361832"/>
                <a:ext cx="48054" cy="83555"/>
              </a:xfrm>
              <a:custGeom>
                <a:avLst/>
                <a:gdLst/>
                <a:ahLst/>
                <a:cxnLst/>
                <a:rect l="l" t="t" r="r" b="b"/>
                <a:pathLst>
                  <a:path w="48097" h="83629" extrusionOk="0">
                    <a:moveTo>
                      <a:pt x="48098" y="41815"/>
                    </a:moveTo>
                    <a:cubicBezTo>
                      <a:pt x="48098" y="64908"/>
                      <a:pt x="37331" y="83629"/>
                      <a:pt x="24049" y="83629"/>
                    </a:cubicBezTo>
                    <a:cubicBezTo>
                      <a:pt x="10767" y="83629"/>
                      <a:pt x="0" y="64908"/>
                      <a:pt x="0" y="41815"/>
                    </a:cubicBezTo>
                    <a:cubicBezTo>
                      <a:pt x="0" y="18721"/>
                      <a:pt x="10767" y="0"/>
                      <a:pt x="24049" y="0"/>
                    </a:cubicBezTo>
                    <a:cubicBezTo>
                      <a:pt x="37331" y="0"/>
                      <a:pt x="48098" y="18721"/>
                      <a:pt x="48098" y="418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588;p56">
                <a:extLst>
                  <a:ext uri="{FF2B5EF4-FFF2-40B4-BE49-F238E27FC236}">
                    <a16:creationId xmlns:a16="http://schemas.microsoft.com/office/drawing/2014/main" id="{F8B97DD1-2523-98CA-A9F4-D7297B2EACBC}"/>
                  </a:ext>
                </a:extLst>
              </p:cNvPr>
              <p:cNvSpPr/>
              <p:nvPr/>
            </p:nvSpPr>
            <p:spPr>
              <a:xfrm>
                <a:off x="6868038" y="2430219"/>
                <a:ext cx="78705" cy="316778"/>
              </a:xfrm>
              <a:custGeom>
                <a:avLst/>
                <a:gdLst/>
                <a:ahLst/>
                <a:cxnLst/>
                <a:rect l="l" t="t" r="r" b="b"/>
                <a:pathLst>
                  <a:path w="78705" h="316778" extrusionOk="0">
                    <a:moveTo>
                      <a:pt x="64828" y="315171"/>
                    </a:moveTo>
                    <a:lnTo>
                      <a:pt x="13593" y="285548"/>
                    </a:lnTo>
                    <a:cubicBezTo>
                      <a:pt x="5209" y="279519"/>
                      <a:pt x="171" y="269880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193" y="37136"/>
                      <a:pt x="78335" y="46566"/>
                      <a:pt x="78706" y="56758"/>
                    </a:cubicBezTo>
                    <a:lnTo>
                      <a:pt x="78706" y="304884"/>
                    </a:lnTo>
                    <a:cubicBezTo>
                      <a:pt x="78706" y="314885"/>
                      <a:pt x="72337" y="319457"/>
                      <a:pt x="64828" y="3151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589;p56">
                <a:extLst>
                  <a:ext uri="{FF2B5EF4-FFF2-40B4-BE49-F238E27FC236}">
                    <a16:creationId xmlns:a16="http://schemas.microsoft.com/office/drawing/2014/main" id="{B3F496AF-DA92-E32D-CBA2-766CE17808E3}"/>
                  </a:ext>
                </a:extLst>
              </p:cNvPr>
              <p:cNvSpPr/>
              <p:nvPr/>
            </p:nvSpPr>
            <p:spPr>
              <a:xfrm>
                <a:off x="6986477" y="2241366"/>
                <a:ext cx="78420" cy="573928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573928" extrusionOk="0">
                    <a:moveTo>
                      <a:pt x="64828" y="572319"/>
                    </a:moveTo>
                    <a:lnTo>
                      <a:pt x="13593" y="542601"/>
                    </a:lnTo>
                    <a:cubicBezTo>
                      <a:pt x="5199" y="536629"/>
                      <a:pt x="152" y="527009"/>
                      <a:pt x="0" y="516693"/>
                    </a:cubicBezTo>
                    <a:lnTo>
                      <a:pt x="0" y="11868"/>
                    </a:lnTo>
                    <a:cubicBezTo>
                      <a:pt x="0" y="2343"/>
                      <a:pt x="6084" y="-2801"/>
                      <a:pt x="13593" y="1581"/>
                    </a:cubicBezTo>
                    <a:lnTo>
                      <a:pt x="64828" y="31299"/>
                    </a:lnTo>
                    <a:cubicBezTo>
                      <a:pt x="73211" y="37328"/>
                      <a:pt x="78249" y="46967"/>
                      <a:pt x="78421" y="57302"/>
                    </a:cubicBezTo>
                    <a:lnTo>
                      <a:pt x="78421" y="562127"/>
                    </a:lnTo>
                    <a:cubicBezTo>
                      <a:pt x="78041" y="572033"/>
                      <a:pt x="71957" y="576605"/>
                      <a:pt x="64828" y="5723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590;p56">
                <a:extLst>
                  <a:ext uri="{FF2B5EF4-FFF2-40B4-BE49-F238E27FC236}">
                    <a16:creationId xmlns:a16="http://schemas.microsoft.com/office/drawing/2014/main" id="{AAFC976E-EE30-EBFE-6FD7-FA106E2AA9AB}"/>
                  </a:ext>
                </a:extLst>
              </p:cNvPr>
              <p:cNvSpPr/>
              <p:nvPr/>
            </p:nvSpPr>
            <p:spPr>
              <a:xfrm>
                <a:off x="7222119" y="2426981"/>
                <a:ext cx="78420" cy="524860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524860" extrusionOk="0">
                    <a:moveTo>
                      <a:pt x="64828" y="523197"/>
                    </a:moveTo>
                    <a:lnTo>
                      <a:pt x="13593" y="493574"/>
                    </a:lnTo>
                    <a:cubicBezTo>
                      <a:pt x="5181" y="487583"/>
                      <a:pt x="124" y="477915"/>
                      <a:pt x="0" y="467571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231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513005"/>
                    </a:lnTo>
                    <a:cubicBezTo>
                      <a:pt x="78421" y="523006"/>
                      <a:pt x="72337" y="527578"/>
                      <a:pt x="64828" y="523197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591;p56">
                <a:extLst>
                  <a:ext uri="{FF2B5EF4-FFF2-40B4-BE49-F238E27FC236}">
                    <a16:creationId xmlns:a16="http://schemas.microsoft.com/office/drawing/2014/main" id="{A80D6369-2607-C6FD-1186-FC89C95246E8}"/>
                  </a:ext>
                </a:extLst>
              </p:cNvPr>
              <p:cNvSpPr/>
              <p:nvPr/>
            </p:nvSpPr>
            <p:spPr>
              <a:xfrm>
                <a:off x="7340177" y="2573447"/>
                <a:ext cx="78420" cy="446687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446687" extrusionOk="0">
                    <a:moveTo>
                      <a:pt x="64827" y="445025"/>
                    </a:moveTo>
                    <a:lnTo>
                      <a:pt x="13593" y="415402"/>
                    </a:lnTo>
                    <a:cubicBezTo>
                      <a:pt x="5209" y="409373"/>
                      <a:pt x="171" y="399734"/>
                      <a:pt x="0" y="389399"/>
                    </a:cubicBezTo>
                    <a:lnTo>
                      <a:pt x="0" y="11828"/>
                    </a:lnTo>
                    <a:cubicBezTo>
                      <a:pt x="0" y="2303"/>
                      <a:pt x="6083" y="-2745"/>
                      <a:pt x="13593" y="1541"/>
                    </a:cubicBezTo>
                    <a:lnTo>
                      <a:pt x="64827" y="31259"/>
                    </a:lnTo>
                    <a:cubicBezTo>
                      <a:pt x="73221" y="37231"/>
                      <a:pt x="78268" y="46851"/>
                      <a:pt x="78421" y="57167"/>
                    </a:cubicBezTo>
                    <a:lnTo>
                      <a:pt x="78421" y="434738"/>
                    </a:lnTo>
                    <a:cubicBezTo>
                      <a:pt x="78421" y="444835"/>
                      <a:pt x="72337" y="449406"/>
                      <a:pt x="64827" y="44502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592;p56">
                <a:extLst>
                  <a:ext uri="{FF2B5EF4-FFF2-40B4-BE49-F238E27FC236}">
                    <a16:creationId xmlns:a16="http://schemas.microsoft.com/office/drawing/2014/main" id="{3F2622FC-B24C-80E3-6E17-AAD63D820BD4}"/>
                  </a:ext>
                </a:extLst>
              </p:cNvPr>
              <p:cNvSpPr/>
              <p:nvPr/>
            </p:nvSpPr>
            <p:spPr>
              <a:xfrm>
                <a:off x="7575249" y="2900319"/>
                <a:ext cx="78325" cy="255777"/>
              </a:xfrm>
              <a:custGeom>
                <a:avLst/>
                <a:gdLst/>
                <a:ahLst/>
                <a:cxnLst/>
                <a:rect l="l" t="t" r="r" b="b"/>
                <a:pathLst>
                  <a:path w="78325" h="255777" extrusionOk="0">
                    <a:moveTo>
                      <a:pt x="64828" y="254170"/>
                    </a:moveTo>
                    <a:lnTo>
                      <a:pt x="13498" y="224547"/>
                    </a:lnTo>
                    <a:cubicBezTo>
                      <a:pt x="5143" y="218508"/>
                      <a:pt x="133" y="208869"/>
                      <a:pt x="0" y="198544"/>
                    </a:cubicBezTo>
                    <a:lnTo>
                      <a:pt x="0" y="11949"/>
                    </a:lnTo>
                    <a:cubicBezTo>
                      <a:pt x="0" y="1853"/>
                      <a:pt x="5989" y="-2719"/>
                      <a:pt x="13498" y="1662"/>
                    </a:cubicBezTo>
                    <a:lnTo>
                      <a:pt x="64828" y="31285"/>
                    </a:lnTo>
                    <a:cubicBezTo>
                      <a:pt x="73145" y="37352"/>
                      <a:pt x="78145" y="46982"/>
                      <a:pt x="78325" y="57288"/>
                    </a:cubicBezTo>
                    <a:lnTo>
                      <a:pt x="78325" y="243883"/>
                    </a:lnTo>
                    <a:cubicBezTo>
                      <a:pt x="78325" y="253884"/>
                      <a:pt x="72242" y="258456"/>
                      <a:pt x="64828" y="2541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593;p56">
                <a:extLst>
                  <a:ext uri="{FF2B5EF4-FFF2-40B4-BE49-F238E27FC236}">
                    <a16:creationId xmlns:a16="http://schemas.microsoft.com/office/drawing/2014/main" id="{1381FB07-8CA3-CF57-643C-019BAE5B48FC}"/>
                  </a:ext>
                </a:extLst>
              </p:cNvPr>
              <p:cNvSpPr/>
              <p:nvPr/>
            </p:nvSpPr>
            <p:spPr>
              <a:xfrm>
                <a:off x="7693593" y="2520557"/>
                <a:ext cx="78420" cy="703833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703833" extrusionOk="0">
                    <a:moveTo>
                      <a:pt x="64447" y="702226"/>
                    </a:moveTo>
                    <a:lnTo>
                      <a:pt x="13593" y="672508"/>
                    </a:lnTo>
                    <a:cubicBezTo>
                      <a:pt x="5199" y="666536"/>
                      <a:pt x="152" y="656916"/>
                      <a:pt x="0" y="646600"/>
                    </a:cubicBezTo>
                    <a:lnTo>
                      <a:pt x="0" y="11949"/>
                    </a:lnTo>
                    <a:cubicBezTo>
                      <a:pt x="0" y="1853"/>
                      <a:pt x="6083" y="-2719"/>
                      <a:pt x="13593" y="1662"/>
                    </a:cubicBezTo>
                    <a:lnTo>
                      <a:pt x="64828" y="31285"/>
                    </a:lnTo>
                    <a:cubicBezTo>
                      <a:pt x="73221" y="37305"/>
                      <a:pt x="78268" y="46954"/>
                      <a:pt x="78421" y="57288"/>
                    </a:cubicBezTo>
                    <a:lnTo>
                      <a:pt x="78421" y="691939"/>
                    </a:lnTo>
                    <a:cubicBezTo>
                      <a:pt x="78040" y="701940"/>
                      <a:pt x="71957" y="706512"/>
                      <a:pt x="64447" y="70222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594;p56">
                <a:extLst>
                  <a:ext uri="{FF2B5EF4-FFF2-40B4-BE49-F238E27FC236}">
                    <a16:creationId xmlns:a16="http://schemas.microsoft.com/office/drawing/2014/main" id="{4892C03F-D513-128B-55F2-77872C045517}"/>
                  </a:ext>
                </a:extLst>
              </p:cNvPr>
              <p:cNvSpPr/>
              <p:nvPr/>
            </p:nvSpPr>
            <p:spPr>
              <a:xfrm>
                <a:off x="7981135" y="3135165"/>
                <a:ext cx="78420" cy="255818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255818" extrusionOk="0">
                    <a:moveTo>
                      <a:pt x="64828" y="254211"/>
                    </a:moveTo>
                    <a:lnTo>
                      <a:pt x="13593" y="224493"/>
                    </a:lnTo>
                    <a:cubicBezTo>
                      <a:pt x="5199" y="218521"/>
                      <a:pt x="152" y="208900"/>
                      <a:pt x="0" y="198585"/>
                    </a:cubicBezTo>
                    <a:lnTo>
                      <a:pt x="0" y="11895"/>
                    </a:lnTo>
                    <a:cubicBezTo>
                      <a:pt x="0" y="1894"/>
                      <a:pt x="6083" y="-2678"/>
                      <a:pt x="13593" y="1608"/>
                    </a:cubicBezTo>
                    <a:lnTo>
                      <a:pt x="64828" y="31326"/>
                    </a:lnTo>
                    <a:cubicBezTo>
                      <a:pt x="73240" y="37317"/>
                      <a:pt x="78297" y="46985"/>
                      <a:pt x="78421" y="57329"/>
                    </a:cubicBezTo>
                    <a:lnTo>
                      <a:pt x="78421" y="243924"/>
                    </a:lnTo>
                    <a:cubicBezTo>
                      <a:pt x="78421" y="253925"/>
                      <a:pt x="72337" y="258497"/>
                      <a:pt x="64828" y="25421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595;p56">
                <a:extLst>
                  <a:ext uri="{FF2B5EF4-FFF2-40B4-BE49-F238E27FC236}">
                    <a16:creationId xmlns:a16="http://schemas.microsoft.com/office/drawing/2014/main" id="{D61E493E-2C14-3DE6-7D7C-2F3C77CC3E55}"/>
                  </a:ext>
                </a:extLst>
              </p:cNvPr>
              <p:cNvSpPr/>
              <p:nvPr/>
            </p:nvSpPr>
            <p:spPr>
              <a:xfrm>
                <a:off x="8099193" y="3142308"/>
                <a:ext cx="78420" cy="316963"/>
              </a:xfrm>
              <a:custGeom>
                <a:avLst/>
                <a:gdLst/>
                <a:ahLst/>
                <a:cxnLst/>
                <a:rect l="l" t="t" r="r" b="b"/>
                <a:pathLst>
                  <a:path w="78420" h="316963" extrusionOk="0">
                    <a:moveTo>
                      <a:pt x="64828" y="315266"/>
                    </a:moveTo>
                    <a:lnTo>
                      <a:pt x="13593" y="285548"/>
                    </a:lnTo>
                    <a:cubicBezTo>
                      <a:pt x="5181" y="279557"/>
                      <a:pt x="124" y="269889"/>
                      <a:pt x="0" y="259545"/>
                    </a:cubicBezTo>
                    <a:lnTo>
                      <a:pt x="0" y="11895"/>
                    </a:lnTo>
                    <a:cubicBezTo>
                      <a:pt x="0" y="1894"/>
                      <a:pt x="6084" y="-2678"/>
                      <a:pt x="13593" y="1608"/>
                    </a:cubicBezTo>
                    <a:lnTo>
                      <a:pt x="64828" y="31230"/>
                    </a:lnTo>
                    <a:cubicBezTo>
                      <a:pt x="73211" y="37260"/>
                      <a:pt x="78249" y="46899"/>
                      <a:pt x="78421" y="57234"/>
                    </a:cubicBezTo>
                    <a:lnTo>
                      <a:pt x="78421" y="305360"/>
                    </a:lnTo>
                    <a:cubicBezTo>
                      <a:pt x="78421" y="315266"/>
                      <a:pt x="72337" y="319648"/>
                      <a:pt x="64828" y="3152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" name="Google Shape;596;p56">
              <a:extLst>
                <a:ext uri="{FF2B5EF4-FFF2-40B4-BE49-F238E27FC236}">
                  <a16:creationId xmlns:a16="http://schemas.microsoft.com/office/drawing/2014/main" id="{3F440C30-8FD0-CDC3-8A1F-8E42F75846EE}"/>
                </a:ext>
              </a:extLst>
            </p:cNvPr>
            <p:cNvSpPr/>
            <p:nvPr/>
          </p:nvSpPr>
          <p:spPr>
            <a:xfrm>
              <a:off x="2810939" y="4355647"/>
              <a:ext cx="905825" cy="524291"/>
            </a:xfrm>
            <a:custGeom>
              <a:avLst/>
              <a:gdLst/>
              <a:ahLst/>
              <a:cxnLst/>
              <a:rect l="l" t="t" r="r" b="b"/>
              <a:pathLst>
                <a:path w="905825" h="524291" extrusionOk="0">
                  <a:moveTo>
                    <a:pt x="456810" y="505052"/>
                  </a:moveTo>
                  <a:lnTo>
                    <a:pt x="32483" y="259879"/>
                  </a:lnTo>
                  <a:cubicBezTo>
                    <a:pt x="-15615" y="231970"/>
                    <a:pt x="-9626" y="183679"/>
                    <a:pt x="45981" y="151294"/>
                  </a:cubicBezTo>
                  <a:lnTo>
                    <a:pt x="261376" y="26611"/>
                  </a:lnTo>
                  <a:cubicBezTo>
                    <a:pt x="316889" y="-5488"/>
                    <a:pt x="400632" y="-9298"/>
                    <a:pt x="449015" y="19277"/>
                  </a:cubicBezTo>
                  <a:lnTo>
                    <a:pt x="873342" y="264832"/>
                  </a:lnTo>
                  <a:cubicBezTo>
                    <a:pt x="921440" y="292645"/>
                    <a:pt x="915451" y="341032"/>
                    <a:pt x="859844" y="373322"/>
                  </a:cubicBezTo>
                  <a:lnTo>
                    <a:pt x="644449" y="498004"/>
                  </a:lnTo>
                  <a:cubicBezTo>
                    <a:pt x="588937" y="529627"/>
                    <a:pt x="505193" y="533627"/>
                    <a:pt x="456810" y="505052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597;p56">
              <a:extLst>
                <a:ext uri="{FF2B5EF4-FFF2-40B4-BE49-F238E27FC236}">
                  <a16:creationId xmlns:a16="http://schemas.microsoft.com/office/drawing/2014/main" id="{F9B8A6B0-8939-26E4-4051-B60522F2E2E6}"/>
                </a:ext>
              </a:extLst>
            </p:cNvPr>
            <p:cNvSpPr/>
            <p:nvPr/>
          </p:nvSpPr>
          <p:spPr>
            <a:xfrm>
              <a:off x="2999385" y="3858955"/>
              <a:ext cx="906089" cy="910207"/>
            </a:xfrm>
            <a:custGeom>
              <a:avLst/>
              <a:gdLst/>
              <a:ahLst/>
              <a:cxnLst/>
              <a:rect l="l" t="t" r="r" b="b"/>
              <a:pathLst>
                <a:path w="906089" h="910207" extrusionOk="0">
                  <a:moveTo>
                    <a:pt x="906089" y="695706"/>
                  </a:moveTo>
                  <a:lnTo>
                    <a:pt x="906089" y="102203"/>
                  </a:lnTo>
                  <a:lnTo>
                    <a:pt x="23" y="0"/>
                  </a:lnTo>
                  <a:lnTo>
                    <a:pt x="23" y="597218"/>
                  </a:lnTo>
                  <a:lnTo>
                    <a:pt x="23" y="597218"/>
                  </a:lnTo>
                  <a:cubicBezTo>
                    <a:pt x="-547" y="615506"/>
                    <a:pt x="9528" y="632936"/>
                    <a:pt x="32342" y="645891"/>
                  </a:cubicBezTo>
                  <a:lnTo>
                    <a:pt x="456668" y="891445"/>
                  </a:lnTo>
                  <a:cubicBezTo>
                    <a:pt x="504766" y="919258"/>
                    <a:pt x="588795" y="915734"/>
                    <a:pt x="644307" y="883634"/>
                  </a:cubicBezTo>
                  <a:lnTo>
                    <a:pt x="859702" y="758952"/>
                  </a:lnTo>
                  <a:cubicBezTo>
                    <a:pt x="890975" y="740855"/>
                    <a:pt x="906565" y="717518"/>
                    <a:pt x="905614" y="695706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598;p56">
              <a:extLst>
                <a:ext uri="{FF2B5EF4-FFF2-40B4-BE49-F238E27FC236}">
                  <a16:creationId xmlns:a16="http://schemas.microsoft.com/office/drawing/2014/main" id="{FFC20904-64D1-9001-AB88-C3EE2C895316}"/>
                </a:ext>
              </a:extLst>
            </p:cNvPr>
            <p:cNvSpPr/>
            <p:nvPr/>
          </p:nvSpPr>
          <p:spPr>
            <a:xfrm>
              <a:off x="2999385" y="3718383"/>
              <a:ext cx="905566" cy="524522"/>
            </a:xfrm>
            <a:custGeom>
              <a:avLst/>
              <a:gdLst/>
              <a:ahLst/>
              <a:cxnLst/>
              <a:rect l="l" t="t" r="r" b="b"/>
              <a:pathLst>
                <a:path w="905566" h="524522" extrusionOk="0">
                  <a:moveTo>
                    <a:pt x="905519" y="307545"/>
                  </a:moveTo>
                  <a:lnTo>
                    <a:pt x="905519" y="242775"/>
                  </a:lnTo>
                  <a:lnTo>
                    <a:pt x="835843" y="242775"/>
                  </a:lnTo>
                  <a:lnTo>
                    <a:pt x="448874" y="18842"/>
                  </a:lnTo>
                  <a:cubicBezTo>
                    <a:pt x="400776" y="-9066"/>
                    <a:pt x="316747" y="-5542"/>
                    <a:pt x="261235" y="26557"/>
                  </a:cubicBezTo>
                  <a:lnTo>
                    <a:pt x="45839" y="151716"/>
                  </a:lnTo>
                  <a:cubicBezTo>
                    <a:pt x="42009" y="153897"/>
                    <a:pt x="38296" y="156279"/>
                    <a:pt x="34718" y="158860"/>
                  </a:cubicBezTo>
                  <a:lnTo>
                    <a:pt x="23" y="141048"/>
                  </a:lnTo>
                  <a:cubicBezTo>
                    <a:pt x="23" y="141048"/>
                    <a:pt x="23" y="209533"/>
                    <a:pt x="23" y="211819"/>
                  </a:cubicBezTo>
                  <a:lnTo>
                    <a:pt x="23" y="211819"/>
                  </a:lnTo>
                  <a:cubicBezTo>
                    <a:pt x="-547" y="229916"/>
                    <a:pt x="9528" y="247347"/>
                    <a:pt x="32342" y="260301"/>
                  </a:cubicBezTo>
                  <a:lnTo>
                    <a:pt x="456668" y="505760"/>
                  </a:lnTo>
                  <a:cubicBezTo>
                    <a:pt x="504766" y="533573"/>
                    <a:pt x="588795" y="530049"/>
                    <a:pt x="644307" y="497950"/>
                  </a:cubicBezTo>
                  <a:lnTo>
                    <a:pt x="859702" y="373363"/>
                  </a:lnTo>
                  <a:cubicBezTo>
                    <a:pt x="891926" y="354313"/>
                    <a:pt x="907230" y="330500"/>
                    <a:pt x="905424" y="308021"/>
                  </a:cubicBezTo>
                  <a:close/>
                </a:path>
              </a:pathLst>
            </a:custGeom>
            <a:solidFill>
              <a:srgbClr val="EDF0F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599;p56">
              <a:extLst>
                <a:ext uri="{FF2B5EF4-FFF2-40B4-BE49-F238E27FC236}">
                  <a16:creationId xmlns:a16="http://schemas.microsoft.com/office/drawing/2014/main" id="{2C15D944-5DE3-6073-CAC4-76074EF1C4C8}"/>
                </a:ext>
              </a:extLst>
            </p:cNvPr>
            <p:cNvSpPr/>
            <p:nvPr/>
          </p:nvSpPr>
          <p:spPr>
            <a:xfrm>
              <a:off x="2999243" y="3647851"/>
              <a:ext cx="905825" cy="524031"/>
            </a:xfrm>
            <a:custGeom>
              <a:avLst/>
              <a:gdLst/>
              <a:ahLst/>
              <a:cxnLst/>
              <a:rect l="l" t="t" r="r" b="b"/>
              <a:pathLst>
                <a:path w="905825" h="524031" extrusionOk="0">
                  <a:moveTo>
                    <a:pt x="456810" y="505236"/>
                  </a:moveTo>
                  <a:lnTo>
                    <a:pt x="32483" y="259777"/>
                  </a:lnTo>
                  <a:cubicBezTo>
                    <a:pt x="-15615" y="231964"/>
                    <a:pt x="-9626" y="183577"/>
                    <a:pt x="45981" y="151192"/>
                  </a:cubicBezTo>
                  <a:lnTo>
                    <a:pt x="261376" y="26605"/>
                  </a:lnTo>
                  <a:cubicBezTo>
                    <a:pt x="316889" y="-5589"/>
                    <a:pt x="400917" y="-9018"/>
                    <a:pt x="449015" y="18795"/>
                  </a:cubicBezTo>
                  <a:lnTo>
                    <a:pt x="873342" y="264254"/>
                  </a:lnTo>
                  <a:cubicBezTo>
                    <a:pt x="921440" y="292067"/>
                    <a:pt x="915451" y="340454"/>
                    <a:pt x="859844" y="372839"/>
                  </a:cubicBezTo>
                  <a:lnTo>
                    <a:pt x="644449" y="497426"/>
                  </a:lnTo>
                  <a:cubicBezTo>
                    <a:pt x="588937" y="529620"/>
                    <a:pt x="504908" y="533050"/>
                    <a:pt x="456810" y="505236"/>
                  </a:cubicBezTo>
                  <a:close/>
                </a:path>
              </a:pathLst>
            </a:custGeom>
            <a:solidFill>
              <a:srgbClr val="E2E5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600;p56">
              <a:extLst>
                <a:ext uri="{FF2B5EF4-FFF2-40B4-BE49-F238E27FC236}">
                  <a16:creationId xmlns:a16="http://schemas.microsoft.com/office/drawing/2014/main" id="{AFF95DC4-A0F2-8547-98DB-F9278D16BF46}"/>
                </a:ext>
              </a:extLst>
            </p:cNvPr>
            <p:cNvSpPr/>
            <p:nvPr/>
          </p:nvSpPr>
          <p:spPr>
            <a:xfrm>
              <a:off x="3230772" y="3780524"/>
              <a:ext cx="129655" cy="75042"/>
            </a:xfrm>
            <a:custGeom>
              <a:avLst/>
              <a:gdLst/>
              <a:ahLst/>
              <a:cxnLst/>
              <a:rect l="l" t="t" r="r" b="b"/>
              <a:pathLst>
                <a:path w="129655" h="75042" extrusionOk="0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293" y="12575"/>
                    <a:pt x="13716" y="14395"/>
                    <a:pt x="11312" y="16424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601;p56">
              <a:extLst>
                <a:ext uri="{FF2B5EF4-FFF2-40B4-BE49-F238E27FC236}">
                  <a16:creationId xmlns:a16="http://schemas.microsoft.com/office/drawing/2014/main" id="{FEC00D6C-9499-4D9E-BF8E-38B3B806C46C}"/>
                </a:ext>
              </a:extLst>
            </p:cNvPr>
            <p:cNvSpPr/>
            <p:nvPr/>
          </p:nvSpPr>
          <p:spPr>
            <a:xfrm>
              <a:off x="3230772" y="3756847"/>
              <a:ext cx="129655" cy="75056"/>
            </a:xfrm>
            <a:custGeom>
              <a:avLst/>
              <a:gdLst/>
              <a:ahLst/>
              <a:cxnLst/>
              <a:rect l="l" t="t" r="r" b="b"/>
              <a:pathLst>
                <a:path w="129655" h="75056" extrusionOk="0">
                  <a:moveTo>
                    <a:pt x="129655" y="37528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8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8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602;p56">
              <a:extLst>
                <a:ext uri="{FF2B5EF4-FFF2-40B4-BE49-F238E27FC236}">
                  <a16:creationId xmlns:a16="http://schemas.microsoft.com/office/drawing/2014/main" id="{5C110460-F435-B6F6-EFC6-642A06BC3A28}"/>
                </a:ext>
              </a:extLst>
            </p:cNvPr>
            <p:cNvSpPr/>
            <p:nvPr/>
          </p:nvSpPr>
          <p:spPr>
            <a:xfrm>
              <a:off x="3393243" y="3872036"/>
              <a:ext cx="129623" cy="74995"/>
            </a:xfrm>
            <a:custGeom>
              <a:avLst/>
              <a:gdLst/>
              <a:ahLst/>
              <a:cxnLst/>
              <a:rect l="l" t="t" r="r" b="b"/>
              <a:pathLst>
                <a:path w="129623" h="74995" extrusionOk="0">
                  <a:moveTo>
                    <a:pt x="128018" y="45689"/>
                  </a:moveTo>
                  <a:cubicBezTo>
                    <a:pt x="124482" y="53623"/>
                    <a:pt x="118341" y="60110"/>
                    <a:pt x="110623" y="64072"/>
                  </a:cubicBezTo>
                  <a:cubicBezTo>
                    <a:pt x="81812" y="78636"/>
                    <a:pt x="47801" y="78636"/>
                    <a:pt x="18990" y="64072"/>
                  </a:cubicBezTo>
                  <a:cubicBezTo>
                    <a:pt x="11271" y="60110"/>
                    <a:pt x="5131" y="53623"/>
                    <a:pt x="1595" y="45689"/>
                  </a:cubicBezTo>
                  <a:cubicBezTo>
                    <a:pt x="-3158" y="33497"/>
                    <a:pt x="2735" y="20448"/>
                    <a:pt x="18990" y="10923"/>
                  </a:cubicBezTo>
                  <a:cubicBezTo>
                    <a:pt x="47801" y="-3641"/>
                    <a:pt x="81812" y="-3641"/>
                    <a:pt x="110623" y="10923"/>
                  </a:cubicBezTo>
                  <a:cubicBezTo>
                    <a:pt x="126972" y="19971"/>
                    <a:pt x="132771" y="33021"/>
                    <a:pt x="128018" y="4568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603;p56">
              <a:extLst>
                <a:ext uri="{FF2B5EF4-FFF2-40B4-BE49-F238E27FC236}">
                  <a16:creationId xmlns:a16="http://schemas.microsoft.com/office/drawing/2014/main" id="{687C4D1D-1DD1-7F96-E3F4-6328CCF1E960}"/>
                </a:ext>
              </a:extLst>
            </p:cNvPr>
            <p:cNvSpPr/>
            <p:nvPr/>
          </p:nvSpPr>
          <p:spPr>
            <a:xfrm>
              <a:off x="3395112" y="3888323"/>
              <a:ext cx="126148" cy="58707"/>
            </a:xfrm>
            <a:custGeom>
              <a:avLst/>
              <a:gdLst/>
              <a:ahLst/>
              <a:cxnLst/>
              <a:rect l="l" t="t" r="r" b="b"/>
              <a:pathLst>
                <a:path w="126148" h="58707" extrusionOk="0">
                  <a:moveTo>
                    <a:pt x="126149" y="29401"/>
                  </a:moveTo>
                  <a:cubicBezTo>
                    <a:pt x="122613" y="37336"/>
                    <a:pt x="116472" y="43822"/>
                    <a:pt x="108754" y="47784"/>
                  </a:cubicBezTo>
                  <a:cubicBezTo>
                    <a:pt x="79942" y="62348"/>
                    <a:pt x="45932" y="62348"/>
                    <a:pt x="17120" y="47784"/>
                  </a:cubicBezTo>
                  <a:cubicBezTo>
                    <a:pt x="6959" y="47051"/>
                    <a:pt x="-683" y="38202"/>
                    <a:pt x="48" y="28030"/>
                  </a:cubicBezTo>
                  <a:cubicBezTo>
                    <a:pt x="704" y="18867"/>
                    <a:pt x="7976" y="11580"/>
                    <a:pt x="17120" y="10923"/>
                  </a:cubicBezTo>
                  <a:cubicBezTo>
                    <a:pt x="45932" y="-3641"/>
                    <a:pt x="79942" y="-3641"/>
                    <a:pt x="108754" y="10923"/>
                  </a:cubicBezTo>
                  <a:cubicBezTo>
                    <a:pt x="116491" y="14904"/>
                    <a:pt x="122632" y="21429"/>
                    <a:pt x="126149" y="2940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604;p56">
              <a:extLst>
                <a:ext uri="{FF2B5EF4-FFF2-40B4-BE49-F238E27FC236}">
                  <a16:creationId xmlns:a16="http://schemas.microsoft.com/office/drawing/2014/main" id="{7143F00A-3B39-35F9-E7A6-8DF8C959DCB6}"/>
                </a:ext>
              </a:extLst>
            </p:cNvPr>
            <p:cNvSpPr/>
            <p:nvPr/>
          </p:nvSpPr>
          <p:spPr>
            <a:xfrm>
              <a:off x="3543979" y="3964737"/>
              <a:ext cx="129655" cy="75042"/>
            </a:xfrm>
            <a:custGeom>
              <a:avLst/>
              <a:gdLst/>
              <a:ahLst/>
              <a:cxnLst/>
              <a:rect l="l" t="t" r="r" b="b"/>
              <a:pathLst>
                <a:path w="129655" h="75042" extrusionOk="0">
                  <a:moveTo>
                    <a:pt x="129655" y="37474"/>
                  </a:moveTo>
                  <a:lnTo>
                    <a:pt x="129655" y="13852"/>
                  </a:lnTo>
                  <a:lnTo>
                    <a:pt x="115207" y="13852"/>
                  </a:lnTo>
                  <a:lnTo>
                    <a:pt x="110739" y="10994"/>
                  </a:lnTo>
                  <a:cubicBezTo>
                    <a:pt x="81909" y="-3665"/>
                    <a:pt x="47841" y="-3665"/>
                    <a:pt x="19011" y="10994"/>
                  </a:cubicBezTo>
                  <a:cubicBezTo>
                    <a:pt x="16321" y="12585"/>
                    <a:pt x="13745" y="14366"/>
                    <a:pt x="11312" y="16328"/>
                  </a:cubicBezTo>
                  <a:lnTo>
                    <a:pt x="0" y="13852"/>
                  </a:lnTo>
                  <a:lnTo>
                    <a:pt x="0" y="37474"/>
                  </a:lnTo>
                  <a:cubicBezTo>
                    <a:pt x="1084" y="49123"/>
                    <a:pt x="8346" y="59286"/>
                    <a:pt x="19011" y="64049"/>
                  </a:cubicBezTo>
                  <a:cubicBezTo>
                    <a:pt x="47841" y="78708"/>
                    <a:pt x="81909" y="78708"/>
                    <a:pt x="110739" y="64049"/>
                  </a:cubicBezTo>
                  <a:cubicBezTo>
                    <a:pt x="121405" y="59305"/>
                    <a:pt x="128648" y="49123"/>
                    <a:pt x="129655" y="3747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605;p56">
              <a:extLst>
                <a:ext uri="{FF2B5EF4-FFF2-40B4-BE49-F238E27FC236}">
                  <a16:creationId xmlns:a16="http://schemas.microsoft.com/office/drawing/2014/main" id="{EBA845BF-A7AA-5661-FCFC-CD01FBCAA6FB}"/>
                </a:ext>
              </a:extLst>
            </p:cNvPr>
            <p:cNvSpPr/>
            <p:nvPr/>
          </p:nvSpPr>
          <p:spPr>
            <a:xfrm>
              <a:off x="3543979" y="3941061"/>
              <a:ext cx="129655" cy="75056"/>
            </a:xfrm>
            <a:custGeom>
              <a:avLst/>
              <a:gdLst/>
              <a:ahLst/>
              <a:cxnLst/>
              <a:rect l="l" t="t" r="r" b="b"/>
              <a:pathLst>
                <a:path w="129655" h="75056" extrusionOk="0">
                  <a:moveTo>
                    <a:pt x="129655" y="37529"/>
                  </a:moveTo>
                  <a:cubicBezTo>
                    <a:pt x="129655" y="58255"/>
                    <a:pt x="100631" y="75057"/>
                    <a:pt x="64828" y="75057"/>
                  </a:cubicBezTo>
                  <a:cubicBezTo>
                    <a:pt x="29024" y="75057"/>
                    <a:pt x="0" y="58255"/>
                    <a:pt x="0" y="37529"/>
                  </a:cubicBezTo>
                  <a:cubicBezTo>
                    <a:pt x="0" y="16802"/>
                    <a:pt x="29024" y="0"/>
                    <a:pt x="64828" y="0"/>
                  </a:cubicBezTo>
                  <a:cubicBezTo>
                    <a:pt x="100631" y="0"/>
                    <a:pt x="129655" y="16802"/>
                    <a:pt x="129655" y="3752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606;p56">
              <a:extLst>
                <a:ext uri="{FF2B5EF4-FFF2-40B4-BE49-F238E27FC236}">
                  <a16:creationId xmlns:a16="http://schemas.microsoft.com/office/drawing/2014/main" id="{03A4E25B-97A3-C77F-A34F-7A81349DE8E0}"/>
                </a:ext>
              </a:extLst>
            </p:cNvPr>
            <p:cNvSpPr/>
            <p:nvPr/>
          </p:nvSpPr>
          <p:spPr>
            <a:xfrm>
              <a:off x="5673026" y="4464079"/>
              <a:ext cx="468241" cy="270891"/>
            </a:xfrm>
            <a:custGeom>
              <a:avLst/>
              <a:gdLst/>
              <a:ahLst/>
              <a:cxnLst/>
              <a:rect l="l" t="t" r="r" b="b"/>
              <a:pathLst>
                <a:path w="468241" h="270891" extrusionOk="0">
                  <a:moveTo>
                    <a:pt x="468242" y="135445"/>
                  </a:moveTo>
                  <a:cubicBezTo>
                    <a:pt x="468242" y="210250"/>
                    <a:pt x="363422" y="270891"/>
                    <a:pt x="234121" y="270891"/>
                  </a:cubicBezTo>
                  <a:cubicBezTo>
                    <a:pt x="104819" y="270891"/>
                    <a:pt x="0" y="210250"/>
                    <a:pt x="0" y="135445"/>
                  </a:cubicBezTo>
                  <a:cubicBezTo>
                    <a:pt x="0" y="60641"/>
                    <a:pt x="104819" y="0"/>
                    <a:pt x="234121" y="0"/>
                  </a:cubicBezTo>
                  <a:cubicBezTo>
                    <a:pt x="363422" y="0"/>
                    <a:pt x="468242" y="60641"/>
                    <a:pt x="468242" y="13544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607;p56">
              <a:extLst>
                <a:ext uri="{FF2B5EF4-FFF2-40B4-BE49-F238E27FC236}">
                  <a16:creationId xmlns:a16="http://schemas.microsoft.com/office/drawing/2014/main" id="{BABFCB3A-985E-CC6B-0C9C-DDBF87413E5B}"/>
                </a:ext>
              </a:extLst>
            </p:cNvPr>
            <p:cNvSpPr/>
            <p:nvPr/>
          </p:nvSpPr>
          <p:spPr>
            <a:xfrm>
              <a:off x="5819482" y="3280817"/>
              <a:ext cx="243195" cy="356577"/>
            </a:xfrm>
            <a:custGeom>
              <a:avLst/>
              <a:gdLst/>
              <a:ahLst/>
              <a:cxnLst/>
              <a:rect l="l" t="t" r="r" b="b"/>
              <a:pathLst>
                <a:path w="243195" h="356577" extrusionOk="0">
                  <a:moveTo>
                    <a:pt x="85669" y="11781"/>
                  </a:moveTo>
                  <a:cubicBezTo>
                    <a:pt x="95174" y="-3744"/>
                    <a:pt x="169318" y="-14031"/>
                    <a:pt x="193652" y="48738"/>
                  </a:cubicBezTo>
                  <a:cubicBezTo>
                    <a:pt x="203157" y="72551"/>
                    <a:pt x="201446" y="133416"/>
                    <a:pt x="209145" y="171611"/>
                  </a:cubicBezTo>
                  <a:cubicBezTo>
                    <a:pt x="216845" y="209806"/>
                    <a:pt x="235000" y="231523"/>
                    <a:pt x="241559" y="262479"/>
                  </a:cubicBezTo>
                  <a:cubicBezTo>
                    <a:pt x="248118" y="293436"/>
                    <a:pt x="237472" y="345442"/>
                    <a:pt x="162854" y="354681"/>
                  </a:cubicBezTo>
                  <a:cubicBezTo>
                    <a:pt x="88236" y="363921"/>
                    <a:pt x="30917" y="337632"/>
                    <a:pt x="13332" y="313819"/>
                  </a:cubicBezTo>
                  <a:cubicBezTo>
                    <a:pt x="-4253" y="290007"/>
                    <a:pt x="-4634" y="239334"/>
                    <a:pt x="13332" y="212092"/>
                  </a:cubicBezTo>
                  <a:cubicBezTo>
                    <a:pt x="31297" y="184851"/>
                    <a:pt x="45556" y="162848"/>
                    <a:pt x="45080" y="12741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608;p56">
              <a:extLst>
                <a:ext uri="{FF2B5EF4-FFF2-40B4-BE49-F238E27FC236}">
                  <a16:creationId xmlns:a16="http://schemas.microsoft.com/office/drawing/2014/main" id="{5501F9AD-2C0D-ADFA-21FA-ECE00BE191E4}"/>
                </a:ext>
              </a:extLst>
            </p:cNvPr>
            <p:cNvSpPr/>
            <p:nvPr/>
          </p:nvSpPr>
          <p:spPr>
            <a:xfrm>
              <a:off x="5837923" y="3277536"/>
              <a:ext cx="116085" cy="143945"/>
            </a:xfrm>
            <a:custGeom>
              <a:avLst/>
              <a:gdLst/>
              <a:ahLst/>
              <a:cxnLst/>
              <a:rect l="l" t="t" r="r" b="b"/>
              <a:pathLst>
                <a:path w="116085" h="143945" extrusionOk="0">
                  <a:moveTo>
                    <a:pt x="116086" y="4300"/>
                  </a:moveTo>
                  <a:cubicBezTo>
                    <a:pt x="116086" y="4300"/>
                    <a:pt x="60383" y="-11798"/>
                    <a:pt x="26639" y="18301"/>
                  </a:cubicBezTo>
                  <a:cubicBezTo>
                    <a:pt x="3978" y="39285"/>
                    <a:pt x="-5176" y="71137"/>
                    <a:pt x="2875" y="100979"/>
                  </a:cubicBezTo>
                  <a:cubicBezTo>
                    <a:pt x="7343" y="118600"/>
                    <a:pt x="16373" y="142603"/>
                    <a:pt x="30346" y="143936"/>
                  </a:cubicBezTo>
                  <a:cubicBezTo>
                    <a:pt x="44319" y="145270"/>
                    <a:pt x="116086" y="4300"/>
                    <a:pt x="116086" y="4300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609;p56">
              <a:extLst>
                <a:ext uri="{FF2B5EF4-FFF2-40B4-BE49-F238E27FC236}">
                  <a16:creationId xmlns:a16="http://schemas.microsoft.com/office/drawing/2014/main" id="{D9C664B1-926E-9229-AD3E-798960DF340A}"/>
                </a:ext>
              </a:extLst>
            </p:cNvPr>
            <p:cNvSpPr/>
            <p:nvPr/>
          </p:nvSpPr>
          <p:spPr>
            <a:xfrm>
              <a:off x="5860663" y="3433950"/>
              <a:ext cx="143677" cy="161015"/>
            </a:xfrm>
            <a:custGeom>
              <a:avLst/>
              <a:gdLst/>
              <a:ahLst/>
              <a:cxnLst/>
              <a:rect l="l" t="t" r="r" b="b"/>
              <a:pathLst>
                <a:path w="143677" h="161015" extrusionOk="0">
                  <a:moveTo>
                    <a:pt x="114638" y="0"/>
                  </a:moveTo>
                  <a:cubicBezTo>
                    <a:pt x="114638" y="0"/>
                    <a:pt x="110931" y="62103"/>
                    <a:pt x="112072" y="66675"/>
                  </a:cubicBezTo>
                  <a:cubicBezTo>
                    <a:pt x="113212" y="71247"/>
                    <a:pt x="136406" y="76200"/>
                    <a:pt x="142965" y="81153"/>
                  </a:cubicBezTo>
                  <a:cubicBezTo>
                    <a:pt x="149524" y="86106"/>
                    <a:pt x="109220" y="149638"/>
                    <a:pt x="88783" y="158972"/>
                  </a:cubicBezTo>
                  <a:cubicBezTo>
                    <a:pt x="68346" y="168307"/>
                    <a:pt x="4944" y="144399"/>
                    <a:pt x="477" y="112871"/>
                  </a:cubicBezTo>
                  <a:cubicBezTo>
                    <a:pt x="-3515" y="83725"/>
                    <a:pt x="18632" y="61151"/>
                    <a:pt x="27187" y="53245"/>
                  </a:cubicBezTo>
                  <a:cubicBezTo>
                    <a:pt x="32995" y="52692"/>
                    <a:pt x="38841" y="52531"/>
                    <a:pt x="44678" y="52769"/>
                  </a:cubicBezTo>
                  <a:lnTo>
                    <a:pt x="46579" y="22670"/>
                  </a:lnTo>
                  <a:cubicBezTo>
                    <a:pt x="74335" y="13811"/>
                    <a:pt x="114638" y="0"/>
                    <a:pt x="114638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610;p56">
              <a:extLst>
                <a:ext uri="{FF2B5EF4-FFF2-40B4-BE49-F238E27FC236}">
                  <a16:creationId xmlns:a16="http://schemas.microsoft.com/office/drawing/2014/main" id="{347821D4-1B4A-7674-D278-3FFEE6745319}"/>
                </a:ext>
              </a:extLst>
            </p:cNvPr>
            <p:cNvSpPr/>
            <p:nvPr/>
          </p:nvSpPr>
          <p:spPr>
            <a:xfrm>
              <a:off x="5729287" y="3551002"/>
              <a:ext cx="121787" cy="284211"/>
            </a:xfrm>
            <a:custGeom>
              <a:avLst/>
              <a:gdLst/>
              <a:ahLst/>
              <a:cxnLst/>
              <a:rect l="l" t="t" r="r" b="b"/>
              <a:pathLst>
                <a:path w="121787" h="284211" extrusionOk="0">
                  <a:moveTo>
                    <a:pt x="96303" y="391"/>
                  </a:moveTo>
                  <a:cubicBezTo>
                    <a:pt x="96303" y="-1418"/>
                    <a:pt x="86797" y="3630"/>
                    <a:pt x="86797" y="3725"/>
                  </a:cubicBezTo>
                  <a:cubicBezTo>
                    <a:pt x="86797" y="3820"/>
                    <a:pt x="82330" y="163269"/>
                    <a:pt x="74535" y="177747"/>
                  </a:cubicBezTo>
                  <a:lnTo>
                    <a:pt x="74535" y="177747"/>
                  </a:lnTo>
                  <a:cubicBezTo>
                    <a:pt x="54669" y="211560"/>
                    <a:pt x="2103" y="268901"/>
                    <a:pt x="772" y="275283"/>
                  </a:cubicBezTo>
                  <a:cubicBezTo>
                    <a:pt x="-3125" y="294333"/>
                    <a:pt x="8092" y="277283"/>
                    <a:pt x="26152" y="275283"/>
                  </a:cubicBezTo>
                  <a:cubicBezTo>
                    <a:pt x="36323" y="274044"/>
                    <a:pt x="96113" y="213466"/>
                    <a:pt x="109516" y="199654"/>
                  </a:cubicBezTo>
                  <a:lnTo>
                    <a:pt x="110371" y="200131"/>
                  </a:lnTo>
                  <a:lnTo>
                    <a:pt x="110371" y="198607"/>
                  </a:lnTo>
                  <a:lnTo>
                    <a:pt x="112082" y="196797"/>
                  </a:lnTo>
                  <a:cubicBezTo>
                    <a:pt x="112424" y="192482"/>
                    <a:pt x="112424" y="188158"/>
                    <a:pt x="112082" y="183843"/>
                  </a:cubicBezTo>
                  <a:cubicBezTo>
                    <a:pt x="137272" y="10583"/>
                    <a:pt x="106664" y="-942"/>
                    <a:pt x="96303" y="39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611;p56">
              <a:extLst>
                <a:ext uri="{FF2B5EF4-FFF2-40B4-BE49-F238E27FC236}">
                  <a16:creationId xmlns:a16="http://schemas.microsoft.com/office/drawing/2014/main" id="{DD421624-73AD-DE5C-37F2-C15D3123145C}"/>
                </a:ext>
              </a:extLst>
            </p:cNvPr>
            <p:cNvSpPr/>
            <p:nvPr/>
          </p:nvSpPr>
          <p:spPr>
            <a:xfrm>
              <a:off x="5818929" y="3486611"/>
              <a:ext cx="209320" cy="241045"/>
            </a:xfrm>
            <a:custGeom>
              <a:avLst/>
              <a:gdLst/>
              <a:ahLst/>
              <a:cxnLst/>
              <a:rect l="l" t="t" r="r" b="b"/>
              <a:pathLst>
                <a:path w="209320" h="241045" extrusionOk="0">
                  <a:moveTo>
                    <a:pt x="164832" y="20110"/>
                  </a:moveTo>
                  <a:cubicBezTo>
                    <a:pt x="182322" y="22777"/>
                    <a:pt x="202189" y="32111"/>
                    <a:pt x="204945" y="41636"/>
                  </a:cubicBezTo>
                  <a:cubicBezTo>
                    <a:pt x="212141" y="76098"/>
                    <a:pt x="210439" y="111835"/>
                    <a:pt x="200002" y="145459"/>
                  </a:cubicBezTo>
                  <a:cubicBezTo>
                    <a:pt x="184889" y="185464"/>
                    <a:pt x="174718" y="210895"/>
                    <a:pt x="165973" y="228136"/>
                  </a:cubicBezTo>
                  <a:cubicBezTo>
                    <a:pt x="165973" y="228136"/>
                    <a:pt x="90594" y="260521"/>
                    <a:pt x="29758" y="222706"/>
                  </a:cubicBezTo>
                  <a:cubicBezTo>
                    <a:pt x="29758" y="222706"/>
                    <a:pt x="25576" y="179844"/>
                    <a:pt x="25291" y="156889"/>
                  </a:cubicBezTo>
                  <a:cubicBezTo>
                    <a:pt x="-30792" y="107835"/>
                    <a:pt x="17211" y="47351"/>
                    <a:pt x="64739" y="393"/>
                  </a:cubicBezTo>
                  <a:cubicBezTo>
                    <a:pt x="70433" y="-131"/>
                    <a:pt x="76155" y="-131"/>
                    <a:pt x="81849" y="393"/>
                  </a:cubicBezTo>
                  <a:cubicBezTo>
                    <a:pt x="81849" y="393"/>
                    <a:pt x="39454" y="50685"/>
                    <a:pt x="68921" y="79260"/>
                  </a:cubicBezTo>
                  <a:cubicBezTo>
                    <a:pt x="132133" y="59638"/>
                    <a:pt x="144680" y="31063"/>
                    <a:pt x="164832" y="2011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612;p56">
              <a:extLst>
                <a:ext uri="{FF2B5EF4-FFF2-40B4-BE49-F238E27FC236}">
                  <a16:creationId xmlns:a16="http://schemas.microsoft.com/office/drawing/2014/main" id="{1350701F-B3FF-C59B-668D-4AAB120C2038}"/>
                </a:ext>
              </a:extLst>
            </p:cNvPr>
            <p:cNvSpPr/>
            <p:nvPr/>
          </p:nvSpPr>
          <p:spPr>
            <a:xfrm>
              <a:off x="5856166" y="3289038"/>
              <a:ext cx="154042" cy="190250"/>
            </a:xfrm>
            <a:custGeom>
              <a:avLst/>
              <a:gdLst/>
              <a:ahLst/>
              <a:cxnLst/>
              <a:rect l="l" t="t" r="r" b="b"/>
              <a:pathLst>
                <a:path w="154042" h="190250" extrusionOk="0">
                  <a:moveTo>
                    <a:pt x="3263" y="67854"/>
                  </a:moveTo>
                  <a:lnTo>
                    <a:pt x="3263" y="67854"/>
                  </a:lnTo>
                  <a:cubicBezTo>
                    <a:pt x="9442" y="27945"/>
                    <a:pt x="38244" y="-2250"/>
                    <a:pt x="79308" y="132"/>
                  </a:cubicBezTo>
                  <a:cubicBezTo>
                    <a:pt x="122872" y="2484"/>
                    <a:pt x="156274" y="39784"/>
                    <a:pt x="153926" y="83437"/>
                  </a:cubicBezTo>
                  <a:cubicBezTo>
                    <a:pt x="152586" y="108288"/>
                    <a:pt x="139668" y="131053"/>
                    <a:pt x="119041" y="144912"/>
                  </a:cubicBezTo>
                  <a:cubicBezTo>
                    <a:pt x="117624" y="150960"/>
                    <a:pt x="115486" y="156808"/>
                    <a:pt x="112672" y="162342"/>
                  </a:cubicBezTo>
                  <a:cubicBezTo>
                    <a:pt x="98129" y="179297"/>
                    <a:pt x="59441" y="190060"/>
                    <a:pt x="46704" y="190251"/>
                  </a:cubicBezTo>
                  <a:cubicBezTo>
                    <a:pt x="35677" y="190251"/>
                    <a:pt x="26172" y="180059"/>
                    <a:pt x="15811" y="162914"/>
                  </a:cubicBezTo>
                  <a:cubicBezTo>
                    <a:pt x="-5672" y="127195"/>
                    <a:pt x="-158" y="87571"/>
                    <a:pt x="3263" y="6785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613;p56">
              <a:extLst>
                <a:ext uri="{FF2B5EF4-FFF2-40B4-BE49-F238E27FC236}">
                  <a16:creationId xmlns:a16="http://schemas.microsoft.com/office/drawing/2014/main" id="{99A4CB01-6441-383E-7FE0-9C2C33F71D22}"/>
                </a:ext>
              </a:extLst>
            </p:cNvPr>
            <p:cNvSpPr/>
            <p:nvPr/>
          </p:nvSpPr>
          <p:spPr>
            <a:xfrm>
              <a:off x="5862376" y="3287995"/>
              <a:ext cx="154704" cy="145954"/>
            </a:xfrm>
            <a:custGeom>
              <a:avLst/>
              <a:gdLst/>
              <a:ahLst/>
              <a:cxnLst/>
              <a:rect l="l" t="t" r="r" b="b"/>
              <a:pathLst>
                <a:path w="154704" h="145954" extrusionOk="0">
                  <a:moveTo>
                    <a:pt x="85930" y="1937"/>
                  </a:moveTo>
                  <a:cubicBezTo>
                    <a:pt x="114447" y="7557"/>
                    <a:pt x="138400" y="15748"/>
                    <a:pt x="146290" y="44038"/>
                  </a:cubicBezTo>
                  <a:cubicBezTo>
                    <a:pt x="151613" y="63659"/>
                    <a:pt x="158647" y="101188"/>
                    <a:pt x="151993" y="116523"/>
                  </a:cubicBezTo>
                  <a:lnTo>
                    <a:pt x="147811" y="127857"/>
                  </a:lnTo>
                  <a:lnTo>
                    <a:pt x="112926" y="145955"/>
                  </a:lnTo>
                  <a:cubicBezTo>
                    <a:pt x="112926" y="145955"/>
                    <a:pt x="96576" y="132334"/>
                    <a:pt x="101709" y="92424"/>
                  </a:cubicBezTo>
                  <a:cubicBezTo>
                    <a:pt x="101510" y="87043"/>
                    <a:pt x="99798" y="81823"/>
                    <a:pt x="96766" y="77375"/>
                  </a:cubicBezTo>
                  <a:cubicBezTo>
                    <a:pt x="94580" y="73594"/>
                    <a:pt x="92954" y="69517"/>
                    <a:pt x="91919" y="65278"/>
                  </a:cubicBezTo>
                  <a:cubicBezTo>
                    <a:pt x="87774" y="54496"/>
                    <a:pt x="79685" y="45704"/>
                    <a:pt x="69295" y="40704"/>
                  </a:cubicBezTo>
                  <a:cubicBezTo>
                    <a:pt x="43345" y="26130"/>
                    <a:pt x="5323" y="38704"/>
                    <a:pt x="0" y="44038"/>
                  </a:cubicBezTo>
                  <a:cubicBezTo>
                    <a:pt x="15142" y="11452"/>
                    <a:pt x="50959" y="-6102"/>
                    <a:pt x="85930" y="193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614;p56">
              <a:extLst>
                <a:ext uri="{FF2B5EF4-FFF2-40B4-BE49-F238E27FC236}">
                  <a16:creationId xmlns:a16="http://schemas.microsoft.com/office/drawing/2014/main" id="{96726D67-B049-0833-40D2-49659B44BE1A}"/>
                </a:ext>
              </a:extLst>
            </p:cNvPr>
            <p:cNvSpPr/>
            <p:nvPr/>
          </p:nvSpPr>
          <p:spPr>
            <a:xfrm>
              <a:off x="5888298" y="4552945"/>
              <a:ext cx="121626" cy="93085"/>
            </a:xfrm>
            <a:custGeom>
              <a:avLst/>
              <a:gdLst/>
              <a:ahLst/>
              <a:cxnLst/>
              <a:rect l="l" t="t" r="r" b="b"/>
              <a:pathLst>
                <a:path w="121626" h="93085" extrusionOk="0">
                  <a:moveTo>
                    <a:pt x="112478" y="2"/>
                  </a:moveTo>
                  <a:cubicBezTo>
                    <a:pt x="97840" y="11908"/>
                    <a:pt x="75121" y="3717"/>
                    <a:pt x="74456" y="4765"/>
                  </a:cubicBezTo>
                  <a:cubicBezTo>
                    <a:pt x="57422" y="19395"/>
                    <a:pt x="39590" y="33073"/>
                    <a:pt x="21035" y="45722"/>
                  </a:cubicBezTo>
                  <a:cubicBezTo>
                    <a:pt x="11529" y="52866"/>
                    <a:pt x="-2254" y="62486"/>
                    <a:pt x="313" y="76202"/>
                  </a:cubicBezTo>
                  <a:cubicBezTo>
                    <a:pt x="4875" y="100872"/>
                    <a:pt x="44228" y="93347"/>
                    <a:pt x="59057" y="85727"/>
                  </a:cubicBezTo>
                  <a:cubicBezTo>
                    <a:pt x="73886" y="78107"/>
                    <a:pt x="86053" y="65725"/>
                    <a:pt x="100121" y="57152"/>
                  </a:cubicBezTo>
                  <a:cubicBezTo>
                    <a:pt x="110102" y="50961"/>
                    <a:pt x="119987" y="47627"/>
                    <a:pt x="121604" y="35054"/>
                  </a:cubicBezTo>
                  <a:cubicBezTo>
                    <a:pt x="122079" y="27149"/>
                    <a:pt x="115045" y="-284"/>
                    <a:pt x="112478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615;p56">
              <a:extLst>
                <a:ext uri="{FF2B5EF4-FFF2-40B4-BE49-F238E27FC236}">
                  <a16:creationId xmlns:a16="http://schemas.microsoft.com/office/drawing/2014/main" id="{2F06AA87-2B1B-43E7-860D-19A625BA32C9}"/>
                </a:ext>
              </a:extLst>
            </p:cNvPr>
            <p:cNvSpPr/>
            <p:nvPr/>
          </p:nvSpPr>
          <p:spPr>
            <a:xfrm>
              <a:off x="5888421" y="4582665"/>
              <a:ext cx="121131" cy="63346"/>
            </a:xfrm>
            <a:custGeom>
              <a:avLst/>
              <a:gdLst/>
              <a:ahLst/>
              <a:cxnLst/>
              <a:rect l="l" t="t" r="r" b="b"/>
              <a:pathLst>
                <a:path w="121131" h="63346" extrusionOk="0">
                  <a:moveTo>
                    <a:pt x="120910" y="0"/>
                  </a:moveTo>
                  <a:cubicBezTo>
                    <a:pt x="118914" y="12192"/>
                    <a:pt x="109219" y="15526"/>
                    <a:pt x="99238" y="21717"/>
                  </a:cubicBezTo>
                  <a:cubicBezTo>
                    <a:pt x="84979" y="30575"/>
                    <a:pt x="72432" y="43434"/>
                    <a:pt x="57604" y="50959"/>
                  </a:cubicBezTo>
                  <a:cubicBezTo>
                    <a:pt x="42775" y="58484"/>
                    <a:pt x="9601" y="64770"/>
                    <a:pt x="0" y="47244"/>
                  </a:cubicBezTo>
                  <a:cubicBezTo>
                    <a:pt x="5228" y="70961"/>
                    <a:pt x="43916" y="63532"/>
                    <a:pt x="58554" y="56007"/>
                  </a:cubicBezTo>
                  <a:cubicBezTo>
                    <a:pt x="73193" y="48482"/>
                    <a:pt x="85550" y="36004"/>
                    <a:pt x="99618" y="27432"/>
                  </a:cubicBezTo>
                  <a:cubicBezTo>
                    <a:pt x="109599" y="21241"/>
                    <a:pt x="119484" y="17907"/>
                    <a:pt x="121101" y="5334"/>
                  </a:cubicBezTo>
                  <a:cubicBezTo>
                    <a:pt x="121177" y="3553"/>
                    <a:pt x="121110" y="1772"/>
                    <a:pt x="120910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616;p56">
              <a:extLst>
                <a:ext uri="{FF2B5EF4-FFF2-40B4-BE49-F238E27FC236}">
                  <a16:creationId xmlns:a16="http://schemas.microsoft.com/office/drawing/2014/main" id="{1020620F-B2B7-7F00-4152-1B7F7B2D754F}"/>
                </a:ext>
              </a:extLst>
            </p:cNvPr>
            <p:cNvSpPr/>
            <p:nvPr/>
          </p:nvSpPr>
          <p:spPr>
            <a:xfrm>
              <a:off x="5795742" y="4532466"/>
              <a:ext cx="111395" cy="86487"/>
            </a:xfrm>
            <a:custGeom>
              <a:avLst/>
              <a:gdLst/>
              <a:ahLst/>
              <a:cxnLst/>
              <a:rect l="l" t="t" r="r" b="b"/>
              <a:pathLst>
                <a:path w="111395" h="86487" extrusionOk="0">
                  <a:moveTo>
                    <a:pt x="102659" y="2"/>
                  </a:moveTo>
                  <a:cubicBezTo>
                    <a:pt x="89257" y="10956"/>
                    <a:pt x="69105" y="4765"/>
                    <a:pt x="68154" y="5812"/>
                  </a:cubicBezTo>
                  <a:cubicBezTo>
                    <a:pt x="52537" y="19109"/>
                    <a:pt x="36225" y="31578"/>
                    <a:pt x="19296" y="43151"/>
                  </a:cubicBezTo>
                  <a:cubicBezTo>
                    <a:pt x="10931" y="49723"/>
                    <a:pt x="-2091" y="58486"/>
                    <a:pt x="285" y="71059"/>
                  </a:cubicBezTo>
                  <a:cubicBezTo>
                    <a:pt x="4467" y="93633"/>
                    <a:pt x="40493" y="86680"/>
                    <a:pt x="54181" y="79822"/>
                  </a:cubicBezTo>
                  <a:cubicBezTo>
                    <a:pt x="67869" y="72964"/>
                    <a:pt x="78800" y="61438"/>
                    <a:pt x="91728" y="53437"/>
                  </a:cubicBezTo>
                  <a:cubicBezTo>
                    <a:pt x="101234" y="47722"/>
                    <a:pt x="109884" y="44770"/>
                    <a:pt x="111309" y="33149"/>
                  </a:cubicBezTo>
                  <a:cubicBezTo>
                    <a:pt x="112260" y="26101"/>
                    <a:pt x="105036" y="-283"/>
                    <a:pt x="102659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617;p56">
              <a:extLst>
                <a:ext uri="{FF2B5EF4-FFF2-40B4-BE49-F238E27FC236}">
                  <a16:creationId xmlns:a16="http://schemas.microsoft.com/office/drawing/2014/main" id="{4B147B8E-822F-DBB0-73E5-85CF034E4E0F}"/>
                </a:ext>
              </a:extLst>
            </p:cNvPr>
            <p:cNvSpPr/>
            <p:nvPr/>
          </p:nvSpPr>
          <p:spPr>
            <a:xfrm>
              <a:off x="5796313" y="4560948"/>
              <a:ext cx="110894" cy="58013"/>
            </a:xfrm>
            <a:custGeom>
              <a:avLst/>
              <a:gdLst/>
              <a:ahLst/>
              <a:cxnLst/>
              <a:rect l="l" t="t" r="r" b="b"/>
              <a:pathLst>
                <a:path w="110894" h="58013" extrusionOk="0">
                  <a:moveTo>
                    <a:pt x="110644" y="0"/>
                  </a:moveTo>
                  <a:cubicBezTo>
                    <a:pt x="108838" y="11144"/>
                    <a:pt x="99903" y="14192"/>
                    <a:pt x="90778" y="19812"/>
                  </a:cubicBezTo>
                  <a:cubicBezTo>
                    <a:pt x="77755" y="28004"/>
                    <a:pt x="66254" y="39719"/>
                    <a:pt x="52756" y="46672"/>
                  </a:cubicBezTo>
                  <a:cubicBezTo>
                    <a:pt x="39258" y="53626"/>
                    <a:pt x="8840" y="59341"/>
                    <a:pt x="0" y="43244"/>
                  </a:cubicBezTo>
                  <a:cubicBezTo>
                    <a:pt x="4753" y="64961"/>
                    <a:pt x="40208" y="58198"/>
                    <a:pt x="53706" y="51340"/>
                  </a:cubicBezTo>
                  <a:cubicBezTo>
                    <a:pt x="67204" y="44482"/>
                    <a:pt x="78325" y="32956"/>
                    <a:pt x="91253" y="24955"/>
                  </a:cubicBezTo>
                  <a:cubicBezTo>
                    <a:pt x="100758" y="19240"/>
                    <a:pt x="109408" y="16288"/>
                    <a:pt x="110834" y="4667"/>
                  </a:cubicBezTo>
                  <a:cubicBezTo>
                    <a:pt x="110958" y="3105"/>
                    <a:pt x="110891" y="1543"/>
                    <a:pt x="11064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618;p56">
              <a:extLst>
                <a:ext uri="{FF2B5EF4-FFF2-40B4-BE49-F238E27FC236}">
                  <a16:creationId xmlns:a16="http://schemas.microsoft.com/office/drawing/2014/main" id="{E2D1EC44-3880-DF24-E5CF-9DBE3039377F}"/>
                </a:ext>
              </a:extLst>
            </p:cNvPr>
            <p:cNvSpPr/>
            <p:nvPr/>
          </p:nvSpPr>
          <p:spPr>
            <a:xfrm>
              <a:off x="5813683" y="3728558"/>
              <a:ext cx="237954" cy="833275"/>
            </a:xfrm>
            <a:custGeom>
              <a:avLst/>
              <a:gdLst/>
              <a:ahLst/>
              <a:cxnLst/>
              <a:rect l="l" t="t" r="r" b="b"/>
              <a:pathLst>
                <a:path w="237954" h="833275" extrusionOk="0">
                  <a:moveTo>
                    <a:pt x="6013" y="123825"/>
                  </a:moveTo>
                  <a:cubicBezTo>
                    <a:pt x="12477" y="73342"/>
                    <a:pt x="31013" y="0"/>
                    <a:pt x="31013" y="0"/>
                  </a:cubicBezTo>
                  <a:cubicBezTo>
                    <a:pt x="48541" y="8201"/>
                    <a:pt x="67495" y="12897"/>
                    <a:pt x="86810" y="13811"/>
                  </a:cubicBezTo>
                  <a:cubicBezTo>
                    <a:pt x="115136" y="13716"/>
                    <a:pt x="143396" y="10973"/>
                    <a:pt x="171219" y="5620"/>
                  </a:cubicBezTo>
                  <a:cubicBezTo>
                    <a:pt x="180287" y="21517"/>
                    <a:pt x="190220" y="36909"/>
                    <a:pt x="200971" y="51721"/>
                  </a:cubicBezTo>
                  <a:cubicBezTo>
                    <a:pt x="215515" y="71914"/>
                    <a:pt x="243746" y="116109"/>
                    <a:pt x="236902" y="193357"/>
                  </a:cubicBezTo>
                  <a:cubicBezTo>
                    <a:pt x="232435" y="243840"/>
                    <a:pt x="204203" y="458248"/>
                    <a:pt x="204203" y="458248"/>
                  </a:cubicBezTo>
                  <a:cubicBezTo>
                    <a:pt x="215201" y="494290"/>
                    <a:pt x="221056" y="531714"/>
                    <a:pt x="221598" y="569405"/>
                  </a:cubicBezTo>
                  <a:cubicBezTo>
                    <a:pt x="218937" y="614229"/>
                    <a:pt x="213024" y="658796"/>
                    <a:pt x="203918" y="702755"/>
                  </a:cubicBezTo>
                  <a:lnTo>
                    <a:pt x="187093" y="824389"/>
                  </a:lnTo>
                  <a:cubicBezTo>
                    <a:pt x="187093" y="824389"/>
                    <a:pt x="164660" y="840676"/>
                    <a:pt x="149071" y="829151"/>
                  </a:cubicBezTo>
                  <a:lnTo>
                    <a:pt x="151067" y="710089"/>
                  </a:lnTo>
                  <a:cubicBezTo>
                    <a:pt x="149166" y="680942"/>
                    <a:pt x="146219" y="637984"/>
                    <a:pt x="144413" y="610552"/>
                  </a:cubicBezTo>
                  <a:cubicBezTo>
                    <a:pt x="141371" y="565785"/>
                    <a:pt x="133387" y="494824"/>
                    <a:pt x="131106" y="477202"/>
                  </a:cubicBezTo>
                  <a:cubicBezTo>
                    <a:pt x="128824" y="459581"/>
                    <a:pt x="123121" y="428434"/>
                    <a:pt x="120364" y="393763"/>
                  </a:cubicBezTo>
                  <a:cubicBezTo>
                    <a:pt x="117608" y="359092"/>
                    <a:pt x="104680" y="182594"/>
                    <a:pt x="104680" y="182594"/>
                  </a:cubicBezTo>
                  <a:lnTo>
                    <a:pt x="102874" y="215646"/>
                  </a:lnTo>
                  <a:cubicBezTo>
                    <a:pt x="102874" y="215646"/>
                    <a:pt x="101068" y="269272"/>
                    <a:pt x="93369" y="335470"/>
                  </a:cubicBezTo>
                  <a:cubicBezTo>
                    <a:pt x="85669" y="401669"/>
                    <a:pt x="83008" y="430720"/>
                    <a:pt x="83008" y="430720"/>
                  </a:cubicBezTo>
                  <a:cubicBezTo>
                    <a:pt x="90308" y="444074"/>
                    <a:pt x="95412" y="458514"/>
                    <a:pt x="98121" y="473488"/>
                  </a:cubicBezTo>
                  <a:cubicBezTo>
                    <a:pt x="99452" y="487775"/>
                    <a:pt x="115707" y="600932"/>
                    <a:pt x="106011" y="658463"/>
                  </a:cubicBezTo>
                  <a:lnTo>
                    <a:pt x="85954" y="804863"/>
                  </a:lnTo>
                  <a:cubicBezTo>
                    <a:pt x="75869" y="811882"/>
                    <a:pt x="63018" y="813587"/>
                    <a:pt x="51449" y="809434"/>
                  </a:cubicBezTo>
                  <a:lnTo>
                    <a:pt x="39663" y="661892"/>
                  </a:lnTo>
                  <a:cubicBezTo>
                    <a:pt x="31773" y="605790"/>
                    <a:pt x="15043" y="486823"/>
                    <a:pt x="12477" y="471392"/>
                  </a:cubicBezTo>
                  <a:cubicBezTo>
                    <a:pt x="6773" y="440226"/>
                    <a:pt x="3408" y="408670"/>
                    <a:pt x="2401" y="376999"/>
                  </a:cubicBezTo>
                  <a:cubicBezTo>
                    <a:pt x="-1782" y="312991"/>
                    <a:pt x="-451" y="174212"/>
                    <a:pt x="6013" y="12382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619;p56">
              <a:extLst>
                <a:ext uri="{FF2B5EF4-FFF2-40B4-BE49-F238E27FC236}">
                  <a16:creationId xmlns:a16="http://schemas.microsoft.com/office/drawing/2014/main" id="{1874DB0D-183D-D18F-7485-560913A1B369}"/>
                </a:ext>
              </a:extLst>
            </p:cNvPr>
            <p:cNvSpPr/>
            <p:nvPr/>
          </p:nvSpPr>
          <p:spPr>
            <a:xfrm>
              <a:off x="5803516" y="3708175"/>
              <a:ext cx="253612" cy="553963"/>
            </a:xfrm>
            <a:custGeom>
              <a:avLst/>
              <a:gdLst/>
              <a:ahLst/>
              <a:cxnLst/>
              <a:rect l="l" t="t" r="r" b="b"/>
              <a:pathLst>
                <a:path w="253612" h="553963" extrusionOk="0">
                  <a:moveTo>
                    <a:pt x="181386" y="6572"/>
                  </a:moveTo>
                  <a:lnTo>
                    <a:pt x="224731" y="93726"/>
                  </a:lnTo>
                  <a:cubicBezTo>
                    <a:pt x="224731" y="93726"/>
                    <a:pt x="291270" y="190690"/>
                    <a:pt x="222355" y="439960"/>
                  </a:cubicBezTo>
                  <a:lnTo>
                    <a:pt x="235187" y="516922"/>
                  </a:lnTo>
                  <a:cubicBezTo>
                    <a:pt x="235187" y="516922"/>
                    <a:pt x="105532" y="600265"/>
                    <a:pt x="18746" y="516922"/>
                  </a:cubicBezTo>
                  <a:cubicBezTo>
                    <a:pt x="18746" y="516922"/>
                    <a:pt x="-11291" y="286512"/>
                    <a:pt x="4678" y="180308"/>
                  </a:cubicBezTo>
                  <a:cubicBezTo>
                    <a:pt x="13613" y="119272"/>
                    <a:pt x="27121" y="59007"/>
                    <a:pt x="45077" y="0"/>
                  </a:cubicBezTo>
                  <a:cubicBezTo>
                    <a:pt x="45077" y="0"/>
                    <a:pt x="66369" y="23527"/>
                    <a:pt x="175683" y="8001"/>
                  </a:cubicBezTo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620;p56">
              <a:extLst>
                <a:ext uri="{FF2B5EF4-FFF2-40B4-BE49-F238E27FC236}">
                  <a16:creationId xmlns:a16="http://schemas.microsoft.com/office/drawing/2014/main" id="{A5700FC6-7C62-B96A-85BE-055F6BEE214B}"/>
                </a:ext>
              </a:extLst>
            </p:cNvPr>
            <p:cNvSpPr/>
            <p:nvPr/>
          </p:nvSpPr>
          <p:spPr>
            <a:xfrm>
              <a:off x="5812662" y="3486508"/>
              <a:ext cx="71005" cy="74600"/>
            </a:xfrm>
            <a:custGeom>
              <a:avLst/>
              <a:gdLst/>
              <a:ahLst/>
              <a:cxnLst/>
              <a:rect l="l" t="t" r="r" b="b"/>
              <a:pathLst>
                <a:path w="71005" h="74600" extrusionOk="0">
                  <a:moveTo>
                    <a:pt x="71006" y="496"/>
                  </a:moveTo>
                  <a:cubicBezTo>
                    <a:pt x="71006" y="496"/>
                    <a:pt x="36596" y="-10077"/>
                    <a:pt x="0" y="66409"/>
                  </a:cubicBezTo>
                  <a:lnTo>
                    <a:pt x="13688" y="74600"/>
                  </a:lnTo>
                  <a:cubicBezTo>
                    <a:pt x="13688" y="74600"/>
                    <a:pt x="49714" y="20117"/>
                    <a:pt x="71006" y="49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621;p56">
              <a:extLst>
                <a:ext uri="{FF2B5EF4-FFF2-40B4-BE49-F238E27FC236}">
                  <a16:creationId xmlns:a16="http://schemas.microsoft.com/office/drawing/2014/main" id="{28F1F5B0-8504-8E38-4F51-F7DAF74B3ED1}"/>
                </a:ext>
              </a:extLst>
            </p:cNvPr>
            <p:cNvSpPr/>
            <p:nvPr/>
          </p:nvSpPr>
          <p:spPr>
            <a:xfrm>
              <a:off x="5614947" y="3815235"/>
              <a:ext cx="254367" cy="147732"/>
            </a:xfrm>
            <a:custGeom>
              <a:avLst/>
              <a:gdLst/>
              <a:ahLst/>
              <a:cxnLst/>
              <a:rect l="l" t="t" r="r" b="b"/>
              <a:pathLst>
                <a:path w="254367" h="147732" extrusionOk="0">
                  <a:moveTo>
                    <a:pt x="0" y="86201"/>
                  </a:moveTo>
                  <a:lnTo>
                    <a:pt x="148096" y="0"/>
                  </a:lnTo>
                  <a:lnTo>
                    <a:pt x="254368" y="61436"/>
                  </a:lnTo>
                  <a:lnTo>
                    <a:pt x="106272" y="147733"/>
                  </a:lnTo>
                  <a:lnTo>
                    <a:pt x="0" y="86201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622;p56">
              <a:extLst>
                <a:ext uri="{FF2B5EF4-FFF2-40B4-BE49-F238E27FC236}">
                  <a16:creationId xmlns:a16="http://schemas.microsoft.com/office/drawing/2014/main" id="{776CA1E2-AC87-5807-AF30-1C23D4B5AC18}"/>
                </a:ext>
              </a:extLst>
            </p:cNvPr>
            <p:cNvSpPr/>
            <p:nvPr/>
          </p:nvSpPr>
          <p:spPr>
            <a:xfrm>
              <a:off x="5694413" y="3821487"/>
              <a:ext cx="53706" cy="44771"/>
            </a:xfrm>
            <a:custGeom>
              <a:avLst/>
              <a:gdLst/>
              <a:ahLst/>
              <a:cxnLst/>
              <a:rect l="l" t="t" r="r" b="b"/>
              <a:pathLst>
                <a:path w="53706" h="44771" extrusionOk="0">
                  <a:moveTo>
                    <a:pt x="49524" y="35"/>
                  </a:moveTo>
                  <a:cubicBezTo>
                    <a:pt x="40237" y="968"/>
                    <a:pt x="31254" y="3892"/>
                    <a:pt x="23194" y="8607"/>
                  </a:cubicBezTo>
                  <a:cubicBezTo>
                    <a:pt x="20228" y="11198"/>
                    <a:pt x="17053" y="13522"/>
                    <a:pt x="13688" y="15561"/>
                  </a:cubicBezTo>
                  <a:cubicBezTo>
                    <a:pt x="12262" y="16227"/>
                    <a:pt x="10836" y="17180"/>
                    <a:pt x="9315" y="17846"/>
                  </a:cubicBezTo>
                  <a:cubicBezTo>
                    <a:pt x="7053" y="18675"/>
                    <a:pt x="5000" y="20009"/>
                    <a:pt x="3327" y="21752"/>
                  </a:cubicBezTo>
                  <a:cubicBezTo>
                    <a:pt x="1673" y="24200"/>
                    <a:pt x="780" y="27086"/>
                    <a:pt x="760" y="30038"/>
                  </a:cubicBezTo>
                  <a:cubicBezTo>
                    <a:pt x="0" y="33572"/>
                    <a:pt x="-190" y="37211"/>
                    <a:pt x="190" y="40802"/>
                  </a:cubicBezTo>
                  <a:cubicBezTo>
                    <a:pt x="1521" y="46136"/>
                    <a:pt x="7034" y="45660"/>
                    <a:pt x="9696" y="41945"/>
                  </a:cubicBezTo>
                  <a:cubicBezTo>
                    <a:pt x="11141" y="40088"/>
                    <a:pt x="11968" y="37821"/>
                    <a:pt x="12072" y="35468"/>
                  </a:cubicBezTo>
                  <a:cubicBezTo>
                    <a:pt x="12234" y="30905"/>
                    <a:pt x="14562" y="26686"/>
                    <a:pt x="18346" y="24133"/>
                  </a:cubicBezTo>
                  <a:lnTo>
                    <a:pt x="53706" y="2130"/>
                  </a:lnTo>
                  <a:cubicBezTo>
                    <a:pt x="52870" y="644"/>
                    <a:pt x="51216" y="-184"/>
                    <a:pt x="49524" y="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623;p56">
              <a:extLst>
                <a:ext uri="{FF2B5EF4-FFF2-40B4-BE49-F238E27FC236}">
                  <a16:creationId xmlns:a16="http://schemas.microsoft.com/office/drawing/2014/main" id="{0F818C21-E7B3-A19F-5938-D3CCB761FEF0}"/>
                </a:ext>
              </a:extLst>
            </p:cNvPr>
            <p:cNvSpPr/>
            <p:nvPr/>
          </p:nvSpPr>
          <p:spPr>
            <a:xfrm>
              <a:off x="5775008" y="3530248"/>
              <a:ext cx="253611" cy="322722"/>
            </a:xfrm>
            <a:custGeom>
              <a:avLst/>
              <a:gdLst/>
              <a:ahLst/>
              <a:cxnLst/>
              <a:rect l="l" t="t" r="r" b="b"/>
              <a:pathLst>
                <a:path w="253611" h="322722" extrusionOk="0">
                  <a:moveTo>
                    <a:pt x="250673" y="25527"/>
                  </a:moveTo>
                  <a:cubicBezTo>
                    <a:pt x="245826" y="5334"/>
                    <a:pt x="230046" y="11811"/>
                    <a:pt x="216453" y="0"/>
                  </a:cubicBezTo>
                  <a:cubicBezTo>
                    <a:pt x="184990" y="44672"/>
                    <a:pt x="205902" y="165449"/>
                    <a:pt x="210180" y="178308"/>
                  </a:cubicBezTo>
                  <a:lnTo>
                    <a:pt x="89270" y="255556"/>
                  </a:lnTo>
                  <a:lnTo>
                    <a:pt x="89270" y="255556"/>
                  </a:lnTo>
                  <a:lnTo>
                    <a:pt x="81095" y="260604"/>
                  </a:lnTo>
                  <a:cubicBezTo>
                    <a:pt x="67331" y="269662"/>
                    <a:pt x="52131" y="276301"/>
                    <a:pt x="36134" y="280225"/>
                  </a:cubicBezTo>
                  <a:cubicBezTo>
                    <a:pt x="24062" y="281654"/>
                    <a:pt x="17788" y="298704"/>
                    <a:pt x="4860" y="300228"/>
                  </a:cubicBezTo>
                  <a:cubicBezTo>
                    <a:pt x="2075" y="300333"/>
                    <a:pt x="-92" y="302666"/>
                    <a:pt x="3" y="305457"/>
                  </a:cubicBezTo>
                  <a:cubicBezTo>
                    <a:pt x="51" y="306753"/>
                    <a:pt x="602" y="307991"/>
                    <a:pt x="1533" y="308896"/>
                  </a:cubicBezTo>
                  <a:cubicBezTo>
                    <a:pt x="6667" y="313849"/>
                    <a:pt x="20545" y="309753"/>
                    <a:pt x="30050" y="298704"/>
                  </a:cubicBezTo>
                  <a:cubicBezTo>
                    <a:pt x="30002" y="298952"/>
                    <a:pt x="30002" y="299218"/>
                    <a:pt x="30050" y="299466"/>
                  </a:cubicBezTo>
                  <a:cubicBezTo>
                    <a:pt x="30202" y="303057"/>
                    <a:pt x="32227" y="306314"/>
                    <a:pt x="35373" y="308038"/>
                  </a:cubicBezTo>
                  <a:cubicBezTo>
                    <a:pt x="36067" y="308458"/>
                    <a:pt x="36846" y="308724"/>
                    <a:pt x="37655" y="308800"/>
                  </a:cubicBezTo>
                  <a:cubicBezTo>
                    <a:pt x="37655" y="309610"/>
                    <a:pt x="37883" y="310401"/>
                    <a:pt x="38320" y="311087"/>
                  </a:cubicBezTo>
                  <a:cubicBezTo>
                    <a:pt x="39708" y="313925"/>
                    <a:pt x="42417" y="315887"/>
                    <a:pt x="45544" y="316325"/>
                  </a:cubicBezTo>
                  <a:lnTo>
                    <a:pt x="45544" y="316325"/>
                  </a:lnTo>
                  <a:cubicBezTo>
                    <a:pt x="46941" y="320335"/>
                    <a:pt x="50820" y="322945"/>
                    <a:pt x="55050" y="322707"/>
                  </a:cubicBezTo>
                  <a:cubicBezTo>
                    <a:pt x="57825" y="322564"/>
                    <a:pt x="60439" y="321373"/>
                    <a:pt x="62369" y="319373"/>
                  </a:cubicBezTo>
                  <a:cubicBezTo>
                    <a:pt x="72682" y="315430"/>
                    <a:pt x="81789" y="308867"/>
                    <a:pt x="88794" y="300323"/>
                  </a:cubicBezTo>
                  <a:cubicBezTo>
                    <a:pt x="94982" y="293875"/>
                    <a:pt x="101522" y="287769"/>
                    <a:pt x="108375" y="282035"/>
                  </a:cubicBezTo>
                  <a:cubicBezTo>
                    <a:pt x="141170" y="267843"/>
                    <a:pt x="239552" y="225742"/>
                    <a:pt x="243924" y="219742"/>
                  </a:cubicBezTo>
                  <a:cubicBezTo>
                    <a:pt x="250768" y="210693"/>
                    <a:pt x="257707" y="54102"/>
                    <a:pt x="250673" y="2552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624;p56">
              <a:extLst>
                <a:ext uri="{FF2B5EF4-FFF2-40B4-BE49-F238E27FC236}">
                  <a16:creationId xmlns:a16="http://schemas.microsoft.com/office/drawing/2014/main" id="{07F04056-541B-0FD7-8BA7-EC45B5D8A4D6}"/>
                </a:ext>
              </a:extLst>
            </p:cNvPr>
            <p:cNvSpPr/>
            <p:nvPr/>
          </p:nvSpPr>
          <p:spPr>
            <a:xfrm>
              <a:off x="5965891" y="3514431"/>
              <a:ext cx="72720" cy="103595"/>
            </a:xfrm>
            <a:custGeom>
              <a:avLst/>
              <a:gdLst/>
              <a:ahLst/>
              <a:cxnLst/>
              <a:rect l="l" t="t" r="r" b="b"/>
              <a:pathLst>
                <a:path w="72720" h="103595" extrusionOk="0">
                  <a:moveTo>
                    <a:pt x="70816" y="95541"/>
                  </a:moveTo>
                  <a:cubicBezTo>
                    <a:pt x="70816" y="95541"/>
                    <a:pt x="32129" y="112876"/>
                    <a:pt x="0" y="96684"/>
                  </a:cubicBezTo>
                  <a:lnTo>
                    <a:pt x="4658" y="36009"/>
                  </a:lnTo>
                  <a:cubicBezTo>
                    <a:pt x="4658" y="36009"/>
                    <a:pt x="5133" y="3434"/>
                    <a:pt x="34125" y="195"/>
                  </a:cubicBezTo>
                  <a:cubicBezTo>
                    <a:pt x="63117" y="-3043"/>
                    <a:pt x="78325" y="34200"/>
                    <a:pt x="70816" y="9554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" name="Google Shape;625;p56">
              <a:extLst>
                <a:ext uri="{FF2B5EF4-FFF2-40B4-BE49-F238E27FC236}">
                  <a16:creationId xmlns:a16="http://schemas.microsoft.com/office/drawing/2014/main" id="{3704EF74-D75A-1C5E-0960-E25294C1E71D}"/>
                </a:ext>
              </a:extLst>
            </p:cNvPr>
            <p:cNvGrpSpPr/>
            <p:nvPr/>
          </p:nvGrpSpPr>
          <p:grpSpPr>
            <a:xfrm flipH="1">
              <a:off x="2865273" y="3434801"/>
              <a:ext cx="598186" cy="1340314"/>
              <a:chOff x="4210728" y="4525714"/>
              <a:chExt cx="546438" cy="1224366"/>
            </a:xfrm>
          </p:grpSpPr>
          <p:sp>
            <p:nvSpPr>
              <p:cNvPr id="59" name="Google Shape;626;p56">
                <a:extLst>
                  <a:ext uri="{FF2B5EF4-FFF2-40B4-BE49-F238E27FC236}">
                    <a16:creationId xmlns:a16="http://schemas.microsoft.com/office/drawing/2014/main" id="{65687669-7A22-F0E8-89A1-BAEE3CB08CAE}"/>
                  </a:ext>
                </a:extLst>
              </p:cNvPr>
              <p:cNvSpPr/>
              <p:nvPr/>
            </p:nvSpPr>
            <p:spPr>
              <a:xfrm>
                <a:off x="4672107" y="4726590"/>
                <a:ext cx="85002" cy="305847"/>
              </a:xfrm>
              <a:custGeom>
                <a:avLst/>
                <a:gdLst/>
                <a:ahLst/>
                <a:cxnLst/>
                <a:rect l="l" t="t" r="r" b="b"/>
                <a:pathLst>
                  <a:path w="85002" h="305847" extrusionOk="0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27;p56">
                <a:extLst>
                  <a:ext uri="{FF2B5EF4-FFF2-40B4-BE49-F238E27FC236}">
                    <a16:creationId xmlns:a16="http://schemas.microsoft.com/office/drawing/2014/main" id="{2103DD3B-73DC-3419-284D-3F1CB2BEA9A6}"/>
                  </a:ext>
                </a:extLst>
              </p:cNvPr>
              <p:cNvSpPr/>
              <p:nvPr/>
            </p:nvSpPr>
            <p:spPr>
              <a:xfrm>
                <a:off x="4408366" y="5679962"/>
                <a:ext cx="123900" cy="70118"/>
              </a:xfrm>
              <a:custGeom>
                <a:avLst/>
                <a:gdLst/>
                <a:ahLst/>
                <a:cxnLst/>
                <a:rect l="l" t="t" r="r" b="b"/>
                <a:pathLst>
                  <a:path w="123900" h="70118" extrusionOk="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28;p56">
                <a:extLst>
                  <a:ext uri="{FF2B5EF4-FFF2-40B4-BE49-F238E27FC236}">
                    <a16:creationId xmlns:a16="http://schemas.microsoft.com/office/drawing/2014/main" id="{4FE929E9-6306-8C23-6955-62E4FEA2D705}"/>
                  </a:ext>
                </a:extLst>
              </p:cNvPr>
              <p:cNvSpPr/>
              <p:nvPr/>
            </p:nvSpPr>
            <p:spPr>
              <a:xfrm>
                <a:off x="4408245" y="5691663"/>
                <a:ext cx="121939" cy="58416"/>
              </a:xfrm>
              <a:custGeom>
                <a:avLst/>
                <a:gdLst/>
                <a:ahLst/>
                <a:cxnLst/>
                <a:rect l="l" t="t" r="r" b="b"/>
                <a:pathLst>
                  <a:path w="121939" h="58416" extrusionOk="0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9;p56">
                <a:extLst>
                  <a:ext uri="{FF2B5EF4-FFF2-40B4-BE49-F238E27FC236}">
                    <a16:creationId xmlns:a16="http://schemas.microsoft.com/office/drawing/2014/main" id="{64FD0248-4B59-82DF-146F-B3DE9870123A}"/>
                  </a:ext>
                </a:extLst>
              </p:cNvPr>
              <p:cNvSpPr/>
              <p:nvPr/>
            </p:nvSpPr>
            <p:spPr>
              <a:xfrm>
                <a:off x="4566152" y="5600798"/>
                <a:ext cx="119416" cy="67472"/>
              </a:xfrm>
              <a:custGeom>
                <a:avLst/>
                <a:gdLst/>
                <a:ahLst/>
                <a:cxnLst/>
                <a:rect l="l" t="t" r="r" b="b"/>
                <a:pathLst>
                  <a:path w="119416" h="67472" extrusionOk="0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0;p56">
                <a:extLst>
                  <a:ext uri="{FF2B5EF4-FFF2-40B4-BE49-F238E27FC236}">
                    <a16:creationId xmlns:a16="http://schemas.microsoft.com/office/drawing/2014/main" id="{C5CC544B-F7EE-4131-6AB8-8CA8D5D795BC}"/>
                  </a:ext>
                </a:extLst>
              </p:cNvPr>
              <p:cNvSpPr/>
              <p:nvPr/>
            </p:nvSpPr>
            <p:spPr>
              <a:xfrm>
                <a:off x="4566197" y="5611939"/>
                <a:ext cx="117340" cy="56332"/>
              </a:xfrm>
              <a:custGeom>
                <a:avLst/>
                <a:gdLst/>
                <a:ahLst/>
                <a:cxnLst/>
                <a:rect l="l" t="t" r="r" b="b"/>
                <a:pathLst>
                  <a:path w="117340" h="56332" extrusionOk="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31;p56">
                <a:extLst>
                  <a:ext uri="{FF2B5EF4-FFF2-40B4-BE49-F238E27FC236}">
                    <a16:creationId xmlns:a16="http://schemas.microsoft.com/office/drawing/2014/main" id="{8685A0B7-FC0E-CBB7-2FB8-4031D78DBA4E}"/>
                  </a:ext>
                </a:extLst>
              </p:cNvPr>
              <p:cNvSpPr/>
              <p:nvPr/>
            </p:nvSpPr>
            <p:spPr>
              <a:xfrm>
                <a:off x="4483409" y="4968525"/>
                <a:ext cx="238054" cy="732926"/>
              </a:xfrm>
              <a:custGeom>
                <a:avLst/>
                <a:gdLst/>
                <a:ahLst/>
                <a:cxnLst/>
                <a:rect l="l" t="t" r="r" b="b"/>
                <a:pathLst>
                  <a:path w="238054" h="732926" extrusionOk="0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32;p56">
                <a:extLst>
                  <a:ext uri="{FF2B5EF4-FFF2-40B4-BE49-F238E27FC236}">
                    <a16:creationId xmlns:a16="http://schemas.microsoft.com/office/drawing/2014/main" id="{0CC8BEA1-8DA5-C297-D44F-093FAB591BFC}"/>
                  </a:ext>
                </a:extLst>
              </p:cNvPr>
              <p:cNvSpPr/>
              <p:nvPr/>
            </p:nvSpPr>
            <p:spPr>
              <a:xfrm>
                <a:off x="4484426" y="4968525"/>
                <a:ext cx="236925" cy="409866"/>
              </a:xfrm>
              <a:custGeom>
                <a:avLst/>
                <a:gdLst/>
                <a:ahLst/>
                <a:cxnLst/>
                <a:rect l="l" t="t" r="r" b="b"/>
                <a:pathLst>
                  <a:path w="236925" h="409866" extrusionOk="0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33;p56">
                <a:extLst>
                  <a:ext uri="{FF2B5EF4-FFF2-40B4-BE49-F238E27FC236}">
                    <a16:creationId xmlns:a16="http://schemas.microsoft.com/office/drawing/2014/main" id="{4E0EF2BB-37EB-4CA7-98C0-5AB31A96C9C4}"/>
                  </a:ext>
                </a:extLst>
              </p:cNvPr>
              <p:cNvSpPr/>
              <p:nvPr/>
            </p:nvSpPr>
            <p:spPr>
              <a:xfrm>
                <a:off x="4531702" y="4525767"/>
                <a:ext cx="160521" cy="258577"/>
              </a:xfrm>
              <a:custGeom>
                <a:avLst/>
                <a:gdLst/>
                <a:ahLst/>
                <a:cxnLst/>
                <a:rect l="l" t="t" r="r" b="b"/>
                <a:pathLst>
                  <a:path w="160521" h="258577" extrusionOk="0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34;p56">
                <a:extLst>
                  <a:ext uri="{FF2B5EF4-FFF2-40B4-BE49-F238E27FC236}">
                    <a16:creationId xmlns:a16="http://schemas.microsoft.com/office/drawing/2014/main" id="{9E5E8CC9-B8B9-1B43-8EB2-84EDD757E9B2}"/>
                  </a:ext>
                </a:extLst>
              </p:cNvPr>
              <p:cNvSpPr/>
              <p:nvPr/>
            </p:nvSpPr>
            <p:spPr>
              <a:xfrm>
                <a:off x="4695825" y="4756088"/>
                <a:ext cx="61341" cy="108805"/>
              </a:xfrm>
              <a:custGeom>
                <a:avLst/>
                <a:gdLst/>
                <a:ahLst/>
                <a:cxnLst/>
                <a:rect l="l" t="t" r="r" b="b"/>
                <a:pathLst>
                  <a:path w="61341" h="108805" extrusionOk="0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35;p56">
                <a:extLst>
                  <a:ext uri="{FF2B5EF4-FFF2-40B4-BE49-F238E27FC236}">
                    <a16:creationId xmlns:a16="http://schemas.microsoft.com/office/drawing/2014/main" id="{47549E57-5B78-F925-2314-0D67D02372EA}"/>
                  </a:ext>
                </a:extLst>
              </p:cNvPr>
              <p:cNvSpPr/>
              <p:nvPr/>
            </p:nvSpPr>
            <p:spPr>
              <a:xfrm>
                <a:off x="4523612" y="4724507"/>
                <a:ext cx="191546" cy="273865"/>
              </a:xfrm>
              <a:custGeom>
                <a:avLst/>
                <a:gdLst/>
                <a:ahLst/>
                <a:cxnLst/>
                <a:rect l="l" t="t" r="r" b="b"/>
                <a:pathLst>
                  <a:path w="191546" h="273865" extrusionOk="0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36;p56">
                <a:extLst>
                  <a:ext uri="{FF2B5EF4-FFF2-40B4-BE49-F238E27FC236}">
                    <a16:creationId xmlns:a16="http://schemas.microsoft.com/office/drawing/2014/main" id="{D515CEEE-B2EC-C28B-8BFB-386FEC452D31}"/>
                  </a:ext>
                </a:extLst>
              </p:cNvPr>
              <p:cNvSpPr/>
              <p:nvPr/>
            </p:nvSpPr>
            <p:spPr>
              <a:xfrm>
                <a:off x="4210728" y="4780936"/>
                <a:ext cx="368747" cy="265455"/>
              </a:xfrm>
              <a:custGeom>
                <a:avLst/>
                <a:gdLst/>
                <a:ahLst/>
                <a:cxnLst/>
                <a:rect l="l" t="t" r="r" b="b"/>
                <a:pathLst>
                  <a:path w="368747" h="265455" extrusionOk="0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637;p56">
                <a:extLst>
                  <a:ext uri="{FF2B5EF4-FFF2-40B4-BE49-F238E27FC236}">
                    <a16:creationId xmlns:a16="http://schemas.microsoft.com/office/drawing/2014/main" id="{29CE0BF7-A699-5231-73B3-FDCAA35AA6D7}"/>
                  </a:ext>
                </a:extLst>
              </p:cNvPr>
              <p:cNvSpPr/>
              <p:nvPr/>
            </p:nvSpPr>
            <p:spPr>
              <a:xfrm>
                <a:off x="4484370" y="4765472"/>
                <a:ext cx="100785" cy="104755"/>
              </a:xfrm>
              <a:custGeom>
                <a:avLst/>
                <a:gdLst/>
                <a:ahLst/>
                <a:cxnLst/>
                <a:rect l="l" t="t" r="r" b="b"/>
                <a:pathLst>
                  <a:path w="100785" h="104755" extrusionOk="0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638;p56">
                <a:extLst>
                  <a:ext uri="{FF2B5EF4-FFF2-40B4-BE49-F238E27FC236}">
                    <a16:creationId xmlns:a16="http://schemas.microsoft.com/office/drawing/2014/main" id="{9C9275AF-86C0-C41F-58FC-77A39D5FE139}"/>
                  </a:ext>
                </a:extLst>
              </p:cNvPr>
              <p:cNvSpPr/>
              <p:nvPr/>
            </p:nvSpPr>
            <p:spPr>
              <a:xfrm>
                <a:off x="4524935" y="4525714"/>
                <a:ext cx="201012" cy="328692"/>
              </a:xfrm>
              <a:custGeom>
                <a:avLst/>
                <a:gdLst/>
                <a:ahLst/>
                <a:cxnLst/>
                <a:rect l="l" t="t" r="r" b="b"/>
                <a:pathLst>
                  <a:path w="201012" h="328692" extrusionOk="0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15" name="Picture 114" descr="A blue and green arrows on a black background&#10;&#10;Description automatically generated">
            <a:extLst>
              <a:ext uri="{FF2B5EF4-FFF2-40B4-BE49-F238E27FC236}">
                <a16:creationId xmlns:a16="http://schemas.microsoft.com/office/drawing/2014/main" id="{E00C7573-3241-A415-53D3-0944CC0C5BD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2888698"/>
            <a:ext cx="927993" cy="927993"/>
          </a:xfrm>
          <a:prstGeom prst="rect">
            <a:avLst/>
          </a:prstGeom>
        </p:spPr>
      </p:pic>
      <p:sp>
        <p:nvSpPr>
          <p:cNvPr id="116" name="Isosceles Triangle 115">
            <a:extLst>
              <a:ext uri="{FF2B5EF4-FFF2-40B4-BE49-F238E27FC236}">
                <a16:creationId xmlns:a16="http://schemas.microsoft.com/office/drawing/2014/main" id="{C407C590-323D-8AC2-B76B-DF3579527F59}"/>
              </a:ext>
            </a:extLst>
          </p:cNvPr>
          <p:cNvSpPr/>
          <p:nvPr/>
        </p:nvSpPr>
        <p:spPr>
          <a:xfrm rot="5400000">
            <a:off x="-228600" y="3352801"/>
            <a:ext cx="1524000" cy="106680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Isosceles Triangle 116">
            <a:extLst>
              <a:ext uri="{FF2B5EF4-FFF2-40B4-BE49-F238E27FC236}">
                <a16:creationId xmlns:a16="http://schemas.microsoft.com/office/drawing/2014/main" id="{14FA8D2C-9A31-6A6B-16CF-D061284DD125}"/>
              </a:ext>
            </a:extLst>
          </p:cNvPr>
          <p:cNvSpPr/>
          <p:nvPr/>
        </p:nvSpPr>
        <p:spPr>
          <a:xfrm rot="5400000">
            <a:off x="-228600" y="4945789"/>
            <a:ext cx="1524000" cy="1066800"/>
          </a:xfrm>
          <a:prstGeom prst="triangle">
            <a:avLst>
              <a:gd name="adj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: Rounded Corners 120">
            <a:extLst>
              <a:ext uri="{FF2B5EF4-FFF2-40B4-BE49-F238E27FC236}">
                <a16:creationId xmlns:a16="http://schemas.microsoft.com/office/drawing/2014/main" id="{4EAF8FD6-C5B3-1679-695B-1260A0E293AD}"/>
              </a:ext>
            </a:extLst>
          </p:cNvPr>
          <p:cNvSpPr/>
          <p:nvPr/>
        </p:nvSpPr>
        <p:spPr>
          <a:xfrm>
            <a:off x="6549662" y="2424133"/>
            <a:ext cx="5264873" cy="3429808"/>
          </a:xfrm>
          <a:prstGeom prst="roundRect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2" name="Picture 111">
            <a:extLst>
              <a:ext uri="{FF2B5EF4-FFF2-40B4-BE49-F238E27FC236}">
                <a16:creationId xmlns:a16="http://schemas.microsoft.com/office/drawing/2014/main" id="{185E0EF3-0DEC-BCEF-2893-EEFED1ABBA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370" y="1"/>
            <a:ext cx="1469630" cy="1447800"/>
          </a:xfrm>
          <a:prstGeom prst="rect">
            <a:avLst/>
          </a:prstGeom>
        </p:spPr>
      </p:pic>
      <p:sp>
        <p:nvSpPr>
          <p:cNvPr id="114" name="TextBox 113">
            <a:extLst>
              <a:ext uri="{FF2B5EF4-FFF2-40B4-BE49-F238E27FC236}">
                <a16:creationId xmlns:a16="http://schemas.microsoft.com/office/drawing/2014/main" id="{E6145145-3C55-1295-E9AF-5A2F7C296EF8}"/>
              </a:ext>
            </a:extLst>
          </p:cNvPr>
          <p:cNvSpPr txBox="1"/>
          <p:nvPr/>
        </p:nvSpPr>
        <p:spPr>
          <a:xfrm>
            <a:off x="304800" y="1447801"/>
            <a:ext cx="501605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Aptos" panose="020B0004020202020204" pitchFamily="34" charset="0"/>
              </a:rPr>
              <a:t>Hybrid Recommendation Engine</a:t>
            </a:r>
            <a:r>
              <a:rPr lang="en-US" dirty="0">
                <a:latin typeface="Aptos" panose="020B0004020202020204" pitchFamily="34" charset="0"/>
              </a:rPr>
              <a:t> – Matches providers using CF, CBF, and BERT.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i="1" dirty="0">
                <a:latin typeface="Aptos" panose="020B0004020202020204" pitchFamily="34" charset="0"/>
              </a:rPr>
              <a:t>Advantage:</a:t>
            </a:r>
            <a:r>
              <a:rPr lang="en-US" dirty="0">
                <a:latin typeface="Aptos" panose="020B0004020202020204" pitchFamily="34" charset="0"/>
              </a:rPr>
              <a:t> Moves beyond basic filters to understand semantic meaning and user preferences.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latin typeface="Aptos" panose="020B0004020202020204" pitchFamily="34" charset="0"/>
              </a:rPr>
              <a:t>2. Temporal &amp; Contextual Matching</a:t>
            </a:r>
            <a:r>
              <a:rPr lang="en-US" dirty="0">
                <a:latin typeface="Aptos" panose="020B0004020202020204" pitchFamily="34" charset="0"/>
              </a:rPr>
              <a:t> – Considers real-time availability, location, weather, and time.</a:t>
            </a:r>
            <a:br>
              <a:rPr lang="en-US" dirty="0">
                <a:latin typeface="Aptos" panose="020B0004020202020204" pitchFamily="34" charset="0"/>
              </a:rPr>
            </a:br>
            <a:r>
              <a:rPr lang="en-US" i="1" dirty="0">
                <a:latin typeface="Aptos" panose="020B0004020202020204" pitchFamily="34" charset="0"/>
              </a:rPr>
              <a:t>Advantage:</a:t>
            </a:r>
            <a:r>
              <a:rPr lang="en-US" dirty="0">
                <a:latin typeface="Aptos" panose="020B0004020202020204" pitchFamily="34" charset="0"/>
              </a:rPr>
              <a:t> Eliminates "unavailable provider" waste; matches based on real-world context.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18" name="Rectangle: Rounded Corners 117">
            <a:extLst>
              <a:ext uri="{FF2B5EF4-FFF2-40B4-BE49-F238E27FC236}">
                <a16:creationId xmlns:a16="http://schemas.microsoft.com/office/drawing/2014/main" id="{1484F853-9CE2-FB67-DE15-F81578E530FE}"/>
              </a:ext>
            </a:extLst>
          </p:cNvPr>
          <p:cNvSpPr/>
          <p:nvPr/>
        </p:nvSpPr>
        <p:spPr>
          <a:xfrm>
            <a:off x="64322" y="1268454"/>
            <a:ext cx="5264873" cy="3429808"/>
          </a:xfrm>
          <a:prstGeom prst="roundRect">
            <a:avLst/>
          </a:prstGeom>
          <a:noFill/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182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5AE150-045B-E31E-21E0-B7D71DEDA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276703" cy="6781800"/>
          </a:xfrm>
          <a:prstGeom prst="rect">
            <a:avLst/>
          </a:prstGeom>
        </p:spPr>
      </p:pic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A081D626-F422-5C49-9EEB-F3DC23713992}"/>
              </a:ext>
            </a:extLst>
          </p:cNvPr>
          <p:cNvSpPr txBox="1">
            <a:spLocks/>
          </p:cNvSpPr>
          <p:nvPr/>
        </p:nvSpPr>
        <p:spPr>
          <a:xfrm>
            <a:off x="152400" y="228600"/>
            <a:ext cx="4696408" cy="66992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2400" b="1" dirty="0">
                <a:solidFill>
                  <a:schemeClr val="accent1"/>
                </a:solidFill>
                <a:latin typeface="Aptos" panose="020B0004020202020204" pitchFamily="34" charset="0"/>
              </a:rPr>
              <a:t>System Architecture Diagram</a:t>
            </a:r>
            <a:endParaRPr lang="en-US" sz="8000" b="1" dirty="0">
              <a:solidFill>
                <a:schemeClr val="accent1">
                  <a:lumMod val="60000"/>
                  <a:lumOff val="40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Font typeface="Arial" pitchFamily="34" charset="0"/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12234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B1B0-ABD0-CC9F-BEF0-59E88D903B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81847" y="143443"/>
            <a:ext cx="7696200" cy="990601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03. System Video</a:t>
            </a: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3D694F18-C94A-1F5F-59E4-36EF2FB48929}"/>
              </a:ext>
            </a:extLst>
          </p:cNvPr>
          <p:cNvSpPr/>
          <p:nvPr/>
        </p:nvSpPr>
        <p:spPr>
          <a:xfrm rot="5400000">
            <a:off x="-228600" y="187552"/>
            <a:ext cx="1524000" cy="1066800"/>
          </a:xfrm>
          <a:prstGeom prst="triangle">
            <a:avLst>
              <a:gd name="adj" fmla="val 4930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C005620-C04D-3DF0-7EB5-467F12EF4429}"/>
                  </a:ext>
                </a:extLst>
              </p14:cNvPr>
              <p14:cNvContentPartPr/>
              <p14:nvPr/>
            </p14:nvContentPartPr>
            <p14:xfrm>
              <a:off x="3566253" y="2074237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C005620-C04D-3DF0-7EB5-467F12EF44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30613" y="2038237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C24B6335-91BE-BA81-66B4-9115F6A42379}"/>
                  </a:ext>
                </a:extLst>
              </p14:cNvPr>
              <p14:cNvContentPartPr/>
              <p14:nvPr/>
            </p14:nvContentPartPr>
            <p14:xfrm>
              <a:off x="3528863" y="2089500"/>
              <a:ext cx="584640" cy="40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C24B6335-91BE-BA81-66B4-9115F6A4237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92863" y="2053500"/>
                <a:ext cx="656280" cy="11196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6A9BF807-D0A4-E4B2-8925-D6DAD944B38E}"/>
              </a:ext>
            </a:extLst>
          </p:cNvPr>
          <p:cNvSpPr txBox="1"/>
          <p:nvPr/>
        </p:nvSpPr>
        <p:spPr>
          <a:xfrm>
            <a:off x="3528863" y="2001938"/>
            <a:ext cx="5757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latin typeface="Aptos" panose="020B0004020202020204" pitchFamily="34" charset="0"/>
              </a:rPr>
              <a:t>(Letters)</a:t>
            </a:r>
          </a:p>
        </p:txBody>
      </p:sp>
      <p:pic>
        <p:nvPicPr>
          <p:cNvPr id="7" name="Picture 13">
            <a:hlinkClick r:id="" action="ppaction://media"/>
            <a:extLst>
              <a:ext uri="{FF2B5EF4-FFF2-40B4-BE49-F238E27FC236}">
                <a16:creationId xmlns:a16="http://schemas.microsoft.com/office/drawing/2014/main" id="{10562677-F39D-66D1-A3EC-1956AEC9533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rcRect/>
          <a:stretch>
            <a:fillRect/>
          </a:stretch>
        </p:blipFill>
        <p:spPr>
          <a:xfrm>
            <a:off x="1371600" y="1344312"/>
            <a:ext cx="9350770" cy="43769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9BA6070-EEB4-D546-E8B0-7EAFC759182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370" y="1"/>
            <a:ext cx="146963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63060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IT223718236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 err="1">
                <a:solidFill>
                  <a:schemeClr val="tx1"/>
                </a:solidFill>
              </a:rPr>
              <a:t>Hewapathirana</a:t>
            </a:r>
            <a:r>
              <a:rPr lang="en-US" dirty="0">
                <a:solidFill>
                  <a:schemeClr val="tx1"/>
                </a:solidFill>
              </a:rPr>
              <a:t> N.T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F436E5-B08B-E0FB-8660-D4F182665E32}"/>
              </a:ext>
            </a:extLst>
          </p:cNvPr>
          <p:cNvSpPr/>
          <p:nvPr/>
        </p:nvSpPr>
        <p:spPr>
          <a:xfrm>
            <a:off x="9824720" y="0"/>
            <a:ext cx="2362200" cy="2958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3985" y="4278089"/>
            <a:ext cx="10363200" cy="1055911"/>
          </a:xfrm>
        </p:spPr>
        <p:txBody>
          <a:bodyPr/>
          <a:lstStyle/>
          <a:p>
            <a:pPr algn="ctr"/>
            <a:r>
              <a:rPr lang="en-US" sz="1800" kern="1400" spc="-50" dirty="0">
                <a:effectLst/>
                <a:latin typeface="Times New Roman" panose="02020603050405020304" pitchFamily="18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BSc (Hons) Degree in Information Technology (specialization in Information Technology)</a:t>
            </a:r>
            <a:endParaRPr lang="en-US" sz="1800" kern="1400" spc="-50" dirty="0">
              <a:effectLst/>
              <a:latin typeface="Calibri Light" panose="020F0302020204030204" pitchFamily="34" charset="0"/>
              <a:ea typeface="Yu Gothic Light" panose="020B0300000000000000" pitchFamily="34" charset="-128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3094175E-FEA1-64A6-DEEE-132BE26D86CA}"/>
              </a:ext>
            </a:extLst>
          </p:cNvPr>
          <p:cNvSpPr/>
          <p:nvPr/>
        </p:nvSpPr>
        <p:spPr>
          <a:xfrm>
            <a:off x="-21265" y="0"/>
            <a:ext cx="989087" cy="3739285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C676D56-EFEC-214C-9E6F-D98CB9203BF4}"/>
              </a:ext>
            </a:extLst>
          </p:cNvPr>
          <p:cNvSpPr/>
          <p:nvPr/>
        </p:nvSpPr>
        <p:spPr>
          <a:xfrm>
            <a:off x="10881485" y="4921885"/>
            <a:ext cx="929515" cy="89194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1B02048-7C51-176D-EC3C-01F2E4023145}"/>
              </a:ext>
            </a:extLst>
          </p:cNvPr>
          <p:cNvSpPr/>
          <p:nvPr/>
        </p:nvSpPr>
        <p:spPr>
          <a:xfrm>
            <a:off x="10090467" y="5253028"/>
            <a:ext cx="617159" cy="54593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1893DF-1C9B-7374-F676-44D771848ED9}"/>
              </a:ext>
            </a:extLst>
          </p:cNvPr>
          <p:cNvSpPr/>
          <p:nvPr/>
        </p:nvSpPr>
        <p:spPr>
          <a:xfrm>
            <a:off x="10772175" y="5827960"/>
            <a:ext cx="373441" cy="3442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30B6993-1F79-6194-22B5-CEEFBFACA809}"/>
              </a:ext>
            </a:extLst>
          </p:cNvPr>
          <p:cNvSpPr/>
          <p:nvPr/>
        </p:nvSpPr>
        <p:spPr>
          <a:xfrm>
            <a:off x="10564622" y="4907326"/>
            <a:ext cx="207553" cy="20272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D40023-C691-6685-7747-266612AD7A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370" y="1"/>
            <a:ext cx="1469630" cy="1447800"/>
          </a:xfrm>
          <a:prstGeom prst="rect">
            <a:avLst/>
          </a:prstGeom>
        </p:spPr>
      </p:pic>
      <p:sp>
        <p:nvSpPr>
          <p:cNvPr id="2" name="Title 4">
            <a:extLst>
              <a:ext uri="{FF2B5EF4-FFF2-40B4-BE49-F238E27FC236}">
                <a16:creationId xmlns:a16="http://schemas.microsoft.com/office/drawing/2014/main" id="{9F83A78E-DC3B-4D4F-5C0E-19D5E26AD99D}"/>
              </a:ext>
            </a:extLst>
          </p:cNvPr>
          <p:cNvSpPr txBox="1">
            <a:spLocks/>
          </p:cNvSpPr>
          <p:nvPr/>
        </p:nvSpPr>
        <p:spPr>
          <a:xfrm>
            <a:off x="1117103" y="3124200"/>
            <a:ext cx="10363200" cy="8919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ctr"/>
            <a:r>
              <a:rPr lang="en-US" dirty="0"/>
              <a:t>IT22371836 |</a:t>
            </a:r>
            <a:r>
              <a:rPr lang="en-US" dirty="0" err="1"/>
              <a:t>Hewapathirana</a:t>
            </a:r>
            <a:r>
              <a:rPr lang="en-US" dirty="0"/>
              <a:t> </a:t>
            </a:r>
            <a:r>
              <a:rPr lang="en-US" dirty="0" err="1"/>
              <a:t>n.t.</a:t>
            </a:r>
            <a:endParaRPr lang="en-US" dirty="0"/>
          </a:p>
        </p:txBody>
      </p:sp>
      <p:grpSp>
        <p:nvGrpSpPr>
          <p:cNvPr id="13" name="Group 21">
            <a:extLst>
              <a:ext uri="{FF2B5EF4-FFF2-40B4-BE49-F238E27FC236}">
                <a16:creationId xmlns:a16="http://schemas.microsoft.com/office/drawing/2014/main" id="{B94A1AFE-2F9F-384F-8C08-481BC8A62A52}"/>
              </a:ext>
            </a:extLst>
          </p:cNvPr>
          <p:cNvGrpSpPr/>
          <p:nvPr/>
        </p:nvGrpSpPr>
        <p:grpSpPr>
          <a:xfrm>
            <a:off x="5105400" y="685800"/>
            <a:ext cx="1981200" cy="2445900"/>
            <a:chOff x="0" y="0"/>
            <a:chExt cx="3698684" cy="4610862"/>
          </a:xfrm>
        </p:grpSpPr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F641D286-1F9E-C905-FE40-191CF50A565B}"/>
                </a:ext>
              </a:extLst>
            </p:cNvPr>
            <p:cNvSpPr/>
            <p:nvPr/>
          </p:nvSpPr>
          <p:spPr>
            <a:xfrm>
              <a:off x="0" y="0"/>
              <a:ext cx="3698748" cy="4610862"/>
            </a:xfrm>
            <a:custGeom>
              <a:avLst/>
              <a:gdLst/>
              <a:ahLst/>
              <a:cxnLst/>
              <a:rect l="l" t="t" r="r" b="b"/>
              <a:pathLst>
                <a:path w="3698748" h="4610862">
                  <a:moveTo>
                    <a:pt x="0" y="0"/>
                  </a:moveTo>
                  <a:lnTo>
                    <a:pt x="3698748" y="0"/>
                  </a:lnTo>
                  <a:lnTo>
                    <a:pt x="3698748" y="4610862"/>
                  </a:lnTo>
                  <a:lnTo>
                    <a:pt x="0" y="4610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7" r="-65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A0F49735-C976-0600-7725-5C6DFDDB1384}"/>
              </a:ext>
            </a:extLst>
          </p:cNvPr>
          <p:cNvSpPr txBox="1">
            <a:spLocks/>
          </p:cNvSpPr>
          <p:nvPr/>
        </p:nvSpPr>
        <p:spPr>
          <a:xfrm>
            <a:off x="972487" y="3312611"/>
            <a:ext cx="10363200" cy="10559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1"/>
                </a:solidFill>
                <a:latin typeface="Adobe Devanagari"/>
                <a:ea typeface="Cambria Bold"/>
                <a:cs typeface="Cambria Bold"/>
                <a:sym typeface="Cambria Bold"/>
              </a:rPr>
              <a:t>Hybrid – Multialgorithm Recommendation Engine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1409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2DD75A5-8231-C16C-C32C-6E7729E45A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238" y="95835"/>
            <a:ext cx="1248477" cy="1248477"/>
          </a:xfrm>
          <a:prstGeom prst="rect">
            <a:avLst/>
          </a:prstGeom>
        </p:spPr>
      </p:pic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BAB146DE-3675-4B17-44F2-8E48E2F8C227}"/>
              </a:ext>
            </a:extLst>
          </p:cNvPr>
          <p:cNvSpPr/>
          <p:nvPr/>
        </p:nvSpPr>
        <p:spPr>
          <a:xfrm>
            <a:off x="320750" y="457200"/>
            <a:ext cx="685800" cy="762000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937C1E6B-B8DE-C7F2-BFC0-8C929E2BD199}"/>
              </a:ext>
            </a:extLst>
          </p:cNvPr>
          <p:cNvSpPr/>
          <p:nvPr/>
        </p:nvSpPr>
        <p:spPr>
          <a:xfrm>
            <a:off x="895736" y="457200"/>
            <a:ext cx="685800" cy="762000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D116CC-3B08-EC92-73C7-496FE3680A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370" y="1"/>
            <a:ext cx="1469630" cy="1447800"/>
          </a:xfrm>
          <a:prstGeom prst="rect">
            <a:avLst/>
          </a:prstGeom>
        </p:spPr>
      </p:pic>
      <p:sp>
        <p:nvSpPr>
          <p:cNvPr id="15" name="Title 2">
            <a:extLst>
              <a:ext uri="{FF2B5EF4-FFF2-40B4-BE49-F238E27FC236}">
                <a16:creationId xmlns:a16="http://schemas.microsoft.com/office/drawing/2014/main" id="{67811BC9-0B8A-4BE4-D699-4A6679EA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598" y="228600"/>
            <a:ext cx="9220202" cy="1447800"/>
          </a:xfrm>
        </p:spPr>
        <p:txBody>
          <a:bodyPr>
            <a:normAutofit/>
          </a:bodyPr>
          <a:lstStyle/>
          <a:p>
            <a:pPr algn="l"/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Component 01: </a:t>
            </a:r>
            <a:r>
              <a:rPr lang="en-US" sz="2700" b="1" dirty="0">
                <a:solidFill>
                  <a:schemeClr val="accent1"/>
                </a:solidFill>
                <a:latin typeface="Adobe Devanagari"/>
                <a:sym typeface="Cambria Bold"/>
              </a:rPr>
              <a:t>Hybrid-Multialgorithm Recommendation Engine</a:t>
            </a:r>
            <a:r>
              <a:rPr lang="en-US" sz="2700" b="1" dirty="0">
                <a:solidFill>
                  <a:schemeClr val="accent1"/>
                </a:solidFill>
                <a:latin typeface="Adobe Devanagari"/>
                <a:ea typeface="Cambria Bold"/>
                <a:cs typeface="Cambria Bold"/>
                <a:sym typeface="Cambria Bold"/>
              </a:rPr>
              <a:t>.</a:t>
            </a:r>
            <a:br>
              <a:rPr lang="en-US" sz="2700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</a:br>
            <a:endParaRPr lang="en-US" sz="2700" b="1" dirty="0">
              <a:solidFill>
                <a:schemeClr val="accent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BA943AD-A617-C612-4A2F-9997E7A3033E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IT223718236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 err="1">
                <a:solidFill>
                  <a:schemeClr val="tx1"/>
                </a:solidFill>
              </a:rPr>
              <a:t>Hewapathirana</a:t>
            </a:r>
            <a:r>
              <a:rPr lang="en-US" dirty="0">
                <a:solidFill>
                  <a:schemeClr val="tx1"/>
                </a:solidFill>
              </a:rPr>
              <a:t> N.T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22436838-6CE4-9080-00B1-BA3F782F4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76400"/>
            <a:ext cx="6705602" cy="66992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80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ptos" panose="020B0004020202020204" pitchFamily="34" charset="0"/>
              </a:rPr>
              <a:t>The Solution's Approach to Addressing the Sub-Problem</a:t>
            </a:r>
            <a:endParaRPr lang="en-US" sz="8000" b="1" dirty="0">
              <a:solidFill>
                <a:schemeClr val="accent1">
                  <a:lumMod val="60000"/>
                  <a:lumOff val="40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83AD3D68-CD46-4AB9-47C9-6C03636BB9E1}"/>
              </a:ext>
            </a:extLst>
          </p:cNvPr>
          <p:cNvSpPr txBox="1"/>
          <p:nvPr/>
        </p:nvSpPr>
        <p:spPr>
          <a:xfrm>
            <a:off x="33046" y="2049461"/>
            <a:ext cx="12172950" cy="6105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88632" lvl="1" indent="-244316">
              <a:lnSpc>
                <a:spcPts val="3240"/>
              </a:lnSpc>
              <a:buFont typeface="Arial"/>
              <a:buChar char="•"/>
            </a:pPr>
            <a:r>
              <a:rPr lang="en-GB" dirty="0"/>
              <a:t>Developed a Hybrid Recommendation System - Combined multiple ML/DL techniques to improve recommendation accuracy. </a:t>
            </a:r>
          </a:p>
          <a:p>
            <a:pPr marL="488632" lvl="1" indent="-244316">
              <a:lnSpc>
                <a:spcPts val="3240"/>
              </a:lnSpc>
              <a:buFont typeface="Arial"/>
              <a:buChar char="•"/>
            </a:pPr>
            <a:r>
              <a:rPr lang="en-GB" dirty="0"/>
              <a:t>Used TF-IDF for Keyword-Based Matching - Extracts important keywords from user queries and provider descriptions.</a:t>
            </a:r>
            <a:endParaRPr lang="en-US" dirty="0">
              <a:solidFill>
                <a:srgbClr val="000000"/>
              </a:solidFill>
              <a:latin typeface="Aptos" panose="020B0004020202020204" pitchFamily="34" charset="0"/>
              <a:ea typeface="Cambria"/>
              <a:cs typeface="Cambria"/>
              <a:sym typeface="Cambria"/>
            </a:endParaRPr>
          </a:p>
          <a:p>
            <a:pPr marL="488632" lvl="1" indent="-244316">
              <a:lnSpc>
                <a:spcPts val="3240"/>
              </a:lnSpc>
            </a:pPr>
            <a:r>
              <a:rPr lang="en-GB" dirty="0"/>
              <a:t>     Measures textual similarity between user needs and provider services.</a:t>
            </a:r>
          </a:p>
          <a:p>
            <a:pPr marL="530066" lvl="1" indent="-285750">
              <a:lnSpc>
                <a:spcPts val="3240"/>
              </a:lnSpc>
              <a:buFont typeface="Arial" panose="020B0604020202020204" pitchFamily="34" charset="0"/>
              <a:buChar char="•"/>
            </a:pPr>
            <a:r>
              <a:rPr lang="en-GB" dirty="0"/>
              <a:t>Used BERT for Semantic Understanding - Captures contextual meaning of user requests.</a:t>
            </a:r>
          </a:p>
          <a:p>
            <a:pPr marL="530066" lvl="1" indent="-285750">
              <a:lnSpc>
                <a:spcPts val="3240"/>
              </a:lnSpc>
              <a:buFont typeface="Arial" panose="020B0604020202020204" pitchFamily="34" charset="0"/>
              <a:buChar char="•"/>
            </a:pPr>
            <a:r>
              <a:rPr lang="en-GB" dirty="0"/>
              <a:t>Used Collaborative Filtering (CF) - Analyses user interactions, ratings, and booking history.</a:t>
            </a:r>
          </a:p>
          <a:p>
            <a:pPr marL="530066" lvl="1" indent="-285750">
              <a:lnSpc>
                <a:spcPts val="3240"/>
              </a:lnSpc>
              <a:buFont typeface="Arial" panose="020B0604020202020204" pitchFamily="34" charset="0"/>
              <a:buChar char="•"/>
            </a:pPr>
            <a:r>
              <a:rPr lang="en-GB" dirty="0"/>
              <a:t>Provider Credibility Scoring – Using interaction frequency, booking success rate</a:t>
            </a:r>
          </a:p>
          <a:p>
            <a:pPr marL="530066" lvl="1" indent="-285750">
              <a:lnSpc>
                <a:spcPts val="3240"/>
              </a:lnSpc>
              <a:buFont typeface="Arial" panose="020B0604020202020204" pitchFamily="34" charset="0"/>
              <a:buChar char="•"/>
            </a:pPr>
            <a:r>
              <a:rPr lang="en-GB" dirty="0"/>
              <a:t>Hybrid Weighted Scoring Mechanism- Hybrid Score = 0.30 × TF-IDF + 0.35 × BERT + 0.35 × CF</a:t>
            </a:r>
          </a:p>
          <a:p>
            <a:pPr marL="530066" lvl="1" indent="-285750">
              <a:lnSpc>
                <a:spcPts val="3240"/>
              </a:lnSpc>
              <a:buFont typeface="Arial" panose="020B0604020202020204" pitchFamily="34" charset="0"/>
              <a:buChar char="•"/>
            </a:pPr>
            <a:r>
              <a:rPr lang="en-GB" dirty="0"/>
              <a:t>Ranking &amp; Filtering - Ranked providers based on hybrid scores.</a:t>
            </a:r>
          </a:p>
          <a:p>
            <a:pPr marL="530066" lvl="1" indent="-285750">
              <a:lnSpc>
                <a:spcPts val="3240"/>
              </a:lnSpc>
              <a:buFont typeface="Arial" panose="020B0604020202020204" pitchFamily="34" charset="0"/>
              <a:buChar char="•"/>
            </a:pPr>
            <a:r>
              <a:rPr lang="en-GB" dirty="0"/>
              <a:t>Generated Top-20 Recommendations.</a:t>
            </a:r>
            <a:br>
              <a:rPr lang="en-GB" dirty="0"/>
            </a:br>
            <a:br>
              <a:rPr lang="en-GB" dirty="0"/>
            </a:br>
            <a:endParaRPr lang="en-GB" dirty="0"/>
          </a:p>
          <a:p>
            <a:pPr marL="530066" lvl="1" indent="-285750">
              <a:lnSpc>
                <a:spcPts val="3240"/>
              </a:lnSpc>
              <a:buFont typeface="Arial" panose="020B0604020202020204" pitchFamily="34" charset="0"/>
              <a:buChar char="•"/>
            </a:pPr>
            <a:endParaRPr lang="en-GB" dirty="0"/>
          </a:p>
          <a:p>
            <a:pPr marL="530066" lvl="1" indent="-285750">
              <a:lnSpc>
                <a:spcPts val="3240"/>
              </a:lnSpc>
              <a:buFont typeface="Arial" panose="020B0604020202020204" pitchFamily="34" charset="0"/>
              <a:buChar char="•"/>
            </a:pPr>
            <a:endParaRPr lang="en-GB" dirty="0"/>
          </a:p>
          <a:p>
            <a:pPr marL="488632" lvl="1" indent="-244316">
              <a:lnSpc>
                <a:spcPts val="3240"/>
              </a:lnSpc>
            </a:pPr>
            <a:endParaRPr lang="en-US" dirty="0">
              <a:solidFill>
                <a:srgbClr val="000000"/>
              </a:solidFill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899613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AF21F-9701-704B-295A-6A2D08D5C7B9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IT223718236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 err="1">
                <a:solidFill>
                  <a:schemeClr val="tx1"/>
                </a:solidFill>
              </a:rPr>
              <a:t>Hewapathirana</a:t>
            </a:r>
            <a:r>
              <a:rPr lang="en-US" dirty="0">
                <a:solidFill>
                  <a:schemeClr val="tx1"/>
                </a:solidFill>
              </a:rPr>
              <a:t> N.T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B443AF-2C10-EFC0-F5D8-8B60067F76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76200"/>
            <a:ext cx="4419600" cy="6324600"/>
          </a:xfrm>
          <a:prstGeom prst="rect">
            <a:avLst/>
          </a:prstGeom>
        </p:spPr>
      </p:pic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3705EFF-B962-E372-12E5-D92C1C5EDC77}"/>
              </a:ext>
            </a:extLst>
          </p:cNvPr>
          <p:cNvSpPr txBox="1">
            <a:spLocks/>
          </p:cNvSpPr>
          <p:nvPr/>
        </p:nvSpPr>
        <p:spPr>
          <a:xfrm>
            <a:off x="304800" y="304800"/>
            <a:ext cx="6705602" cy="66992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2400" b="1" dirty="0">
                <a:solidFill>
                  <a:schemeClr val="accent1"/>
                </a:solidFill>
                <a:latin typeface="Aptos" panose="020B0004020202020204" pitchFamily="34" charset="0"/>
              </a:rPr>
              <a:t>Flow chart – component 1</a:t>
            </a:r>
            <a:endParaRPr lang="en-US" sz="6600" b="1" dirty="0">
              <a:solidFill>
                <a:schemeClr val="accent1">
                  <a:lumMod val="60000"/>
                  <a:lumOff val="40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Font typeface="Arial" pitchFamily="34" charset="0"/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05836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8C20AC-C3D9-7C83-1B1C-BEC4AEB38A2F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IT223718236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 err="1">
                <a:solidFill>
                  <a:schemeClr val="tx1"/>
                </a:solidFill>
              </a:rPr>
              <a:t>Hewapathirana</a:t>
            </a:r>
            <a:r>
              <a:rPr lang="en-US" dirty="0">
                <a:solidFill>
                  <a:schemeClr val="tx1"/>
                </a:solidFill>
              </a:rPr>
              <a:t> N.T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5663E417-E795-DC94-7CF0-8F79F137351C}"/>
              </a:ext>
            </a:extLst>
          </p:cNvPr>
          <p:cNvSpPr txBox="1">
            <a:spLocks/>
          </p:cNvSpPr>
          <p:nvPr/>
        </p:nvSpPr>
        <p:spPr>
          <a:xfrm>
            <a:off x="228600" y="381000"/>
            <a:ext cx="6705602" cy="66992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endParaRPr lang="en-US" sz="8000" b="1" dirty="0">
              <a:solidFill>
                <a:schemeClr val="accent1">
                  <a:lumMod val="60000"/>
                  <a:lumOff val="40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Font typeface="Arial" pitchFamily="34" charset="0"/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99F39E85-18E9-78B4-322F-A621263AEB5A}"/>
              </a:ext>
            </a:extLst>
          </p:cNvPr>
          <p:cNvSpPr txBox="1">
            <a:spLocks/>
          </p:cNvSpPr>
          <p:nvPr/>
        </p:nvSpPr>
        <p:spPr>
          <a:xfrm>
            <a:off x="228600" y="228601"/>
            <a:ext cx="10134600" cy="45719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900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Achievement Evidence</a:t>
            </a:r>
          </a:p>
          <a:p>
            <a:pPr marL="0" indent="0">
              <a:buFont typeface="Arial" pitchFamily="34" charset="0"/>
              <a:buNone/>
            </a:pPr>
            <a:endParaRPr lang="en-US" sz="600" dirty="0"/>
          </a:p>
          <a:p>
            <a:endParaRPr lang="en-US" sz="600" dirty="0"/>
          </a:p>
          <a:p>
            <a:endParaRPr lang="en-US" sz="600" dirty="0"/>
          </a:p>
          <a:p>
            <a:endParaRPr lang="en-US" sz="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42C4C9-3985-8021-E6C9-7884403D0291}"/>
              </a:ext>
            </a:extLst>
          </p:cNvPr>
          <p:cNvSpPr txBox="1"/>
          <p:nvPr/>
        </p:nvSpPr>
        <p:spPr>
          <a:xfrm>
            <a:off x="228600" y="5797612"/>
            <a:ext cx="6400801" cy="646331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</a:rPr>
              <a:t>Pseudo code for </a:t>
            </a:r>
            <a:r>
              <a:rPr lang="en-US" dirty="0"/>
              <a:t>TF-IDF phase </a:t>
            </a:r>
            <a:r>
              <a:rPr lang="en-US" dirty="0">
                <a:latin typeface="Aptos" panose="020B0004020202020204" pitchFamily="34" charset="0"/>
              </a:rPr>
              <a:t>1-</a:t>
            </a:r>
            <a:r>
              <a:rPr lang="en-GB" dirty="0"/>
              <a:t>Fit (runs once on </a:t>
            </a:r>
            <a:r>
              <a:rPr lang="en-GB" dirty="0" err="1"/>
              <a:t>provider_dataset</a:t>
            </a:r>
            <a:r>
              <a:rPr lang="en-GB" dirty="0"/>
              <a:t>)</a:t>
            </a:r>
            <a:r>
              <a:rPr lang="en-US" dirty="0">
                <a:latin typeface="Aptos" panose="020B0004020202020204" pitchFamily="34" charset="0"/>
              </a:rPr>
              <a:t> </a:t>
            </a:r>
            <a:endParaRPr lang="en-US" b="0" i="0" dirty="0">
              <a:effectLst/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DD3B73-1A66-DD13-0417-2DF0D141B649}"/>
              </a:ext>
            </a:extLst>
          </p:cNvPr>
          <p:cNvSpPr txBox="1"/>
          <p:nvPr/>
        </p:nvSpPr>
        <p:spPr>
          <a:xfrm>
            <a:off x="5562600" y="5329859"/>
            <a:ext cx="8077200" cy="369332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ptos" panose="020B0004020202020204" pitchFamily="34" charset="0"/>
              </a:rPr>
              <a:t> </a:t>
            </a:r>
            <a:r>
              <a:rPr lang="en-GB" dirty="0"/>
              <a:t>Phase 2 — Score (runs at every user search)</a:t>
            </a:r>
            <a:endParaRPr lang="en-US" b="0" i="0" dirty="0">
              <a:effectLst/>
              <a:latin typeface="Aptos" panose="020B00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31A75E-3C40-7633-AF27-BC6593F646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01" y="695326"/>
            <a:ext cx="4724868" cy="508558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C5F94C5-5265-323C-B5E8-AC9630667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4338" y="744538"/>
            <a:ext cx="6897063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804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54B6E67-1D7C-A67B-4D6B-3B2EBC19CBA2}"/>
              </a:ext>
            </a:extLst>
          </p:cNvPr>
          <p:cNvSpPr txBox="1"/>
          <p:nvPr/>
        </p:nvSpPr>
        <p:spPr>
          <a:xfrm>
            <a:off x="6705600" y="5599687"/>
            <a:ext cx="8077200" cy="369332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Pseudo code for CF </a:t>
            </a:r>
            <a:endParaRPr lang="en-US" b="0" i="0" dirty="0">
              <a:effectLst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B0D86C-0139-0E2F-9406-E2F72DABCD4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IT223718236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 err="1">
                <a:solidFill>
                  <a:schemeClr val="tx1"/>
                </a:solidFill>
              </a:rPr>
              <a:t>Hewapathirana</a:t>
            </a:r>
            <a:r>
              <a:rPr lang="en-US" dirty="0">
                <a:solidFill>
                  <a:schemeClr val="tx1"/>
                </a:solidFill>
              </a:rPr>
              <a:t> N.T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FF496F-DCE8-E17A-AB1E-1005FF0AD6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370" y="1"/>
            <a:ext cx="1469630" cy="1447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39AE81-87D6-3483-D245-E510CC091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1165"/>
            <a:ext cx="4648200" cy="5334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9A2A00-49E4-36E1-B134-801A2101D4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11165"/>
            <a:ext cx="5486921" cy="5334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26671DF-4E70-821C-D5AC-9E213929834A}"/>
              </a:ext>
            </a:extLst>
          </p:cNvPr>
          <p:cNvSpPr txBox="1"/>
          <p:nvPr/>
        </p:nvSpPr>
        <p:spPr>
          <a:xfrm>
            <a:off x="990600" y="5599687"/>
            <a:ext cx="4724921" cy="369332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Flow chart for BERT </a:t>
            </a:r>
            <a:endParaRPr lang="en-US" b="0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35201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3AA5B5-9ED6-BCC9-51AA-4DF0DF9B98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9200"/>
            <a:ext cx="12192000" cy="36228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ED5A3E-4EB5-D858-F64D-062802A436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370" y="1"/>
            <a:ext cx="1469630" cy="1447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CCE903-012D-F3DD-239D-0C7DB65B777A}"/>
              </a:ext>
            </a:extLst>
          </p:cNvPr>
          <p:cNvSpPr txBox="1"/>
          <p:nvPr/>
        </p:nvSpPr>
        <p:spPr>
          <a:xfrm>
            <a:off x="2590800" y="5029200"/>
            <a:ext cx="7620000" cy="369332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ptos" panose="020B0004020202020204" pitchFamily="34" charset="0"/>
              </a:rPr>
              <a:t> </a:t>
            </a:r>
            <a:r>
              <a:rPr lang="en-US" dirty="0">
                <a:latin typeface="Aptos" panose="020B0004020202020204" pitchFamily="34" charset="0"/>
              </a:rPr>
              <a:t>Evaluation </a:t>
            </a:r>
            <a:r>
              <a:rPr lang="en-US" dirty="0" err="1">
                <a:latin typeface="Aptos" panose="020B0004020202020204" pitchFamily="34" charset="0"/>
              </a:rPr>
              <a:t>Precision@K</a:t>
            </a:r>
            <a:r>
              <a:rPr lang="en-US" dirty="0">
                <a:latin typeface="Aptos" panose="020B0004020202020204" pitchFamily="34" charset="0"/>
              </a:rPr>
              <a:t>,  </a:t>
            </a:r>
            <a:r>
              <a:rPr lang="en-US" dirty="0" err="1">
                <a:latin typeface="Aptos" panose="020B0004020202020204" pitchFamily="34" charset="0"/>
              </a:rPr>
              <a:t>Recall@K</a:t>
            </a:r>
            <a:r>
              <a:rPr lang="en-US" dirty="0">
                <a:latin typeface="Aptos" panose="020B0004020202020204" pitchFamily="34" charset="0"/>
              </a:rPr>
              <a:t> and NDCG@K for all methods   </a:t>
            </a:r>
            <a:endParaRPr lang="en-US" b="0" i="0" dirty="0"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8475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F4A55E9-8C38-EB7E-755E-4D894C722CA2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IT223718236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 err="1">
                <a:solidFill>
                  <a:schemeClr val="tx1"/>
                </a:solidFill>
              </a:rPr>
              <a:t>Hewapathirana</a:t>
            </a:r>
            <a:r>
              <a:rPr lang="en-US" dirty="0">
                <a:solidFill>
                  <a:schemeClr val="tx1"/>
                </a:solidFill>
              </a:rPr>
              <a:t> N.T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B0FE50-0759-AEA3-0BA7-4CCE63821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28600"/>
            <a:ext cx="8686800" cy="5715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78F2E71-ABA2-6F78-15F2-ACDB53E54F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370" y="1"/>
            <a:ext cx="146963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23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85A6E3-A669-6484-5CA2-6BAA30685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04800"/>
            <a:ext cx="11049000" cy="551574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DA57DC1-4FCD-98F0-1355-975A7FE88564}"/>
              </a:ext>
            </a:extLst>
          </p:cNvPr>
          <p:cNvSpPr/>
          <p:nvPr/>
        </p:nvSpPr>
        <p:spPr>
          <a:xfrm>
            <a:off x="2687817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IT223718236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 err="1">
                <a:solidFill>
                  <a:schemeClr val="tx1"/>
                </a:solidFill>
              </a:rPr>
              <a:t>Hewapathirana</a:t>
            </a:r>
            <a:r>
              <a:rPr lang="en-US" dirty="0">
                <a:solidFill>
                  <a:schemeClr val="tx1"/>
                </a:solidFill>
              </a:rPr>
              <a:t> N.T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973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14DA07-6128-C782-226B-5B4E402105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370" y="1"/>
            <a:ext cx="1469630" cy="1447800"/>
          </a:xfrm>
          <a:prstGeom prst="rect">
            <a:avLst/>
          </a:prstGeom>
        </p:spPr>
      </p:pic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2B0FCC99-2E68-C46B-B71E-632A3ED9D2A3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6705602" cy="66992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2000" b="1" dirty="0">
                <a:solidFill>
                  <a:schemeClr val="accent1"/>
                </a:solidFill>
                <a:latin typeface="Aptos" panose="020B0004020202020204" pitchFamily="34" charset="0"/>
              </a:rPr>
              <a:t>Current Implementation Status</a:t>
            </a:r>
            <a:endParaRPr lang="en-US" sz="8000" b="1" dirty="0">
              <a:solidFill>
                <a:schemeClr val="accent1">
                  <a:lumMod val="60000"/>
                  <a:lumOff val="40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Font typeface="Arial" pitchFamily="34" charset="0"/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078EF6-5865-EEF9-2CA8-5371B2E6883B}"/>
              </a:ext>
            </a:extLst>
          </p:cNvPr>
          <p:cNvSpPr txBox="1"/>
          <p:nvPr/>
        </p:nvSpPr>
        <p:spPr>
          <a:xfrm>
            <a:off x="228600" y="828547"/>
            <a:ext cx="9829800" cy="1754326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ptos" panose="020B0004020202020204" pitchFamily="34" charset="0"/>
              </a:rPr>
              <a:t> </a:t>
            </a:r>
            <a:r>
              <a:rPr lang="en-GB" b="1" dirty="0"/>
              <a:t>Backend:</a:t>
            </a:r>
            <a:r>
              <a:rPr lang="en-GB" dirty="0"/>
              <a:t> Ranking algorithms (BERT, CF, TF-IDF)  implemented.</a:t>
            </a:r>
            <a:endParaRPr lang="en-US" b="0" i="0" dirty="0">
              <a:effectLst/>
              <a:latin typeface="Aptos" panose="020B0004020202020204" pitchFamily="34" charset="0"/>
            </a:endParaRPr>
          </a:p>
          <a:p>
            <a:endParaRPr lang="en-US" b="0" i="0" dirty="0">
              <a:effectLst/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Data:</a:t>
            </a:r>
            <a:r>
              <a:rPr lang="en-GB" dirty="0"/>
              <a:t> Pre-processing and Vectorization of 100k+ &amp; 120k+ records completed.</a:t>
            </a:r>
          </a:p>
          <a:p>
            <a:pPr>
              <a:buFont typeface="Arial" panose="020B0604020202020204" pitchFamily="34" charset="0"/>
              <a:buChar char="•"/>
            </a:pPr>
            <a:endParaRPr lang="en-GB" b="0" i="0" dirty="0">
              <a:effectLst/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Frontend:</a:t>
            </a:r>
            <a:r>
              <a:rPr lang="en-GB" dirty="0"/>
              <a:t> Basic Auth (Login/Signup) finished.</a:t>
            </a:r>
            <a:endParaRPr lang="en-US" b="0" i="0" dirty="0">
              <a:effectLst/>
              <a:latin typeface="Aptos" panose="020B00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788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IT22190048</a:t>
            </a:r>
            <a:r>
              <a:rPr lang="en-US" sz="1800" dirty="0">
                <a:solidFill>
                  <a:schemeClr val="tx1"/>
                </a:solidFill>
              </a:rPr>
              <a:t>   |   Masakorala A.H.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F436E5-B08B-E0FB-8660-D4F182665E32}"/>
              </a:ext>
            </a:extLst>
          </p:cNvPr>
          <p:cNvSpPr/>
          <p:nvPr/>
        </p:nvSpPr>
        <p:spPr>
          <a:xfrm>
            <a:off x="9824720" y="0"/>
            <a:ext cx="2362200" cy="2958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03" y="2971800"/>
            <a:ext cx="10363200" cy="891950"/>
          </a:xfrm>
        </p:spPr>
        <p:txBody>
          <a:bodyPr/>
          <a:lstStyle/>
          <a:p>
            <a:pPr algn="ctr"/>
            <a:r>
              <a:rPr lang="en-US" dirty="0"/>
              <a:t>IT22190048 | Masakorala A.H.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3985" y="4278089"/>
            <a:ext cx="10363200" cy="1055911"/>
          </a:xfrm>
        </p:spPr>
        <p:txBody>
          <a:bodyPr/>
          <a:lstStyle/>
          <a:p>
            <a:pPr algn="ctr"/>
            <a:r>
              <a:rPr lang="en-US" sz="1800" kern="1400" spc="-50" dirty="0">
                <a:effectLst/>
                <a:latin typeface="Times New Roman" panose="02020603050405020304" pitchFamily="18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BSc (Hons) Degree in Information Technology (specialization in Information Technology)</a:t>
            </a:r>
            <a:endParaRPr lang="en-US" sz="1800" kern="1400" spc="-50" dirty="0">
              <a:effectLst/>
              <a:latin typeface="Calibri Light" panose="020F0302020204030204" pitchFamily="34" charset="0"/>
              <a:ea typeface="Yu Gothic Light" panose="020B0300000000000000" pitchFamily="34" charset="-128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3094175E-FEA1-64A6-DEEE-132BE26D86CA}"/>
              </a:ext>
            </a:extLst>
          </p:cNvPr>
          <p:cNvSpPr/>
          <p:nvPr/>
        </p:nvSpPr>
        <p:spPr>
          <a:xfrm>
            <a:off x="-21265" y="0"/>
            <a:ext cx="989087" cy="3739285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C676D56-EFEC-214C-9E6F-D98CB9203BF4}"/>
              </a:ext>
            </a:extLst>
          </p:cNvPr>
          <p:cNvSpPr/>
          <p:nvPr/>
        </p:nvSpPr>
        <p:spPr>
          <a:xfrm>
            <a:off x="10881485" y="4921885"/>
            <a:ext cx="929515" cy="89194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1B02048-7C51-176D-EC3C-01F2E4023145}"/>
              </a:ext>
            </a:extLst>
          </p:cNvPr>
          <p:cNvSpPr/>
          <p:nvPr/>
        </p:nvSpPr>
        <p:spPr>
          <a:xfrm>
            <a:off x="10090467" y="5253028"/>
            <a:ext cx="617159" cy="54593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1893DF-1C9B-7374-F676-44D771848ED9}"/>
              </a:ext>
            </a:extLst>
          </p:cNvPr>
          <p:cNvSpPr/>
          <p:nvPr/>
        </p:nvSpPr>
        <p:spPr>
          <a:xfrm>
            <a:off x="10772175" y="5827960"/>
            <a:ext cx="373441" cy="3442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30B6993-1F79-6194-22B5-CEEFBFACA809}"/>
              </a:ext>
            </a:extLst>
          </p:cNvPr>
          <p:cNvSpPr/>
          <p:nvPr/>
        </p:nvSpPr>
        <p:spPr>
          <a:xfrm>
            <a:off x="10564622" y="4907326"/>
            <a:ext cx="207553" cy="20272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D40023-C691-6685-7747-266612AD7A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370" y="1"/>
            <a:ext cx="1469630" cy="1447800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36AF3C6-08AB-0296-C30E-D8A2D25080A7}"/>
              </a:ext>
            </a:extLst>
          </p:cNvPr>
          <p:cNvSpPr txBox="1">
            <a:spLocks/>
          </p:cNvSpPr>
          <p:nvPr/>
        </p:nvSpPr>
        <p:spPr>
          <a:xfrm>
            <a:off x="1093985" y="3439889"/>
            <a:ext cx="10363200" cy="10559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 dirty="0">
                <a:solidFill>
                  <a:schemeClr val="accent1"/>
                </a:solidFill>
                <a:latin typeface="Adobe Devanagari"/>
                <a:ea typeface="Cambria Bold"/>
                <a:cs typeface="Cambria Bold"/>
                <a:sym typeface="Cambria Bold"/>
              </a:rPr>
              <a:t>Temporal and Contextual Matching System for Service Provider Recommendations(Availability, Location, Weather, and Time Factors).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B0A408-1C91-565F-9512-7D762A3957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917" y="777661"/>
            <a:ext cx="1922283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6642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D9F080-0780-4554-8055-A289E0D4EDA8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IT22190048</a:t>
            </a:r>
            <a:r>
              <a:rPr lang="en-US" sz="1800" dirty="0">
                <a:solidFill>
                  <a:schemeClr val="tx1"/>
                </a:solidFill>
              </a:rPr>
              <a:t>   |   Masakorala A</a:t>
            </a:r>
            <a:r>
              <a:rPr lang="en-US" dirty="0">
                <a:solidFill>
                  <a:schemeClr val="tx1"/>
                </a:solidFill>
              </a:rPr>
              <a:t>.H.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DA210F-8948-EF8B-4488-6E4911E2F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598" y="228600"/>
            <a:ext cx="9220202" cy="1752600"/>
          </a:xfrm>
        </p:spPr>
        <p:txBody>
          <a:bodyPr>
            <a:normAutofit/>
          </a:bodyPr>
          <a:lstStyle/>
          <a:p>
            <a:pPr algn="l"/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Component 02: </a:t>
            </a:r>
            <a:r>
              <a:rPr lang="en-US" sz="2700" b="1" dirty="0">
                <a:solidFill>
                  <a:schemeClr val="accent1"/>
                </a:solidFill>
                <a:latin typeface="Adobe Devanagari"/>
                <a:ea typeface="Cambria Bold"/>
                <a:cs typeface="Cambria Bold"/>
                <a:sym typeface="Cambria Bold"/>
              </a:rPr>
              <a:t>Temporal and Contextual Matching System for Service Provider Recommendations(Availability, Location, Weather, and Time Factors).</a:t>
            </a:r>
            <a:br>
              <a:rPr lang="en-US" sz="2700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</a:br>
            <a:endParaRPr lang="en-US" sz="2700" b="1" dirty="0">
              <a:solidFill>
                <a:schemeClr val="accent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0A1382-771C-B2F7-C433-872A3A4A3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752600"/>
            <a:ext cx="6705602" cy="66992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80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ptos" panose="020B0004020202020204" pitchFamily="34" charset="0"/>
              </a:rPr>
              <a:t>The Solution's Approach to Addressing the Sub-Problem</a:t>
            </a:r>
            <a:endParaRPr lang="en-US" sz="8000" b="1" dirty="0">
              <a:solidFill>
                <a:schemeClr val="accent1">
                  <a:lumMod val="60000"/>
                  <a:lumOff val="40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6" name="Picture 5" descr="A group of pencils with different colors&#10;&#10;Description automatically generated">
            <a:extLst>
              <a:ext uri="{FF2B5EF4-FFF2-40B4-BE49-F238E27FC236}">
                <a16:creationId xmlns:a16="http://schemas.microsoft.com/office/drawing/2014/main" id="{DD7A3603-9B44-9C42-2E01-5E30491CB2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1448" y="1918955"/>
            <a:ext cx="1752600" cy="1752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DD75A5-8231-C16C-C32C-6E7729E45A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238" y="95835"/>
            <a:ext cx="1248477" cy="1248477"/>
          </a:xfrm>
          <a:prstGeom prst="rect">
            <a:avLst/>
          </a:prstGeom>
        </p:spPr>
      </p:pic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BAB146DE-3675-4B17-44F2-8E48E2F8C227}"/>
              </a:ext>
            </a:extLst>
          </p:cNvPr>
          <p:cNvSpPr/>
          <p:nvPr/>
        </p:nvSpPr>
        <p:spPr>
          <a:xfrm>
            <a:off x="320750" y="457200"/>
            <a:ext cx="685800" cy="762000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937C1E6B-B8DE-C7F2-BFC0-8C929E2BD199}"/>
              </a:ext>
            </a:extLst>
          </p:cNvPr>
          <p:cNvSpPr/>
          <p:nvPr/>
        </p:nvSpPr>
        <p:spPr>
          <a:xfrm>
            <a:off x="895736" y="457200"/>
            <a:ext cx="685800" cy="762000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D116CC-3B08-EC92-73C7-496FE3680A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370" y="1"/>
            <a:ext cx="1469630" cy="14478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FCEEF6F-A98A-4513-54A2-C1B8CA1DF256}"/>
              </a:ext>
            </a:extLst>
          </p:cNvPr>
          <p:cNvSpPr txBox="1"/>
          <p:nvPr/>
        </p:nvSpPr>
        <p:spPr>
          <a:xfrm>
            <a:off x="762000" y="2282814"/>
            <a:ext cx="6816364" cy="1477328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ptos" panose="020B0004020202020204" pitchFamily="34" charset="0"/>
              </a:rPr>
              <a:t> Live map lets users click to select location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ptos" panose="020B0004020202020204" pitchFamily="34" charset="0"/>
              </a:rPr>
              <a:t> Weather forecast shown for outdoor jobs (temperature, rain, wind)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ptos" panose="020B0004020202020204" pitchFamily="34" charset="0"/>
              </a:rPr>
              <a:t> Providers sorted by distance, availability, and working hours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ptos" panose="020B0004020202020204" pitchFamily="34" charset="0"/>
              </a:rPr>
              <a:t> Urgency levels (low/normal/high) affect matching priority</a:t>
            </a: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47949367-2281-BA1F-BAE7-1A430FCDCC41}"/>
              </a:ext>
            </a:extLst>
          </p:cNvPr>
          <p:cNvSpPr txBox="1">
            <a:spLocks/>
          </p:cNvSpPr>
          <p:nvPr/>
        </p:nvSpPr>
        <p:spPr>
          <a:xfrm>
            <a:off x="3098409" y="4044005"/>
            <a:ext cx="6705602" cy="669927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8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The Solution's Approach to Addressing the Sub-Problem</a:t>
            </a:r>
          </a:p>
          <a:p>
            <a:pPr marL="0" indent="0">
              <a:buFont typeface="Arial" pitchFamily="34" charset="0"/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249D11-4B4C-6260-A7DA-B769A14D93A4}"/>
              </a:ext>
            </a:extLst>
          </p:cNvPr>
          <p:cNvSpPr txBox="1"/>
          <p:nvPr/>
        </p:nvSpPr>
        <p:spPr>
          <a:xfrm>
            <a:off x="3581400" y="4401630"/>
            <a:ext cx="7620000" cy="2031325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ptos" panose="020B0004020202020204" pitchFamily="34" charset="0"/>
              </a:rPr>
              <a:t> Users pick service type, issue, date, time, urgency, and indoor/outdoor from simple dropdowns and checkboxes.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ptos" panose="020B0004020202020204" pitchFamily="34" charset="0"/>
              </a:rPr>
              <a:t>Users set location by typing or clicking on the map.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ptos" panose="020B0004020202020204" pitchFamily="34" charset="0"/>
              </a:rPr>
              <a:t>After submitting, the system shows matched providers with name, distance, address, hours, and working days.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ptos" panose="020B0004020202020204" pitchFamily="34" charset="0"/>
              </a:rPr>
              <a:t>For outdoor jobs, a weather card shows temperature, rain chance, and wind speed.</a:t>
            </a:r>
          </a:p>
        </p:txBody>
      </p:sp>
    </p:spTree>
    <p:extLst>
      <p:ext uri="{BB962C8B-B14F-4D97-AF65-F5344CB8AC3E}">
        <p14:creationId xmlns:p14="http://schemas.microsoft.com/office/powerpoint/2010/main" val="2559251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D9F080-0780-4554-8055-A289E0D4EDA8}"/>
              </a:ext>
            </a:extLst>
          </p:cNvPr>
          <p:cNvSpPr/>
          <p:nvPr/>
        </p:nvSpPr>
        <p:spPr>
          <a:xfrm>
            <a:off x="2577350" y="6479138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IT22190048</a:t>
            </a:r>
            <a:r>
              <a:rPr lang="en-US" sz="1800" dirty="0">
                <a:solidFill>
                  <a:schemeClr val="tx1"/>
                </a:solidFill>
              </a:rPr>
              <a:t>   |   Masakorala A.H.</a:t>
            </a:r>
            <a:r>
              <a:rPr lang="en-US" sz="1800" b="1" dirty="0">
                <a:solidFill>
                  <a:schemeClr val="tx1"/>
                </a:solidFill>
              </a:rPr>
              <a:t> 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cs typeface="Arial" panose="020B0604020202020204" pitchFamily="34" charset="0"/>
              </a:rPr>
              <a:t>RP26-</a:t>
            </a:r>
            <a:r>
              <a:rPr lang="en-US" dirty="0">
                <a:solidFill>
                  <a:schemeClr val="tx1"/>
                </a:solidFill>
                <a:latin typeface="Century Gothic (Headings)"/>
                <a:cs typeface="Arial" panose="020B0604020202020204" pitchFamily="34" charset="0"/>
              </a:rPr>
              <a:t>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10" name="Title 2">
            <a:extLst>
              <a:ext uri="{FF2B5EF4-FFF2-40B4-BE49-F238E27FC236}">
                <a16:creationId xmlns:a16="http://schemas.microsoft.com/office/drawing/2014/main" id="{2D1988DC-455D-0F55-F755-D2AFCFAF2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435" y="49405"/>
            <a:ext cx="9587166" cy="1752600"/>
          </a:xfrm>
        </p:spPr>
        <p:txBody>
          <a:bodyPr>
            <a:normAutofit/>
          </a:bodyPr>
          <a:lstStyle/>
          <a:p>
            <a:pPr algn="l"/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Component 02: </a:t>
            </a:r>
            <a:r>
              <a:rPr lang="en-US" sz="2700" b="1" dirty="0">
                <a:solidFill>
                  <a:schemeClr val="accent1"/>
                </a:solidFill>
                <a:latin typeface="Adobe Devanagari"/>
                <a:ea typeface="Cambria Bold"/>
                <a:cs typeface="Cambria Bold"/>
                <a:sym typeface="Cambria Bold"/>
              </a:rPr>
              <a:t>Temporal and Contextual Matching System for Service Provider Recommendations(Availability, Location, Weather, and Time Factors).</a:t>
            </a:r>
            <a:br>
              <a:rPr lang="en-US" sz="2700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</a:br>
            <a:endParaRPr lang="en-US" sz="2700" b="1" dirty="0">
              <a:solidFill>
                <a:schemeClr val="accent1"/>
              </a:solidFill>
            </a:endParaRP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D2E2F866-C063-4B49-D63B-602153980246}"/>
              </a:ext>
            </a:extLst>
          </p:cNvPr>
          <p:cNvSpPr/>
          <p:nvPr/>
        </p:nvSpPr>
        <p:spPr>
          <a:xfrm rot="5400000">
            <a:off x="-246163" y="246164"/>
            <a:ext cx="1332540" cy="840214"/>
          </a:xfrm>
          <a:prstGeom prst="triangle">
            <a:avLst>
              <a:gd name="adj" fmla="val 49302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7A51CB4-3FEA-2F8C-C385-F828C044A1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370" y="1"/>
            <a:ext cx="1469630" cy="1447800"/>
          </a:xfrm>
          <a:prstGeom prst="rect">
            <a:avLst/>
          </a:prstGeom>
        </p:spPr>
      </p:pic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84B913-7A49-0324-0F6E-20E517219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031" y="1784178"/>
            <a:ext cx="6705602" cy="66992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Aptos" panose="020B0004020202020204" pitchFamily="34" charset="0"/>
              </a:rPr>
              <a:t>Design Excellence/Contribution</a:t>
            </a:r>
            <a:br>
              <a:rPr lang="en-US" sz="2000" b="1" dirty="0">
                <a:solidFill>
                  <a:schemeClr val="accent2"/>
                </a:solidFill>
                <a:latin typeface="Aptos" panose="020B0004020202020204" pitchFamily="34" charset="0"/>
              </a:rPr>
            </a:br>
            <a:br>
              <a:rPr lang="en-US" sz="2000" b="1" dirty="0">
                <a:solidFill>
                  <a:schemeClr val="accent2"/>
                </a:solidFill>
                <a:latin typeface="Aptos" panose="020B0004020202020204" pitchFamily="34" charset="0"/>
              </a:rPr>
            </a:br>
            <a:r>
              <a:rPr lang="en-US" sz="2000" b="1" dirty="0">
                <a:solidFill>
                  <a:schemeClr val="accent2"/>
                </a:solidFill>
                <a:latin typeface="Aptos" panose="020B0004020202020204" pitchFamily="34" charset="0"/>
              </a:rPr>
              <a:t>                               </a:t>
            </a:r>
            <a:r>
              <a:rPr lang="en-US" sz="2000" b="1" dirty="0">
                <a:solidFill>
                  <a:schemeClr val="accent2"/>
                </a:solidFill>
                <a:effectLst/>
                <a:latin typeface="quote-cjk-patch"/>
              </a:rPr>
              <a:t>UI Design Highlights</a:t>
            </a:r>
          </a:p>
          <a:p>
            <a:pPr marL="0" indent="0">
              <a:buNone/>
            </a:pPr>
            <a:endParaRPr lang="en-US" sz="2000" b="1" dirty="0">
              <a:solidFill>
                <a:schemeClr val="accent2"/>
              </a:solidFill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142A3D-E736-3F98-3C70-26A66A0684B8}"/>
              </a:ext>
            </a:extLst>
          </p:cNvPr>
          <p:cNvSpPr txBox="1"/>
          <p:nvPr/>
        </p:nvSpPr>
        <p:spPr>
          <a:xfrm>
            <a:off x="2743200" y="2740070"/>
            <a:ext cx="7620000" cy="2787751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ptos" panose="020B0004020202020204" pitchFamily="34" charset="0"/>
              </a:rPr>
              <a:t> Large Map (500px) - Easy location selection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ptos" panose="020B0004020202020204" pitchFamily="34" charset="0"/>
              </a:rPr>
              <a:t>Show/Hide Map Toggle - Saves screen space after location selection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ptos" panose="020B0004020202020204" pitchFamily="34" charset="0"/>
              </a:rPr>
              <a:t>Emerald Green Theme - Professional, trustworthy appearance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ptos" panose="020B0004020202020204" pitchFamily="34" charset="0"/>
              </a:rPr>
              <a:t>Weather Card (gradient) - Outdoor users see forecast before booking</a:t>
            </a:r>
          </a:p>
          <a:p>
            <a:pPr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Aptos" panose="020B0004020202020204" pitchFamily="34" charset="0"/>
              </a:rPr>
              <a:t>"Nearest" Badge - Helps users choose closest provider</a:t>
            </a:r>
          </a:p>
        </p:txBody>
      </p:sp>
    </p:spTree>
    <p:extLst>
      <p:ext uri="{BB962C8B-B14F-4D97-AF65-F5344CB8AC3E}">
        <p14:creationId xmlns:p14="http://schemas.microsoft.com/office/powerpoint/2010/main" val="36584985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C6CBF-7A36-063A-3B48-B13C3AAB8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527957F-715F-82AF-1345-E6CADAB6F1A4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IT22117182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ROOPASINGHE EMNS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49A6B7-9D34-0D1A-B965-C4B87F807A39}"/>
              </a:ext>
            </a:extLst>
          </p:cNvPr>
          <p:cNvSpPr/>
          <p:nvPr/>
        </p:nvSpPr>
        <p:spPr>
          <a:xfrm>
            <a:off x="9824720" y="0"/>
            <a:ext cx="2362200" cy="2958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C7057F5-666C-0813-90B8-16D37C9B7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03" y="2971800"/>
            <a:ext cx="10363200" cy="891950"/>
          </a:xfrm>
        </p:spPr>
        <p:txBody>
          <a:bodyPr/>
          <a:lstStyle/>
          <a:p>
            <a:pPr algn="ctr"/>
            <a:r>
              <a:rPr lang="en-US" dirty="0"/>
              <a:t>IT22117182 | ROOPASINGHE EMNS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537F77-4754-4466-3B80-8432E9D2B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3985" y="4278089"/>
            <a:ext cx="10363200" cy="1055911"/>
          </a:xfrm>
        </p:spPr>
        <p:txBody>
          <a:bodyPr/>
          <a:lstStyle/>
          <a:p>
            <a:pPr algn="ctr"/>
            <a:r>
              <a:rPr lang="en-US" sz="1800" kern="1400" spc="-50" dirty="0">
                <a:effectLst/>
                <a:latin typeface="Times New Roman" panose="02020603050405020304" pitchFamily="18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BSc (Hons) Degree in Information Technology (specialization in Information Technology)</a:t>
            </a:r>
            <a:endParaRPr lang="en-US" sz="1800" kern="1400" spc="-50" dirty="0">
              <a:effectLst/>
              <a:latin typeface="Calibri Light" panose="020F0302020204030204" pitchFamily="34" charset="0"/>
              <a:ea typeface="Yu Gothic Light" panose="020B0300000000000000" pitchFamily="34" charset="-128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62CC1A84-870E-AA70-2021-877117435626}"/>
              </a:ext>
            </a:extLst>
          </p:cNvPr>
          <p:cNvSpPr/>
          <p:nvPr/>
        </p:nvSpPr>
        <p:spPr>
          <a:xfrm>
            <a:off x="-21265" y="0"/>
            <a:ext cx="989087" cy="3739285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5314DFE-6C45-7FD3-8FB3-6911354481DF}"/>
              </a:ext>
            </a:extLst>
          </p:cNvPr>
          <p:cNvSpPr/>
          <p:nvPr/>
        </p:nvSpPr>
        <p:spPr>
          <a:xfrm>
            <a:off x="10881485" y="4921885"/>
            <a:ext cx="929515" cy="89194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7033F26-640A-6B5A-5CF6-94656EA31AFF}"/>
              </a:ext>
            </a:extLst>
          </p:cNvPr>
          <p:cNvSpPr/>
          <p:nvPr/>
        </p:nvSpPr>
        <p:spPr>
          <a:xfrm>
            <a:off x="10090467" y="5253028"/>
            <a:ext cx="617159" cy="54593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2D04B2C-4393-1B47-3087-F2165635F15A}"/>
              </a:ext>
            </a:extLst>
          </p:cNvPr>
          <p:cNvSpPr/>
          <p:nvPr/>
        </p:nvSpPr>
        <p:spPr>
          <a:xfrm>
            <a:off x="10772175" y="5827960"/>
            <a:ext cx="373441" cy="3442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33F6EC5-8CBF-3EEE-2A6D-E7D217D826EA}"/>
              </a:ext>
            </a:extLst>
          </p:cNvPr>
          <p:cNvSpPr/>
          <p:nvPr/>
        </p:nvSpPr>
        <p:spPr>
          <a:xfrm>
            <a:off x="10564622" y="4907326"/>
            <a:ext cx="207553" cy="20272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51C859-EED5-F2BB-5B48-BFA1B72061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370" y="1"/>
            <a:ext cx="1469630" cy="1447800"/>
          </a:xfrm>
          <a:prstGeom prst="rect">
            <a:avLst/>
          </a:prstGeom>
        </p:spPr>
      </p:pic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04A6161A-DA15-6C42-36A1-C3AE540B0416}"/>
              </a:ext>
            </a:extLst>
          </p:cNvPr>
          <p:cNvSpPr txBox="1">
            <a:spLocks/>
          </p:cNvSpPr>
          <p:nvPr/>
        </p:nvSpPr>
        <p:spPr>
          <a:xfrm>
            <a:off x="1093985" y="3439889"/>
            <a:ext cx="10363200" cy="10559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Dynamic Skill Verification &amp; Provider Credibility Scoring Model</a:t>
            </a:r>
          </a:p>
        </p:txBody>
      </p:sp>
    </p:spTree>
    <p:extLst>
      <p:ext uri="{BB962C8B-B14F-4D97-AF65-F5344CB8AC3E}">
        <p14:creationId xmlns:p14="http://schemas.microsoft.com/office/powerpoint/2010/main" val="4124800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D9F080-0780-4554-8055-A289E0D4EDA8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DA210F-8948-EF8B-4488-6E4911E2F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598" y="228600"/>
            <a:ext cx="9220202" cy="1752600"/>
          </a:xfrm>
        </p:spPr>
        <p:txBody>
          <a:bodyPr>
            <a:normAutofit fontScale="90000"/>
          </a:bodyPr>
          <a:lstStyle/>
          <a:p>
            <a:pPr algn="l"/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Component 03: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Dynamic Skill Verification &amp; Provider Credibility Scoring Model</a:t>
            </a:r>
            <a:br>
              <a:rPr lang="en-US" sz="2700" b="1" dirty="0">
                <a:solidFill>
                  <a:schemeClr val="accent1"/>
                </a:solidFill>
              </a:rPr>
            </a:br>
            <a:br>
              <a:rPr lang="en-US" sz="2700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</a:br>
            <a:endParaRPr lang="en-US" sz="2700" b="1" dirty="0">
              <a:solidFill>
                <a:schemeClr val="accent1"/>
              </a:solidFill>
            </a:endParaRPr>
          </a:p>
        </p:txBody>
      </p:sp>
      <p:pic>
        <p:nvPicPr>
          <p:cNvPr id="6" name="Picture 5" descr="A group of pencils with different colors&#10;&#10;Description automatically generated">
            <a:extLst>
              <a:ext uri="{FF2B5EF4-FFF2-40B4-BE49-F238E27FC236}">
                <a16:creationId xmlns:a16="http://schemas.microsoft.com/office/drawing/2014/main" id="{DD7A3603-9B44-9C42-2E01-5E30491CB2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1448" y="1918955"/>
            <a:ext cx="1752600" cy="1752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DD75A5-8231-C16C-C32C-6E7729E45A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238" y="95835"/>
            <a:ext cx="1248477" cy="1248477"/>
          </a:xfrm>
          <a:prstGeom prst="rect">
            <a:avLst/>
          </a:prstGeom>
        </p:spPr>
      </p:pic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BAB146DE-3675-4B17-44F2-8E48E2F8C227}"/>
              </a:ext>
            </a:extLst>
          </p:cNvPr>
          <p:cNvSpPr/>
          <p:nvPr/>
        </p:nvSpPr>
        <p:spPr>
          <a:xfrm>
            <a:off x="320750" y="457200"/>
            <a:ext cx="685800" cy="762000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937C1E6B-B8DE-C7F2-BFC0-8C929E2BD199}"/>
              </a:ext>
            </a:extLst>
          </p:cNvPr>
          <p:cNvSpPr/>
          <p:nvPr/>
        </p:nvSpPr>
        <p:spPr>
          <a:xfrm>
            <a:off x="895736" y="457200"/>
            <a:ext cx="685800" cy="762000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D116CC-3B08-EC92-73C7-496FE3680A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370" y="1"/>
            <a:ext cx="1469630" cy="1447800"/>
          </a:xfrm>
          <a:prstGeom prst="rect">
            <a:avLst/>
          </a:prstGeom>
        </p:spPr>
      </p:pic>
      <p:sp>
        <p:nvSpPr>
          <p:cNvPr id="13" name="Rectangle 1">
            <a:extLst>
              <a:ext uri="{FF2B5EF4-FFF2-40B4-BE49-F238E27FC236}">
                <a16:creationId xmlns:a16="http://schemas.microsoft.com/office/drawing/2014/main" id="{CA5668A5-200A-471A-7F09-B9238BE5D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721" y="367155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Developed a Machine Learning-based Provider Credibility Scoring System.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Evaluated provider trustworthiness using multiple verification factors.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Verified provider identity, certifications, and business registration.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provider experience and professional references.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Evaluated portfolio quality and historical service reliability.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Implemented Random Forest Regressor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Regressor models.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Applied Grid Search Cross Validation for hyperparameter optimization.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Generated credibility scores ranging from 0–100.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Classified providers into Beginner, Intermediate, and Professional levels.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recommendation trustworthiness by filtering unqualified providers. 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4EF52048-FD6D-6ECD-047F-6D18A875B4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752600"/>
            <a:ext cx="8001000" cy="66992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 Solution's Approach to Addressing the Sub-Problem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B472E0-A1DD-0A86-209B-1B12C0284AEF}"/>
              </a:ext>
            </a:extLst>
          </p:cNvPr>
          <p:cNvSpPr/>
          <p:nvPr/>
        </p:nvSpPr>
        <p:spPr>
          <a:xfrm>
            <a:off x="2632435" y="6469546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IT22117182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ROOPASINGHE EMNS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1713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92A20-CAFC-3525-89AA-5C02BB2FC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C95D4C-5588-DF56-00D6-3C29D7A40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2598" y="228600"/>
            <a:ext cx="9220202" cy="1752600"/>
          </a:xfrm>
        </p:spPr>
        <p:txBody>
          <a:bodyPr>
            <a:normAutofit fontScale="90000"/>
          </a:bodyPr>
          <a:lstStyle/>
          <a:p>
            <a:pPr algn="l"/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Component 03: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Achievement Evidence &amp; Current Status</a:t>
            </a:r>
            <a:b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Achievement Evidence &amp; Model Evaluation</a:t>
            </a:r>
            <a:br>
              <a:rPr lang="en-US" sz="2800" b="1" dirty="0"/>
            </a:br>
            <a:br>
              <a:rPr lang="en-US" sz="2700" b="1" dirty="0">
                <a:solidFill>
                  <a:schemeClr val="accent1"/>
                </a:solidFill>
              </a:rPr>
            </a:br>
            <a:br>
              <a:rPr lang="en-US" sz="2700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</a:br>
            <a:endParaRPr lang="en-US" sz="2700" b="1" dirty="0">
              <a:solidFill>
                <a:schemeClr val="accent1"/>
              </a:solidFill>
            </a:endParaRPr>
          </a:p>
        </p:txBody>
      </p:sp>
      <p:pic>
        <p:nvPicPr>
          <p:cNvPr id="6" name="Picture 5" descr="A group of pencils with different colors&#10;&#10;Description automatically generated">
            <a:extLst>
              <a:ext uri="{FF2B5EF4-FFF2-40B4-BE49-F238E27FC236}">
                <a16:creationId xmlns:a16="http://schemas.microsoft.com/office/drawing/2014/main" id="{90033A09-B076-2A00-A805-8B06CC5B210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1448" y="1918955"/>
            <a:ext cx="1752600" cy="1752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C69B04-CD9B-7A56-CEFB-FBB75B35D0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238" y="95835"/>
            <a:ext cx="1248477" cy="1248477"/>
          </a:xfrm>
          <a:prstGeom prst="rect">
            <a:avLst/>
          </a:prstGeom>
        </p:spPr>
      </p:pic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562D6534-C502-28E5-D9DC-D635DA2F2F70}"/>
              </a:ext>
            </a:extLst>
          </p:cNvPr>
          <p:cNvSpPr/>
          <p:nvPr/>
        </p:nvSpPr>
        <p:spPr>
          <a:xfrm>
            <a:off x="320750" y="457200"/>
            <a:ext cx="685800" cy="762000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8EB6D40A-3563-00A5-3250-E8A482CCFE21}"/>
              </a:ext>
            </a:extLst>
          </p:cNvPr>
          <p:cNvSpPr/>
          <p:nvPr/>
        </p:nvSpPr>
        <p:spPr>
          <a:xfrm>
            <a:off x="895736" y="457200"/>
            <a:ext cx="685800" cy="762000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FE9200-14D6-7253-0377-F032035952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370" y="1"/>
            <a:ext cx="1469630" cy="1447800"/>
          </a:xfrm>
          <a:prstGeom prst="rect">
            <a:avLst/>
          </a:prstGeom>
        </p:spPr>
      </p:pic>
      <p:sp>
        <p:nvSpPr>
          <p:cNvPr id="13" name="Rectangle 1">
            <a:extLst>
              <a:ext uri="{FF2B5EF4-FFF2-40B4-BE49-F238E27FC236}">
                <a16:creationId xmlns:a16="http://schemas.microsoft.com/office/drawing/2014/main" id="{E385A948-5B03-8FFE-6780-D1F9811595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266" y="2339430"/>
            <a:ext cx="862755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Credibility Score=(0.4×Credential Score)+(0.3×Performance Score)+(0.3×Trust Score)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08F29EC9-EFDC-9E31-64DD-07EF6B73F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752600"/>
            <a:ext cx="8001000" cy="6699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Credibility Scoring Formula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85CC0657-F1BC-96EE-A601-2EEB7B8C6882}"/>
              </a:ext>
            </a:extLst>
          </p:cNvPr>
          <p:cNvSpPr txBox="1">
            <a:spLocks/>
          </p:cNvSpPr>
          <p:nvPr/>
        </p:nvSpPr>
        <p:spPr>
          <a:xfrm>
            <a:off x="222380" y="2885723"/>
            <a:ext cx="8001000" cy="6699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Key Achievements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3C8D63B-6822-DA59-5351-4F416A354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380" y="-519027"/>
            <a:ext cx="6542728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achieved higher prediction accuracy.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SHAP analysis used for explainable AI predictions.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provider credibility prediction completed.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Providers ranked based on trustworthiness and qualifications. </a:t>
            </a:r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9CDD66CA-4052-8ED0-5821-92FF05F5F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266" y="53340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 ML models implemented.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preprocessing and feature engineering completed.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Hyperparameter tuning completed using Grid Search CV.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Credibility prediction API functional. </a:t>
            </a: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6DBAC920-B61D-1BB4-680F-06187A0DE117}"/>
              </a:ext>
            </a:extLst>
          </p:cNvPr>
          <p:cNvSpPr txBox="1">
            <a:spLocks/>
          </p:cNvSpPr>
          <p:nvPr/>
        </p:nvSpPr>
        <p:spPr>
          <a:xfrm>
            <a:off x="222380" y="4487112"/>
            <a:ext cx="8001000" cy="6699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000" dirty="0">
                <a:solidFill>
                  <a:schemeClr val="accent1">
                    <a:lumMod val="75000"/>
                  </a:schemeClr>
                </a:solidFill>
              </a:rPr>
              <a:t>The Solution's Approach to Addressing the Sub-Problem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D83AE66-F51D-372E-A2C0-91E565FDFEB6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IT22117182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dirty="0">
                <a:solidFill>
                  <a:schemeClr val="tx1"/>
                </a:solidFill>
              </a:rPr>
              <a:t>ROOPASINGHE EMNS</a:t>
            </a:r>
            <a:r>
              <a:rPr lang="en-US" sz="1800" b="1" dirty="0">
                <a:solidFill>
                  <a:schemeClr val="tx1"/>
                </a:solidFill>
              </a:rPr>
              <a:t>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4632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IT22914200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sz="1800" dirty="0" err="1">
                <a:solidFill>
                  <a:schemeClr val="tx1"/>
                </a:solidFill>
              </a:rPr>
              <a:t>T</a:t>
            </a:r>
            <a:r>
              <a:rPr lang="en-US" dirty="0" err="1">
                <a:solidFill>
                  <a:schemeClr val="tx1"/>
                </a:solidFill>
              </a:rPr>
              <a:t>harushika</a:t>
            </a:r>
            <a:r>
              <a:rPr lang="en-US" dirty="0">
                <a:solidFill>
                  <a:schemeClr val="tx1"/>
                </a:solidFill>
              </a:rPr>
              <a:t> W.A.M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F436E5-B08B-E0FB-8660-D4F182665E32}"/>
              </a:ext>
            </a:extLst>
          </p:cNvPr>
          <p:cNvSpPr/>
          <p:nvPr/>
        </p:nvSpPr>
        <p:spPr>
          <a:xfrm>
            <a:off x="9824720" y="0"/>
            <a:ext cx="2362200" cy="29588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7822" y="3268402"/>
            <a:ext cx="10363200" cy="126144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 IT22914200|Tharushika </a:t>
            </a:r>
            <a:r>
              <a:rPr lang="en-US" dirty="0" err="1"/>
              <a:t>w.a.m</a:t>
            </a:r>
            <a:r>
              <a:rPr lang="en-US" dirty="0"/>
              <a:t>.</a:t>
            </a:r>
            <a:br>
              <a:rPr lang="en-US" dirty="0"/>
            </a:br>
            <a:r>
              <a:rPr lang="en-US" sz="2700" cap="none" dirty="0">
                <a:solidFill>
                  <a:schemeClr val="accent1"/>
                </a:solidFill>
                <a:latin typeface="Adobe Devanagari"/>
                <a:ea typeface="Cambria Bold"/>
                <a:cs typeface="Cambria Bold"/>
                <a:sym typeface="Cambria Bold"/>
              </a:rPr>
              <a:t>Bi-LSTM Based Sentiment Analysis &amp; Review </a:t>
            </a:r>
            <a:r>
              <a:rPr lang="en-US" sz="2700" cap="none" dirty="0" err="1">
                <a:solidFill>
                  <a:schemeClr val="accent1"/>
                </a:solidFill>
                <a:latin typeface="Adobe Devanagari"/>
                <a:ea typeface="Cambria Bold"/>
                <a:cs typeface="Cambria Bold"/>
                <a:sym typeface="Cambria Bold"/>
              </a:rPr>
              <a:t>Credibilty</a:t>
            </a:r>
            <a:r>
              <a:rPr lang="en-US" sz="2700" cap="none" dirty="0">
                <a:solidFill>
                  <a:schemeClr val="accent1"/>
                </a:solidFill>
                <a:latin typeface="Adobe Devanagari"/>
                <a:ea typeface="Cambria Bold"/>
                <a:cs typeface="Cambria Bold"/>
                <a:sym typeface="Cambria Bold"/>
              </a:rPr>
              <a:t> Module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3985" y="4278089"/>
            <a:ext cx="10363200" cy="1055911"/>
          </a:xfrm>
        </p:spPr>
        <p:txBody>
          <a:bodyPr/>
          <a:lstStyle/>
          <a:p>
            <a:pPr algn="ctr"/>
            <a:r>
              <a:rPr lang="en-US" sz="1800" kern="1400" spc="-50" dirty="0">
                <a:effectLst/>
                <a:latin typeface="Times New Roman" panose="02020603050405020304" pitchFamily="18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BSc (Hons) Degree in Information Technology (specialization in Information Technology)</a:t>
            </a:r>
            <a:endParaRPr lang="en-US" sz="1800" kern="1400" spc="-50" dirty="0">
              <a:effectLst/>
              <a:latin typeface="Calibri Light" panose="020F0302020204030204" pitchFamily="34" charset="0"/>
              <a:ea typeface="Yu Gothic Light" panose="020B0300000000000000" pitchFamily="34" charset="-128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3094175E-FEA1-64A6-DEEE-132BE26D86CA}"/>
              </a:ext>
            </a:extLst>
          </p:cNvPr>
          <p:cNvSpPr/>
          <p:nvPr/>
        </p:nvSpPr>
        <p:spPr>
          <a:xfrm>
            <a:off x="-21265" y="0"/>
            <a:ext cx="989087" cy="3739285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C676D56-EFEC-214C-9E6F-D98CB9203BF4}"/>
              </a:ext>
            </a:extLst>
          </p:cNvPr>
          <p:cNvSpPr/>
          <p:nvPr/>
        </p:nvSpPr>
        <p:spPr>
          <a:xfrm>
            <a:off x="10881485" y="4921885"/>
            <a:ext cx="929515" cy="89194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1B02048-7C51-176D-EC3C-01F2E4023145}"/>
              </a:ext>
            </a:extLst>
          </p:cNvPr>
          <p:cNvSpPr/>
          <p:nvPr/>
        </p:nvSpPr>
        <p:spPr>
          <a:xfrm>
            <a:off x="10090467" y="5253028"/>
            <a:ext cx="617159" cy="54593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1893DF-1C9B-7374-F676-44D771848ED9}"/>
              </a:ext>
            </a:extLst>
          </p:cNvPr>
          <p:cNvSpPr/>
          <p:nvPr/>
        </p:nvSpPr>
        <p:spPr>
          <a:xfrm>
            <a:off x="10772175" y="5827960"/>
            <a:ext cx="373441" cy="3442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30B6993-1F79-6194-22B5-CEEFBFACA809}"/>
              </a:ext>
            </a:extLst>
          </p:cNvPr>
          <p:cNvSpPr/>
          <p:nvPr/>
        </p:nvSpPr>
        <p:spPr>
          <a:xfrm>
            <a:off x="10564622" y="4907326"/>
            <a:ext cx="207553" cy="20272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D40023-C691-6685-7747-266612AD7A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370" y="1"/>
            <a:ext cx="1469630" cy="1447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2BC1EF-1AA8-137C-C79B-5FEC98688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894" y="473981"/>
            <a:ext cx="2246894" cy="279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2013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2DD75A5-8231-C16C-C32C-6E7729E45A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238" y="95835"/>
            <a:ext cx="1248477" cy="1248477"/>
          </a:xfrm>
          <a:prstGeom prst="rect">
            <a:avLst/>
          </a:prstGeom>
        </p:spPr>
      </p:pic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BAB146DE-3675-4B17-44F2-8E48E2F8C227}"/>
              </a:ext>
            </a:extLst>
          </p:cNvPr>
          <p:cNvSpPr/>
          <p:nvPr/>
        </p:nvSpPr>
        <p:spPr>
          <a:xfrm>
            <a:off x="320750" y="457200"/>
            <a:ext cx="685800" cy="762000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Chevron 11">
            <a:extLst>
              <a:ext uri="{FF2B5EF4-FFF2-40B4-BE49-F238E27FC236}">
                <a16:creationId xmlns:a16="http://schemas.microsoft.com/office/drawing/2014/main" id="{937C1E6B-B8DE-C7F2-BFC0-8C929E2BD199}"/>
              </a:ext>
            </a:extLst>
          </p:cNvPr>
          <p:cNvSpPr/>
          <p:nvPr/>
        </p:nvSpPr>
        <p:spPr>
          <a:xfrm>
            <a:off x="895736" y="457200"/>
            <a:ext cx="685800" cy="762000"/>
          </a:xfrm>
          <a:prstGeom prst="chevron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D116CC-3B08-EC92-73C7-496FE3680A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370" y="1"/>
            <a:ext cx="1469630" cy="1447800"/>
          </a:xfrm>
          <a:prstGeom prst="rect">
            <a:avLst/>
          </a:prstGeom>
        </p:spPr>
      </p:pic>
      <p:sp>
        <p:nvSpPr>
          <p:cNvPr id="5" name="Title 2">
            <a:extLst>
              <a:ext uri="{FF2B5EF4-FFF2-40B4-BE49-F238E27FC236}">
                <a16:creationId xmlns:a16="http://schemas.microsoft.com/office/drawing/2014/main" id="{4D9ECAE6-9EA8-0439-FA73-544C0713E8AA}"/>
              </a:ext>
            </a:extLst>
          </p:cNvPr>
          <p:cNvSpPr txBox="1">
            <a:spLocks/>
          </p:cNvSpPr>
          <p:nvPr/>
        </p:nvSpPr>
        <p:spPr>
          <a:xfrm>
            <a:off x="1905000" y="304800"/>
            <a:ext cx="9220202" cy="1447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l"/>
            <a:r>
              <a:rPr lang="en-US" sz="2700" b="1" dirty="0">
                <a:solidFill>
                  <a:schemeClr val="accent1">
                    <a:lumMod val="75000"/>
                  </a:schemeClr>
                </a:solidFill>
              </a:rPr>
              <a:t>Component 04: Bi-LSTM Based Sentiment Analysis &amp; Review Credibility Module </a:t>
            </a:r>
            <a:br>
              <a:rPr lang="en-US" sz="2700" b="1" dirty="0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</a:br>
            <a:endParaRPr lang="en-US" sz="2700" b="1" dirty="0">
              <a:solidFill>
                <a:schemeClr val="accent1"/>
              </a:solidFill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EFE4B24B-F03B-91F7-B839-0BBD64C13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76400"/>
            <a:ext cx="6705602" cy="669927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80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ptos" panose="020B0004020202020204" pitchFamily="34" charset="0"/>
              </a:rPr>
              <a:t>The Solution's Approach to Addressing the Sub-Problem</a:t>
            </a:r>
            <a:endParaRPr lang="en-US" sz="8000" b="1" dirty="0">
              <a:solidFill>
                <a:schemeClr val="accent1">
                  <a:lumMod val="60000"/>
                  <a:lumOff val="40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80AF4C-600A-1F07-980D-2AE42D687139}"/>
              </a:ext>
            </a:extLst>
          </p:cNvPr>
          <p:cNvSpPr txBox="1"/>
          <p:nvPr/>
        </p:nvSpPr>
        <p:spPr>
          <a:xfrm>
            <a:off x="152400" y="1972451"/>
            <a:ext cx="12172950" cy="6105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88632" lvl="1" indent="-244316">
              <a:lnSpc>
                <a:spcPts val="3240"/>
              </a:lnSpc>
              <a:buFont typeface="Arial"/>
              <a:buChar char="•"/>
            </a:pPr>
            <a:r>
              <a:rPr lang="en-US" dirty="0"/>
              <a:t>Developed a Bi-LSTM Based Sentiment Analysis &amp; Review Credibility Module to improve recommendation trustworthiness.</a:t>
            </a:r>
          </a:p>
          <a:p>
            <a:pPr marL="488632" lvl="1" indent="-244316">
              <a:lnSpc>
                <a:spcPts val="3240"/>
              </a:lnSpc>
              <a:buFont typeface="Arial"/>
              <a:buChar char="•"/>
            </a:pPr>
            <a:r>
              <a:rPr lang="en-US" dirty="0"/>
              <a:t>Applied NLP preprocessing techniques for review cleaning and normalization.</a:t>
            </a:r>
          </a:p>
          <a:p>
            <a:pPr marL="488632" lvl="1" indent="-244316">
              <a:lnSpc>
                <a:spcPts val="3240"/>
              </a:lnSpc>
              <a:buFont typeface="Arial"/>
              <a:buChar char="•"/>
            </a:pPr>
            <a:r>
              <a:rPr lang="en-US" dirty="0"/>
              <a:t>Performed aspect-level sentiment analysis for quality, punctuality, communication, and professionalism.</a:t>
            </a:r>
          </a:p>
          <a:p>
            <a:pPr marL="488632" lvl="1" indent="-244316">
              <a:lnSpc>
                <a:spcPts val="3240"/>
              </a:lnSpc>
              <a:buFont typeface="Arial"/>
              <a:buChar char="•"/>
            </a:pPr>
            <a:r>
              <a:rPr lang="en-US" dirty="0"/>
              <a:t>Implemented fake review detection using the Isolation Forest algorithm.</a:t>
            </a:r>
          </a:p>
          <a:p>
            <a:pPr marL="488632" lvl="1" indent="-244316">
              <a:lnSpc>
                <a:spcPts val="3240"/>
              </a:lnSpc>
              <a:buFont typeface="Arial"/>
              <a:buChar char="•"/>
            </a:pPr>
            <a:r>
              <a:rPr lang="en-US" dirty="0"/>
              <a:t>Filtered suspicious reviews before sentiment score generation.</a:t>
            </a:r>
          </a:p>
          <a:p>
            <a:pPr marL="488632" lvl="1" indent="-244316">
              <a:lnSpc>
                <a:spcPts val="3240"/>
              </a:lnSpc>
              <a:buFont typeface="Arial"/>
              <a:buChar char="•"/>
            </a:pPr>
            <a:r>
              <a:rPr lang="en-US" dirty="0"/>
              <a:t>Generated weighted sentiment scores from multiple review aspects.</a:t>
            </a:r>
          </a:p>
          <a:p>
            <a:pPr marL="488632" lvl="1" indent="-244316">
              <a:lnSpc>
                <a:spcPts val="3240"/>
              </a:lnSpc>
              <a:buFont typeface="Arial"/>
              <a:buChar char="•"/>
            </a:pPr>
            <a:r>
              <a:rPr lang="en-US" dirty="0"/>
              <a:t>Enhanced provider ranking using verified sentiment insights.</a:t>
            </a:r>
          </a:p>
          <a:p>
            <a:pPr marL="488632" lvl="1" indent="-244316">
              <a:lnSpc>
                <a:spcPts val="3240"/>
              </a:lnSpc>
              <a:buFont typeface="Arial"/>
              <a:buChar char="•"/>
            </a:pPr>
            <a:r>
              <a:rPr lang="en-US" dirty="0"/>
              <a:t>Generated explainable recommendations with provider strengths and weaknesses.</a:t>
            </a:r>
          </a:p>
          <a:p>
            <a:pPr marL="488632" lvl="1" indent="-244316">
              <a:lnSpc>
                <a:spcPts val="3240"/>
              </a:lnSpc>
              <a:buFont typeface="Arial"/>
              <a:buChar char="•"/>
            </a:pPr>
            <a:r>
              <a:rPr lang="en-US" dirty="0"/>
              <a:t>Produced the final Top-5 trustworthy providers for the recommendation system.</a:t>
            </a:r>
            <a:br>
              <a:rPr lang="en-GB" dirty="0"/>
            </a:br>
            <a:br>
              <a:rPr lang="en-GB" dirty="0"/>
            </a:br>
            <a:endParaRPr lang="en-GB" dirty="0"/>
          </a:p>
          <a:p>
            <a:pPr marL="530066" lvl="1" indent="-285750">
              <a:lnSpc>
                <a:spcPts val="3240"/>
              </a:lnSpc>
              <a:buFont typeface="Arial" panose="020B0604020202020204" pitchFamily="34" charset="0"/>
              <a:buChar char="•"/>
            </a:pPr>
            <a:endParaRPr lang="en-GB" dirty="0"/>
          </a:p>
          <a:p>
            <a:pPr marL="530066" lvl="1" indent="-285750">
              <a:lnSpc>
                <a:spcPts val="3240"/>
              </a:lnSpc>
              <a:buFont typeface="Arial" panose="020B0604020202020204" pitchFamily="34" charset="0"/>
              <a:buChar char="•"/>
            </a:pPr>
            <a:endParaRPr lang="en-GB" dirty="0"/>
          </a:p>
          <a:p>
            <a:pPr marL="488632" lvl="1" indent="-244316">
              <a:lnSpc>
                <a:spcPts val="3240"/>
              </a:lnSpc>
            </a:pPr>
            <a:endParaRPr lang="en-US" dirty="0">
              <a:solidFill>
                <a:srgbClr val="000000"/>
              </a:solidFill>
              <a:ea typeface="Cambria"/>
              <a:cs typeface="Cambria"/>
              <a:sym typeface="Cambria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7A465E-3696-7A2C-13E0-BC252E534AEE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IT22914200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sz="1800" dirty="0" err="1">
                <a:solidFill>
                  <a:schemeClr val="tx1"/>
                </a:solidFill>
              </a:rPr>
              <a:t>T</a:t>
            </a:r>
            <a:r>
              <a:rPr lang="en-US" dirty="0" err="1">
                <a:solidFill>
                  <a:schemeClr val="tx1"/>
                </a:solidFill>
              </a:rPr>
              <a:t>harushika</a:t>
            </a:r>
            <a:r>
              <a:rPr lang="en-US" dirty="0">
                <a:solidFill>
                  <a:schemeClr val="tx1"/>
                </a:solidFill>
              </a:rPr>
              <a:t> W.A.M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9335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678CA58-9B6D-BFD5-6BDA-691974C03A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94157" y="-91141"/>
            <a:ext cx="5203686" cy="704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1811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9A3B5528-03B4-D961-0D01-810C1ECDB876}"/>
              </a:ext>
            </a:extLst>
          </p:cNvPr>
          <p:cNvSpPr txBox="1">
            <a:spLocks/>
          </p:cNvSpPr>
          <p:nvPr/>
        </p:nvSpPr>
        <p:spPr>
          <a:xfrm>
            <a:off x="228600" y="228601"/>
            <a:ext cx="10134600" cy="457199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900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Achievement Evidence</a:t>
            </a:r>
          </a:p>
          <a:p>
            <a:pPr marL="0" indent="0">
              <a:buFont typeface="Arial" pitchFamily="34" charset="0"/>
              <a:buNone/>
            </a:pPr>
            <a:endParaRPr lang="en-US" sz="600" dirty="0"/>
          </a:p>
          <a:p>
            <a:endParaRPr lang="en-US" sz="600" dirty="0"/>
          </a:p>
          <a:p>
            <a:endParaRPr lang="en-US" sz="600" dirty="0"/>
          </a:p>
          <a:p>
            <a:endParaRPr lang="en-US" sz="6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5F5599-3BB2-013B-19C6-398721B2DC7B}"/>
              </a:ext>
            </a:extLst>
          </p:cNvPr>
          <p:cNvSpPr/>
          <p:nvPr/>
        </p:nvSpPr>
        <p:spPr>
          <a:xfrm>
            <a:off x="303057" y="768750"/>
            <a:ext cx="4040344" cy="602850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0E43DD-E4CC-030F-116A-34E0B832CA6A}"/>
              </a:ext>
            </a:extLst>
          </p:cNvPr>
          <p:cNvSpPr txBox="1"/>
          <p:nvPr/>
        </p:nvSpPr>
        <p:spPr>
          <a:xfrm>
            <a:off x="369456" y="829862"/>
            <a:ext cx="4267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Aptos" panose="020B0004020202020204" pitchFamily="34" charset="0"/>
              </a:rPr>
              <a:t>IOB Annotated Reviews</a:t>
            </a:r>
          </a:p>
          <a:p>
            <a:r>
              <a:rPr lang="en-US" sz="2800" b="1" dirty="0">
                <a:solidFill>
                  <a:srgbClr val="7030A0"/>
                </a:solidFill>
                <a:latin typeface="Aptos" panose="020B0004020202020204" pitchFamily="34" charset="0"/>
              </a:rPr>
              <a:t>            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7904407-8EC4-FBD2-E0FE-8C1CA5AC4D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370" y="1"/>
            <a:ext cx="1469630" cy="144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6759372-D1D0-DD80-3713-1A071789D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56" y="1432712"/>
            <a:ext cx="9504850" cy="26284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34E846-B248-C10C-41FE-BD810A115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962400"/>
            <a:ext cx="4938713" cy="244688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53BDE1A-1513-8BF1-67DA-6E846E33970B}"/>
              </a:ext>
            </a:extLst>
          </p:cNvPr>
          <p:cNvSpPr/>
          <p:nvPr/>
        </p:nvSpPr>
        <p:spPr>
          <a:xfrm>
            <a:off x="2971800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IT22914200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sz="1800" dirty="0" err="1">
                <a:solidFill>
                  <a:schemeClr val="tx1"/>
                </a:solidFill>
              </a:rPr>
              <a:t>T</a:t>
            </a:r>
            <a:r>
              <a:rPr lang="en-US" dirty="0" err="1">
                <a:solidFill>
                  <a:schemeClr val="tx1"/>
                </a:solidFill>
              </a:rPr>
              <a:t>harushika</a:t>
            </a:r>
            <a:r>
              <a:rPr lang="en-US" dirty="0">
                <a:solidFill>
                  <a:schemeClr val="tx1"/>
                </a:solidFill>
              </a:rPr>
              <a:t> W.A.M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58739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FB4490-9D62-A3EF-9640-80B441813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56" y="1600200"/>
            <a:ext cx="5966937" cy="2286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B783BBC-CA7C-2FE3-A383-CDDC8BEF9C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370" y="1"/>
            <a:ext cx="1469630" cy="1447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9A8974D-A7EC-65E4-BF00-E0442B1922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447801"/>
            <a:ext cx="4549795" cy="41018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FE0AB0B-ECF8-379B-E3BE-C29003EE5DF6}"/>
              </a:ext>
            </a:extLst>
          </p:cNvPr>
          <p:cNvSpPr txBox="1"/>
          <p:nvPr/>
        </p:nvSpPr>
        <p:spPr>
          <a:xfrm>
            <a:off x="325656" y="329026"/>
            <a:ext cx="9808944" cy="49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LSTM-Based Sentiment &amp; Review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Credibility Module</a:t>
            </a:r>
            <a:endParaRPr lang="en-US" sz="2800" b="1" dirty="0">
              <a:solidFill>
                <a:schemeClr val="accent1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 </a:t>
            </a:r>
            <a:endParaRPr lang="en-US" sz="2800" b="0" dirty="0">
              <a:solidFill>
                <a:schemeClr val="accent1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69A093-D2BC-8811-5649-61B1F3802D78}"/>
              </a:ext>
            </a:extLst>
          </p:cNvPr>
          <p:cNvSpPr/>
          <p:nvPr/>
        </p:nvSpPr>
        <p:spPr>
          <a:xfrm>
            <a:off x="2992617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IT22914200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sz="1800" dirty="0" err="1">
                <a:solidFill>
                  <a:schemeClr val="tx1"/>
                </a:solidFill>
              </a:rPr>
              <a:t>T</a:t>
            </a:r>
            <a:r>
              <a:rPr lang="en-US" dirty="0" err="1">
                <a:solidFill>
                  <a:schemeClr val="tx1"/>
                </a:solidFill>
              </a:rPr>
              <a:t>harushika</a:t>
            </a:r>
            <a:r>
              <a:rPr lang="en-US" dirty="0">
                <a:solidFill>
                  <a:schemeClr val="tx1"/>
                </a:solidFill>
              </a:rPr>
              <a:t> W.A.M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12912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349C86-8D32-152C-5EAF-81635269C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914400"/>
            <a:ext cx="8580864" cy="51210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FB20D5-70EB-64C3-6AFC-2B930BC3F8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370" y="1"/>
            <a:ext cx="146963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6BA1FE-5927-39BD-E9C7-1039CD5E28A1}"/>
              </a:ext>
            </a:extLst>
          </p:cNvPr>
          <p:cNvSpPr txBox="1"/>
          <p:nvPr/>
        </p:nvSpPr>
        <p:spPr>
          <a:xfrm>
            <a:off x="685800" y="378165"/>
            <a:ext cx="10591800" cy="345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3600" b="1" dirty="0">
                <a:solidFill>
                  <a:schemeClr val="accent1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Fraud Detection &amp; Credibility Blending</a:t>
            </a:r>
            <a:endParaRPr lang="en-US" sz="3600" b="0" dirty="0">
              <a:solidFill>
                <a:schemeClr val="accent1">
                  <a:lumMod val="5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4F83BD-DFEB-E9DB-1A20-08A1A5CD2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4264" y="2667000"/>
            <a:ext cx="2971800" cy="140035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4683798-5A71-2C3C-7B66-631AD90F7E09}"/>
              </a:ext>
            </a:extLst>
          </p:cNvPr>
          <p:cNvSpPr/>
          <p:nvPr/>
        </p:nvSpPr>
        <p:spPr>
          <a:xfrm>
            <a:off x="3048000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IT22914200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sz="1800" dirty="0" err="1">
                <a:solidFill>
                  <a:schemeClr val="tx1"/>
                </a:solidFill>
              </a:rPr>
              <a:t>T</a:t>
            </a:r>
            <a:r>
              <a:rPr lang="en-US" dirty="0" err="1">
                <a:solidFill>
                  <a:schemeClr val="tx1"/>
                </a:solidFill>
              </a:rPr>
              <a:t>harushika</a:t>
            </a:r>
            <a:r>
              <a:rPr lang="en-US" dirty="0">
                <a:solidFill>
                  <a:schemeClr val="tx1"/>
                </a:solidFill>
              </a:rPr>
              <a:t> W.A.M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18777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9AEA4-5FB3-516D-45A4-DE3CC5800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10668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 </a:t>
            </a:r>
            <a:r>
              <a:rPr lang="en-US" b="1" dirty="0" err="1">
                <a:solidFill>
                  <a:schemeClr val="accent1">
                    <a:lumMod val="50000"/>
                  </a:schemeClr>
                </a:solidFill>
              </a:rPr>
              <a:t>S_final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 Credibility Blending Formula</a:t>
            </a:r>
            <a:br>
              <a:rPr lang="en-US" dirty="0"/>
            </a:br>
            <a:endParaRPr lang="en-IO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0C78EF-14A2-5F0D-1B26-640E2230C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738" y="1245267"/>
            <a:ext cx="6165807" cy="45797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C22FE45-9502-0E09-34C4-CC0FD1971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5" y="2145465"/>
            <a:ext cx="5906862" cy="25670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CE4C50A-01F3-321A-7D72-0A45A2A16010}"/>
              </a:ext>
            </a:extLst>
          </p:cNvPr>
          <p:cNvSpPr/>
          <p:nvPr/>
        </p:nvSpPr>
        <p:spPr>
          <a:xfrm>
            <a:off x="3352800" y="6494430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IT22914200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sz="1800" dirty="0" err="1">
                <a:solidFill>
                  <a:schemeClr val="tx1"/>
                </a:solidFill>
              </a:rPr>
              <a:t>T</a:t>
            </a:r>
            <a:r>
              <a:rPr lang="en-US" dirty="0" err="1">
                <a:solidFill>
                  <a:schemeClr val="tx1"/>
                </a:solidFill>
              </a:rPr>
              <a:t>harushika</a:t>
            </a:r>
            <a:r>
              <a:rPr lang="en-US" dirty="0">
                <a:solidFill>
                  <a:schemeClr val="tx1"/>
                </a:solidFill>
              </a:rPr>
              <a:t> W.A.M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9490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5AECA49-75AB-0D39-1B5E-0E619FAFCD38}"/>
              </a:ext>
            </a:extLst>
          </p:cNvPr>
          <p:cNvSpPr txBox="1">
            <a:spLocks/>
          </p:cNvSpPr>
          <p:nvPr/>
        </p:nvSpPr>
        <p:spPr>
          <a:xfrm>
            <a:off x="152400" y="152400"/>
            <a:ext cx="6705602" cy="66992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b="1" dirty="0">
                <a:solidFill>
                  <a:schemeClr val="accent1"/>
                </a:solidFill>
                <a:latin typeface="Aptos" panose="020B0004020202020204" pitchFamily="34" charset="0"/>
              </a:rPr>
              <a:t> </a:t>
            </a:r>
            <a:r>
              <a:rPr lang="en-US" sz="2000" b="1" dirty="0">
                <a:solidFill>
                  <a:schemeClr val="accent1"/>
                </a:solidFill>
                <a:latin typeface="Aptos" panose="020B0004020202020204" pitchFamily="34" charset="0"/>
              </a:rPr>
              <a:t>Current Implementation Status</a:t>
            </a:r>
            <a:endParaRPr lang="en-US" sz="8000" b="1" dirty="0">
              <a:solidFill>
                <a:schemeClr val="accent1">
                  <a:lumMod val="60000"/>
                  <a:lumOff val="40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Font typeface="Arial" pitchFamily="34" charset="0"/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4BB3C4-0B6F-F33A-44E4-F113240694A4}"/>
              </a:ext>
            </a:extLst>
          </p:cNvPr>
          <p:cNvSpPr txBox="1"/>
          <p:nvPr/>
        </p:nvSpPr>
        <p:spPr>
          <a:xfrm>
            <a:off x="228600" y="828547"/>
            <a:ext cx="9829800" cy="3693319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Backend:</a:t>
            </a:r>
            <a:r>
              <a:rPr lang="en-US" dirty="0"/>
              <a:t> Bi-LSTM sentiment analysis, aspect extraction, and fake review detection modules implemented.</a:t>
            </a:r>
          </a:p>
          <a:p>
            <a:endParaRPr lang="en-US" b="0" i="0" dirty="0">
              <a:effectLst/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Data:</a:t>
            </a:r>
            <a:r>
              <a:rPr lang="en-US" dirty="0"/>
              <a:t> NLP preprocessing, review cleaning, and Sinhala-English mixed review preparation completed for 110k+ review records.</a:t>
            </a:r>
          </a:p>
          <a:p>
            <a:endParaRPr lang="en-GB" b="0" i="0" dirty="0">
              <a:effectLst/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Model Development:</a:t>
            </a:r>
            <a:r>
              <a:rPr lang="en-US" dirty="0"/>
              <a:t> Bi-LSTM with Attention Mechanism and Isolation Forest models trained for sentiment classification and fake review detection.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Sentiment Processing:</a:t>
            </a:r>
            <a:r>
              <a:rPr lang="en-US" dirty="0"/>
              <a:t> Aspect-level sentiment scoring for quality, punctuality, communication, and professionalism completed.</a:t>
            </a:r>
            <a:endParaRPr lang="en-US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Aptos" panose="020B0004020202020204" pitchFamily="34" charset="0"/>
            </a:endParaRPr>
          </a:p>
          <a:p>
            <a:endParaRPr lang="en-US" b="0" i="0" dirty="0">
              <a:effectLst/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BE15FD-AF34-F853-F253-9471AEB2FE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370" y="1"/>
            <a:ext cx="1469630" cy="14478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F039968-DEC3-9042-EC7B-400B546971D1}"/>
              </a:ext>
            </a:extLst>
          </p:cNvPr>
          <p:cNvSpPr/>
          <p:nvPr/>
        </p:nvSpPr>
        <p:spPr>
          <a:xfrm>
            <a:off x="3048000" y="6492875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 dirty="0">
                <a:solidFill>
                  <a:schemeClr val="tx1"/>
                </a:solidFill>
              </a:rPr>
              <a:t>IT22914200</a:t>
            </a:r>
            <a:r>
              <a:rPr lang="en-US" sz="1800" dirty="0">
                <a:solidFill>
                  <a:schemeClr val="tx1"/>
                </a:solidFill>
              </a:rPr>
              <a:t>   |   </a:t>
            </a:r>
            <a:r>
              <a:rPr lang="en-US" sz="1800" dirty="0" err="1">
                <a:solidFill>
                  <a:schemeClr val="tx1"/>
                </a:solidFill>
              </a:rPr>
              <a:t>T</a:t>
            </a:r>
            <a:r>
              <a:rPr lang="en-US" dirty="0" err="1">
                <a:solidFill>
                  <a:schemeClr val="tx1"/>
                </a:solidFill>
              </a:rPr>
              <a:t>harushika</a:t>
            </a:r>
            <a:r>
              <a:rPr lang="en-US" dirty="0">
                <a:solidFill>
                  <a:schemeClr val="tx1"/>
                </a:solidFill>
              </a:rPr>
              <a:t> W.A.M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r>
              <a:rPr lang="en-US" sz="1800" b="1" dirty="0">
                <a:solidFill>
                  <a:schemeClr val="tx1"/>
                </a:solidFill>
              </a:rPr>
              <a:t>  </a:t>
            </a:r>
            <a:r>
              <a:rPr lang="en-US" sz="1800" dirty="0">
                <a:solidFill>
                  <a:schemeClr val="tx1"/>
                </a:solidFill>
              </a:rPr>
              <a:t>|   </a:t>
            </a:r>
            <a:r>
              <a:rPr lang="en-US" sz="1800" dirty="0">
                <a:solidFill>
                  <a:schemeClr val="tx1"/>
                </a:solidFill>
                <a:latin typeface="Century Gothic (Headings)"/>
                <a:ea typeface="Calibri" panose="020F0502020204030204" pitchFamily="34" charset="0"/>
                <a:cs typeface="Arial" panose="020B0604020202020204" pitchFamily="34" charset="0"/>
              </a:rPr>
              <a:t>RP26-IT-072</a:t>
            </a:r>
            <a:endParaRPr lang="en-US" sz="1800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9441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BA87EE8-2430-48CE-B467-8BD3100BC4EF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21809C4-D610-0D3D-CE2F-1B2676EC9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659" y="470142"/>
            <a:ext cx="6349541" cy="7921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 Customer Persona</a:t>
            </a:r>
            <a:br>
              <a:rPr lang="en-US" dirty="0">
                <a:solidFill>
                  <a:schemeClr val="tx1"/>
                </a:solidFill>
              </a:rPr>
            </a:br>
            <a:endParaRPr lang="en-US" b="1" dirty="0">
              <a:solidFill>
                <a:schemeClr val="accent1"/>
              </a:solidFill>
            </a:endParaRPr>
          </a:p>
        </p:txBody>
      </p:sp>
      <p:pic>
        <p:nvPicPr>
          <p:cNvPr id="50" name="Picture 49" descr="A blue and green line drawing of a balance&#10;&#10;Description automatically generated">
            <a:extLst>
              <a:ext uri="{FF2B5EF4-FFF2-40B4-BE49-F238E27FC236}">
                <a16:creationId xmlns:a16="http://schemas.microsoft.com/office/drawing/2014/main" id="{A0EFA670-7C42-F3E8-3426-798A749D9A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661" y="308068"/>
            <a:ext cx="623762" cy="623762"/>
          </a:xfrm>
          <a:prstGeom prst="rect">
            <a:avLst/>
          </a:prstGeom>
        </p:spPr>
      </p:pic>
      <p:sp>
        <p:nvSpPr>
          <p:cNvPr id="51" name="Oval 50">
            <a:extLst>
              <a:ext uri="{FF2B5EF4-FFF2-40B4-BE49-F238E27FC236}">
                <a16:creationId xmlns:a16="http://schemas.microsoft.com/office/drawing/2014/main" id="{66ADBEF1-FD80-2F0C-0000-773D6E34F259}"/>
              </a:ext>
            </a:extLst>
          </p:cNvPr>
          <p:cNvSpPr/>
          <p:nvPr/>
        </p:nvSpPr>
        <p:spPr>
          <a:xfrm>
            <a:off x="1027485" y="95834"/>
            <a:ext cx="1106115" cy="1048231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9919FF7D-2BB7-09B4-3572-C060E4F36E63}"/>
              </a:ext>
            </a:extLst>
          </p:cNvPr>
          <p:cNvSpPr/>
          <p:nvPr/>
        </p:nvSpPr>
        <p:spPr>
          <a:xfrm>
            <a:off x="690334" y="308068"/>
            <a:ext cx="191947" cy="215069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62FB0AB-54A8-F58B-1FE4-8E7C1CA5C537}"/>
              </a:ext>
            </a:extLst>
          </p:cNvPr>
          <p:cNvSpPr/>
          <p:nvPr/>
        </p:nvSpPr>
        <p:spPr>
          <a:xfrm>
            <a:off x="393726" y="730675"/>
            <a:ext cx="488555" cy="528316"/>
          </a:xfrm>
          <a:prstGeom prst="ellipse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19955D6C-F365-8BC1-124E-6AE1883DEC91}"/>
              </a:ext>
            </a:extLst>
          </p:cNvPr>
          <p:cNvSpPr/>
          <p:nvPr/>
        </p:nvSpPr>
        <p:spPr>
          <a:xfrm>
            <a:off x="1066800" y="1205804"/>
            <a:ext cx="101713" cy="106374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62F7EB-A867-0104-1E1B-7600976A8337}"/>
              </a:ext>
            </a:extLst>
          </p:cNvPr>
          <p:cNvSpPr/>
          <p:nvPr/>
        </p:nvSpPr>
        <p:spPr>
          <a:xfrm>
            <a:off x="614134" y="1509257"/>
            <a:ext cx="5943600" cy="34356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 descr="A person in a suit&#10;&#10;AI-generated content may be incorrect.">
            <a:extLst>
              <a:ext uri="{FF2B5EF4-FFF2-40B4-BE49-F238E27FC236}">
                <a16:creationId xmlns:a16="http://schemas.microsoft.com/office/drawing/2014/main" id="{A67226A3-8FE7-BDBF-E43B-0DF5EE9417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34" y="1592109"/>
            <a:ext cx="5780617" cy="32766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9A668DC-C38F-8F19-0890-4FB67721729C}"/>
              </a:ext>
            </a:extLst>
          </p:cNvPr>
          <p:cNvSpPr/>
          <p:nvPr/>
        </p:nvSpPr>
        <p:spPr>
          <a:xfrm>
            <a:off x="5721049" y="2727417"/>
            <a:ext cx="5943600" cy="34356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 descr="A person with long brown hair&#10;&#10;AI-generated content may be incorrect.">
            <a:extLst>
              <a:ext uri="{FF2B5EF4-FFF2-40B4-BE49-F238E27FC236}">
                <a16:creationId xmlns:a16="http://schemas.microsoft.com/office/drawing/2014/main" id="{46B482FB-0A13-60DE-6A6D-C3507E0A12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832" y="2888318"/>
            <a:ext cx="5780617" cy="317204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DC2D12A-F3B9-A40B-DFF0-2147F9FB300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370" y="1"/>
            <a:ext cx="146963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2277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97201-01F7-7B91-2A8C-1BAF71D52E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362200"/>
            <a:ext cx="10363200" cy="1470025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1"/>
                </a:solidFill>
              </a:rPr>
              <a:t>Thank You!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F71C1F-15E1-DDB0-BA2C-6254F16A60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2370" y="1"/>
            <a:ext cx="146963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376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D2C76CD229CDD4285A19EEDA46A2A94" ma:contentTypeVersion="4" ma:contentTypeDescription="Create a new document." ma:contentTypeScope="" ma:versionID="ea800217498562956dae74b68efaec0e">
  <xsd:schema xmlns:xsd="http://www.w3.org/2001/XMLSchema" xmlns:xs="http://www.w3.org/2001/XMLSchema" xmlns:p="http://schemas.microsoft.com/office/2006/metadata/properties" xmlns:ns2="4da6588c-a52b-4d0b-8663-93e0f7ef87c0" targetNamespace="http://schemas.microsoft.com/office/2006/metadata/properties" ma:root="true" ma:fieldsID="95eb59c0b611f560efcda39f06d822f5" ns2:_="">
    <xsd:import namespace="4da6588c-a52b-4d0b-8663-93e0f7ef87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a6588c-a52b-4d0b-8663-93e0f7ef87c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CA08BE-45B5-4AEA-AA99-776F594556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a6588c-a52b-4d0b-8663-93e0f7ef87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4D91F40-8375-4D47-8C36-B2F0463299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Theme6</Template>
  <TotalTime>11461</TotalTime>
  <Words>1526</Words>
  <Application>Microsoft Office PowerPoint</Application>
  <PresentationFormat>Widescreen</PresentationFormat>
  <Paragraphs>198</Paragraphs>
  <Slides>31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4" baseType="lpstr">
      <vt:lpstr>Adobe Devanagari</vt:lpstr>
      <vt:lpstr>Aptos</vt:lpstr>
      <vt:lpstr>Arial</vt:lpstr>
      <vt:lpstr>Calibri</vt:lpstr>
      <vt:lpstr>Calibri Light</vt:lpstr>
      <vt:lpstr>Cambria</vt:lpstr>
      <vt:lpstr>Cambria Bold</vt:lpstr>
      <vt:lpstr>Century Gothic (Headings)</vt:lpstr>
      <vt:lpstr>Consolas</vt:lpstr>
      <vt:lpstr>quote-cjk-patch</vt:lpstr>
      <vt:lpstr>Times New Roman</vt:lpstr>
      <vt:lpstr>Wingdings</vt:lpstr>
      <vt:lpstr>Office Theme</vt:lpstr>
      <vt:lpstr>Weda.lk:AI/ML Driven Maintenance Service Provider Matching Platform For Sri Lanka </vt:lpstr>
      <vt:lpstr>01. Introduction</vt:lpstr>
      <vt:lpstr>Introduction Cont.</vt:lpstr>
      <vt:lpstr>02. Design Excellence of the Overall Solution </vt:lpstr>
      <vt:lpstr>PowerPoint Presentation</vt:lpstr>
      <vt:lpstr>03. System Video</vt:lpstr>
      <vt:lpstr>PowerPoint Presentation</vt:lpstr>
      <vt:lpstr>Component 01: Hybrid-Multialgorithm Recommendation Engine.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IT22190048 | Masakorala A.H.</vt:lpstr>
      <vt:lpstr>Component 02: Temporal and Contextual Matching System for Service Provider Recommendations(Availability, Location, Weather, and Time Factors). </vt:lpstr>
      <vt:lpstr>Component 02: Temporal and Contextual Matching System for Service Provider Recommendations(Availability, Location, Weather, and Time Factors). </vt:lpstr>
      <vt:lpstr>IT22117182 | ROOPASINGHE EMNS</vt:lpstr>
      <vt:lpstr>Component 03:Dynamic Skill Verification &amp; Provider Credibility Scoring Model  </vt:lpstr>
      <vt:lpstr>Component 03:Achievement Evidence &amp; Current Status Achievement Evidence &amp; Model Evaluation   </vt:lpstr>
      <vt:lpstr> IT22914200|Tharushika w.a.m. Bi-LSTM Based Sentiment Analysis &amp; Review Credibilty Module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 S_final Credibility Blending Formula </vt:lpstr>
      <vt:lpstr>PowerPoint Presentation</vt:lpstr>
      <vt:lpstr> Customer Persona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Weda.lk:AI/ML Driven Maintenance Service Provider Matching Platform For Sri Lanka</dc:title>
  <dc:creator>Hashitha Heshan Jayasundara</dc:creator>
  <cp:lastModifiedBy>ROOPASINGHE E.M.N.S it22117182</cp:lastModifiedBy>
  <cp:revision>272</cp:revision>
  <dcterms:created xsi:type="dcterms:W3CDTF">2024-07-31T12:25:38Z</dcterms:created>
  <dcterms:modified xsi:type="dcterms:W3CDTF">2026-05-10T20:04:25Z</dcterms:modified>
</cp:coreProperties>
</file>