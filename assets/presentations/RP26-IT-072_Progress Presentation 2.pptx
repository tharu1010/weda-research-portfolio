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3"/>
  </p:sldMasterIdLst>
  <p:notesMasterIdLst>
    <p:notesMasterId r:id="rId34"/>
  </p:notesMasterIdLst>
  <p:handoutMasterIdLst>
    <p:handoutMasterId r:id="rId35"/>
  </p:handoutMasterIdLst>
  <p:sldIdLst>
    <p:sldId id="277" r:id="rId4"/>
    <p:sldId id="297" r:id="rId5"/>
    <p:sldId id="393" r:id="rId6"/>
    <p:sldId id="298" r:id="rId7"/>
    <p:sldId id="264" r:id="rId8"/>
    <p:sldId id="390" r:id="rId9"/>
    <p:sldId id="534" r:id="rId10"/>
    <p:sldId id="541" r:id="rId11"/>
    <p:sldId id="538" r:id="rId12"/>
    <p:sldId id="519" r:id="rId13"/>
    <p:sldId id="523" r:id="rId14"/>
    <p:sldId id="524" r:id="rId15"/>
    <p:sldId id="520" r:id="rId16"/>
    <p:sldId id="512" r:id="rId17"/>
    <p:sldId id="513" r:id="rId18"/>
    <p:sldId id="274" r:id="rId19"/>
    <p:sldId id="540" r:id="rId20"/>
    <p:sldId id="537" r:id="rId21"/>
    <p:sldId id="517" r:id="rId22"/>
    <p:sldId id="536" r:id="rId23"/>
    <p:sldId id="539" r:id="rId24"/>
    <p:sldId id="516" r:id="rId25"/>
    <p:sldId id="518" r:id="rId26"/>
    <p:sldId id="532" r:id="rId27"/>
    <p:sldId id="542" r:id="rId28"/>
    <p:sldId id="525" r:id="rId29"/>
    <p:sldId id="527" r:id="rId30"/>
    <p:sldId id="528" r:id="rId31"/>
    <p:sldId id="531" r:id="rId32"/>
    <p:sldId id="43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17B"/>
    <a:srgbClr val="FFFFFF"/>
    <a:srgbClr val="DFECE8"/>
    <a:srgbClr val="A36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8/28/2026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jpe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3097" y="2042219"/>
            <a:ext cx="6641712" cy="296151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Weda.lk</a:t>
            </a:r>
            <a:br>
              <a:rPr lang="en-US" sz="2800" b="1" dirty="0"/>
            </a:br>
            <a:r>
              <a:rPr lang="en-US" sz="28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AI/ML Driven Maintenance Service Provider Matching Platform For Sri Lanka</a:t>
            </a:r>
            <a:br>
              <a:rPr lang="en-US" sz="28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lang="en-US" sz="2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8547" y="4404438"/>
            <a:ext cx="4953000" cy="609600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  <a:effectLst/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Project ID: </a:t>
            </a:r>
            <a:r>
              <a:rPr lang="en-US" sz="1800" b="1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1" dirty="0">
              <a:solidFill>
                <a:schemeClr val="tx1"/>
              </a:solidFill>
              <a:effectLst/>
              <a:latin typeface="Century Gothic (Headings)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CDF3AD-9BB3-7B02-9C68-3AD9168B5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6604059"/>
            <a:ext cx="891617" cy="2514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6B18FC-466A-80F2-E45D-7576795B3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6627" y="507350"/>
            <a:ext cx="6185747" cy="604125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D0CA2D-40DD-3AE9-733B-80C490B24876}"/>
              </a:ext>
            </a:extLst>
          </p:cNvPr>
          <p:cNvSpPr/>
          <p:nvPr/>
        </p:nvSpPr>
        <p:spPr>
          <a:xfrm rot="5400000">
            <a:off x="5867400" y="-5867400"/>
            <a:ext cx="457200" cy="121920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6FF48C-9AAA-A619-4CCA-08236B37BEDB}"/>
              </a:ext>
            </a:extLst>
          </p:cNvPr>
          <p:cNvSpPr/>
          <p:nvPr/>
        </p:nvSpPr>
        <p:spPr>
          <a:xfrm rot="10800000">
            <a:off x="11734800" y="0"/>
            <a:ext cx="457200" cy="684538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B092C6-1C6F-6297-2D6D-977E9C5B13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698" y="537407"/>
            <a:ext cx="738077" cy="7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8CE42-A398-3BF4-C164-6404A17A0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85800" y="304801"/>
            <a:ext cx="4800600" cy="8382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01. 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750EBD-BC78-F275-FDA3-9F2FD3A98EA6}"/>
              </a:ext>
            </a:extLst>
          </p:cNvPr>
          <p:cNvSpPr/>
          <p:nvPr/>
        </p:nvSpPr>
        <p:spPr>
          <a:xfrm>
            <a:off x="11893080" y="1961905"/>
            <a:ext cx="320750" cy="486414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B9E449-94B7-4B86-8217-808225475287}"/>
              </a:ext>
            </a:extLst>
          </p:cNvPr>
          <p:cNvSpPr/>
          <p:nvPr/>
        </p:nvSpPr>
        <p:spPr>
          <a:xfrm rot="5400000">
            <a:off x="2271695" y="-2263531"/>
            <a:ext cx="320750" cy="486414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26AB05-973C-B622-5739-70A81A7805C4}"/>
              </a:ext>
            </a:extLst>
          </p:cNvPr>
          <p:cNvSpPr txBox="1">
            <a:spLocks/>
          </p:cNvSpPr>
          <p:nvPr/>
        </p:nvSpPr>
        <p:spPr>
          <a:xfrm>
            <a:off x="-1066800" y="838200"/>
            <a:ext cx="4800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The Problem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00F9E5-2E65-FEEA-9831-012DAC5344CD}"/>
              </a:ext>
            </a:extLst>
          </p:cNvPr>
          <p:cNvSpPr txBox="1"/>
          <p:nvPr/>
        </p:nvSpPr>
        <p:spPr>
          <a:xfrm>
            <a:off x="236780" y="1429243"/>
            <a:ext cx="10736020" cy="1477328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Listing-based platforms show many service providers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Limited intelligent filtering and matching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Users must manually compare providers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Time-consuming provider selection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Risk of choosing unsuitable or unavailable providers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B33B1B0-6D4C-3B34-A2F2-383F0BDC2A0A}"/>
              </a:ext>
            </a:extLst>
          </p:cNvPr>
          <p:cNvSpPr txBox="1">
            <a:spLocks/>
          </p:cNvSpPr>
          <p:nvPr/>
        </p:nvSpPr>
        <p:spPr>
          <a:xfrm>
            <a:off x="-533400" y="2773713"/>
            <a:ext cx="4800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Proposed Solution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A5795-8F7D-89FE-9C2E-1D9637B7B52A}"/>
              </a:ext>
            </a:extLst>
          </p:cNvPr>
          <p:cNvSpPr txBox="1"/>
          <p:nvPr/>
        </p:nvSpPr>
        <p:spPr>
          <a:xfrm>
            <a:off x="236780" y="3555064"/>
            <a:ext cx="11421820" cy="2308324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lvl="0"/>
            <a:r>
              <a:rPr lang="en-GB" b="1" dirty="0"/>
              <a:t>Component 1:</a:t>
            </a:r>
            <a:r>
              <a:rPr lang="en-GB" dirty="0"/>
              <a:t> Hybrid Recommendation Engine </a:t>
            </a:r>
          </a:p>
          <a:p>
            <a:pPr lvl="1"/>
            <a:r>
              <a:rPr lang="en-GB" dirty="0"/>
              <a:t>CF + CBF + BERT </a:t>
            </a:r>
          </a:p>
          <a:p>
            <a:pPr lvl="0"/>
            <a:r>
              <a:rPr lang="en-GB" b="1" dirty="0"/>
              <a:t>Component 2:</a:t>
            </a:r>
            <a:r>
              <a:rPr lang="en-GB" dirty="0"/>
              <a:t> Temporal &amp; Contextual Matching </a:t>
            </a:r>
          </a:p>
          <a:p>
            <a:pPr lvl="1"/>
            <a:r>
              <a:rPr lang="en-GB" dirty="0"/>
              <a:t>Availability + Location + Weather + Time </a:t>
            </a:r>
          </a:p>
          <a:p>
            <a:pPr lvl="0"/>
            <a:r>
              <a:rPr lang="en-GB" b="1" dirty="0"/>
              <a:t>Component 3:</a:t>
            </a:r>
            <a:r>
              <a:rPr lang="en-GB" dirty="0"/>
              <a:t> Skill Verification &amp; Credibility Scoring </a:t>
            </a:r>
          </a:p>
          <a:p>
            <a:pPr lvl="1"/>
            <a:r>
              <a:rPr lang="en-GB" dirty="0"/>
              <a:t>Provider skills + trustworthiness </a:t>
            </a:r>
          </a:p>
          <a:p>
            <a:pPr lvl="0"/>
            <a:r>
              <a:rPr lang="en-GB" b="1" dirty="0"/>
              <a:t>Component 4:</a:t>
            </a:r>
            <a:r>
              <a:rPr lang="en-GB" dirty="0"/>
              <a:t> Sentiment &amp; Review Credibility </a:t>
            </a:r>
          </a:p>
          <a:p>
            <a:pPr lvl="1"/>
            <a:r>
              <a:rPr lang="en-GB" dirty="0"/>
              <a:t>Bi-LSTM + fake review detection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F960D04-51FB-5739-7B17-C43FD0C7A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6604059"/>
            <a:ext cx="891617" cy="251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F72B95-3D66-9F83-7B33-2ABADA7690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817" y="99878"/>
            <a:ext cx="738077" cy="7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92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FCD3EA-7700-3759-DEF1-DE84ACE8FA24}"/>
              </a:ext>
            </a:extLst>
          </p:cNvPr>
          <p:cNvSpPr txBox="1">
            <a:spLocks/>
          </p:cNvSpPr>
          <p:nvPr/>
        </p:nvSpPr>
        <p:spPr>
          <a:xfrm>
            <a:off x="-152400" y="304801"/>
            <a:ext cx="4800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System Overview Diagram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8279A7-537C-A00F-A9D2-F4C7DEF0AB2D}"/>
              </a:ext>
            </a:extLst>
          </p:cNvPr>
          <p:cNvSpPr/>
          <p:nvPr/>
        </p:nvSpPr>
        <p:spPr>
          <a:xfrm rot="5400000">
            <a:off x="2271695" y="-2286443"/>
            <a:ext cx="320750" cy="486414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0640F9-0896-221B-4BA0-42DB36B9526B}"/>
              </a:ext>
            </a:extLst>
          </p:cNvPr>
          <p:cNvSpPr/>
          <p:nvPr/>
        </p:nvSpPr>
        <p:spPr>
          <a:xfrm>
            <a:off x="11871250" y="2133600"/>
            <a:ext cx="320750" cy="472439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1DAE88A-7D6A-0544-71F5-2E33B5D22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6604059"/>
            <a:ext cx="891617" cy="2514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2D6CDF-B330-7111-E861-9D2F9C2261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2598" y="145627"/>
            <a:ext cx="738077" cy="7380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1D46DE-196B-900A-E417-4EE2E57FE5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304801"/>
            <a:ext cx="4419600" cy="64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53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01A0-4B98-9C0C-C92B-6F2BFB182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66800" y="114301"/>
            <a:ext cx="6324600" cy="12192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02.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System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Video</a:t>
            </a:r>
            <a:b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</a:br>
            <a:endParaRPr lang="en-US" sz="3600" b="1" dirty="0">
              <a:solidFill>
                <a:schemeClr val="accent2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CDF4EB-9CEF-5B3A-EB13-1F411C38C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6604059"/>
            <a:ext cx="891617" cy="251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22D213-71B1-88B4-A3F8-92AA9B0A86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817" y="114301"/>
            <a:ext cx="738077" cy="7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82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F436E5-B08B-E0FB-8660-D4F182665E32}"/>
              </a:ext>
            </a:extLst>
          </p:cNvPr>
          <p:cNvSpPr/>
          <p:nvPr/>
        </p:nvSpPr>
        <p:spPr>
          <a:xfrm>
            <a:off x="9824720" y="12924"/>
            <a:ext cx="2362200" cy="295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3985" y="4278089"/>
            <a:ext cx="10363200" cy="1055911"/>
          </a:xfrm>
        </p:spPr>
        <p:txBody>
          <a:bodyPr/>
          <a:lstStyle/>
          <a:p>
            <a:pPr algn="ctr"/>
            <a:r>
              <a:rPr lang="en-US" sz="1800" kern="1400" spc="-5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BSc (Hons) Degree in Information Technology (specialization in Information Technology)</a:t>
            </a:r>
            <a:endParaRPr lang="en-US" sz="1800" kern="1400" spc="-50" dirty="0">
              <a:solidFill>
                <a:schemeClr val="bg1">
                  <a:lumMod val="50000"/>
                </a:schemeClr>
              </a:solidFill>
              <a:effectLst/>
              <a:latin typeface="Calibri Light" panose="020F030202020403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3094175E-FEA1-64A6-DEEE-132BE26D86CA}"/>
              </a:ext>
            </a:extLst>
          </p:cNvPr>
          <p:cNvSpPr/>
          <p:nvPr/>
        </p:nvSpPr>
        <p:spPr>
          <a:xfrm>
            <a:off x="-21265" y="0"/>
            <a:ext cx="989087" cy="3739285"/>
          </a:xfrm>
          <a:prstGeom prst="halfFram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9F83A78E-DC3B-4D4F-5C0E-19D5E26AD99D}"/>
              </a:ext>
            </a:extLst>
          </p:cNvPr>
          <p:cNvSpPr txBox="1">
            <a:spLocks/>
          </p:cNvSpPr>
          <p:nvPr/>
        </p:nvSpPr>
        <p:spPr>
          <a:xfrm>
            <a:off x="1117103" y="3124200"/>
            <a:ext cx="10363200" cy="8919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/>
            <a:r>
              <a:rPr lang="en-US" dirty="0">
                <a:latin typeface="+mn-lt"/>
              </a:rPr>
              <a:t>IT22371836 |</a:t>
            </a:r>
            <a:r>
              <a:rPr lang="en-US" dirty="0" err="1">
                <a:latin typeface="+mn-lt"/>
              </a:rPr>
              <a:t>Hewapathirana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n.t.</a:t>
            </a:r>
            <a:endParaRPr lang="en-US" dirty="0">
              <a:latin typeface="+mn-lt"/>
            </a:endParaRPr>
          </a:p>
        </p:txBody>
      </p:sp>
      <p:grpSp>
        <p:nvGrpSpPr>
          <p:cNvPr id="13" name="Group 21">
            <a:extLst>
              <a:ext uri="{FF2B5EF4-FFF2-40B4-BE49-F238E27FC236}">
                <a16:creationId xmlns:a16="http://schemas.microsoft.com/office/drawing/2014/main" id="{B94A1AFE-2F9F-384F-8C08-481BC8A62A52}"/>
              </a:ext>
            </a:extLst>
          </p:cNvPr>
          <p:cNvGrpSpPr/>
          <p:nvPr/>
        </p:nvGrpSpPr>
        <p:grpSpPr>
          <a:xfrm>
            <a:off x="5105400" y="685800"/>
            <a:ext cx="1981200" cy="2445900"/>
            <a:chOff x="0" y="0"/>
            <a:chExt cx="3698684" cy="4610862"/>
          </a:xfrm>
        </p:grpSpPr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641D286-1F9E-C905-FE40-191CF50A565B}"/>
                </a:ext>
              </a:extLst>
            </p:cNvPr>
            <p:cNvSpPr/>
            <p:nvPr/>
          </p:nvSpPr>
          <p:spPr>
            <a:xfrm>
              <a:off x="0" y="0"/>
              <a:ext cx="3698748" cy="4610862"/>
            </a:xfrm>
            <a:custGeom>
              <a:avLst/>
              <a:gdLst/>
              <a:ahLst/>
              <a:cxnLst/>
              <a:rect l="l" t="t" r="r" b="b"/>
              <a:pathLst>
                <a:path w="3698748" h="4610862">
                  <a:moveTo>
                    <a:pt x="0" y="0"/>
                  </a:moveTo>
                  <a:lnTo>
                    <a:pt x="3698748" y="0"/>
                  </a:lnTo>
                  <a:lnTo>
                    <a:pt x="3698748" y="4610862"/>
                  </a:lnTo>
                  <a:lnTo>
                    <a:pt x="0" y="4610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7" r="-6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0F49735-C976-0600-7725-5C6DFDDB1384}"/>
              </a:ext>
            </a:extLst>
          </p:cNvPr>
          <p:cNvSpPr txBox="1">
            <a:spLocks/>
          </p:cNvSpPr>
          <p:nvPr/>
        </p:nvSpPr>
        <p:spPr>
          <a:xfrm>
            <a:off x="972487" y="3312611"/>
            <a:ext cx="10363200" cy="10559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Adobe Devanagari"/>
                <a:ea typeface="Cambria Bold"/>
                <a:cs typeface="Cambria Bold"/>
                <a:sym typeface="Cambria Bold"/>
              </a:rPr>
              <a:t>Hybrid – Multialgorithm Recommendation Engine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F56D15-637F-43AA-BFA3-82F1775F3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729" y="6557358"/>
            <a:ext cx="1066892" cy="2819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8A49E-F922-4260-08F2-73EBCCE9FA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5687" y="76200"/>
            <a:ext cx="738077" cy="7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AB146DE-3675-4B17-44F2-8E48E2F8C227}"/>
              </a:ext>
            </a:extLst>
          </p:cNvPr>
          <p:cNvSpPr/>
          <p:nvPr/>
        </p:nvSpPr>
        <p:spPr>
          <a:xfrm>
            <a:off x="320750" y="457200"/>
            <a:ext cx="685800" cy="762000"/>
          </a:xfrm>
          <a:prstGeom prst="chevron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937C1E6B-B8DE-C7F2-BFC0-8C929E2BD199}"/>
              </a:ext>
            </a:extLst>
          </p:cNvPr>
          <p:cNvSpPr/>
          <p:nvPr/>
        </p:nvSpPr>
        <p:spPr>
          <a:xfrm>
            <a:off x="895736" y="457200"/>
            <a:ext cx="685800" cy="762000"/>
          </a:xfrm>
          <a:prstGeom prst="chevron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67811BC9-0B8A-4BE4-D699-4A6679EA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575" y="381000"/>
            <a:ext cx="9220202" cy="14478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Component 01: </a:t>
            </a:r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Adobe Devanagari"/>
                <a:sym typeface="Cambria Bold"/>
              </a:rPr>
              <a:t>Hybrid-Multialgorithm Recommendation Engine</a:t>
            </a:r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Adobe Devanagari"/>
                <a:ea typeface="Cambria Bold"/>
                <a:cs typeface="Cambria Bold"/>
                <a:sym typeface="Cambria Bold"/>
              </a:rPr>
              <a:t>.</a:t>
            </a:r>
            <a:b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Cambria Bold"/>
                <a:ea typeface="Cambria Bold"/>
                <a:cs typeface="Cambria Bold"/>
                <a:sym typeface="Cambria Bold"/>
              </a:rPr>
            </a:br>
            <a:endParaRPr lang="en-US" sz="32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A943AD-A617-C612-4A2F-9997E7A3033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22436838-6CE4-9080-00B1-BA3F782F4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45689"/>
            <a:ext cx="6705602" cy="669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i="0" dirty="0">
                <a:solidFill>
                  <a:schemeClr val="accent4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Research Problem</a:t>
            </a:r>
            <a:endParaRPr lang="en-US" sz="2800" b="1" dirty="0">
              <a:solidFill>
                <a:schemeClr val="accent4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83AD3D68-CD46-4AB9-47C9-6C03636BB9E1}"/>
              </a:ext>
            </a:extLst>
          </p:cNvPr>
          <p:cNvSpPr txBox="1"/>
          <p:nvPr/>
        </p:nvSpPr>
        <p:spPr>
          <a:xfrm>
            <a:off x="685773" y="2250029"/>
            <a:ext cx="11185450" cy="504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Large number of service providers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Limited intelligent provider matching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Keyword search lacks semantic understanding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CF depends on historical interactions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Provider credibility not directly considered</a:t>
            </a:r>
          </a:p>
          <a:p>
            <a:br>
              <a:rPr lang="en-GB" dirty="0"/>
            </a:br>
            <a:r>
              <a:rPr lang="en-GB" b="1" dirty="0"/>
              <a:t>Need for:</a:t>
            </a:r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Keyword relevance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Semantic similarity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User preferences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Provider credibility</a:t>
            </a:r>
          </a:p>
          <a:p>
            <a:pPr marL="244316" lvl="1">
              <a:lnSpc>
                <a:spcPts val="3240"/>
              </a:lnSpc>
            </a:pPr>
            <a:br>
              <a:rPr lang="en-GB" dirty="0"/>
            </a:br>
            <a:endParaRPr lang="en-GB" dirty="0"/>
          </a:p>
          <a:p>
            <a:pPr marL="244316" lvl="1">
              <a:lnSpc>
                <a:spcPts val="3240"/>
              </a:lnSpc>
            </a:pPr>
            <a:endParaRPr lang="en-GB" dirty="0"/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488632" lvl="1" indent="-244316">
              <a:lnSpc>
                <a:spcPts val="3240"/>
              </a:lnSpc>
            </a:pPr>
            <a:endParaRPr lang="en-US" dirty="0">
              <a:solidFill>
                <a:srgbClr val="000000"/>
              </a:solidFill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B93B4-FDD8-AB34-38A4-B023FCE07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8924" y="6492874"/>
            <a:ext cx="1066892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F8FDD5-950A-70D5-18B7-55CAB27637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816" y="138223"/>
            <a:ext cx="738077" cy="7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13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AF21F-9701-704B-295A-6A2D08D5C7B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3705EFF-B962-E372-12E5-D92C1C5EDC77}"/>
              </a:ext>
            </a:extLst>
          </p:cNvPr>
          <p:cNvSpPr txBox="1">
            <a:spLocks/>
          </p:cNvSpPr>
          <p:nvPr/>
        </p:nvSpPr>
        <p:spPr>
          <a:xfrm>
            <a:off x="304800" y="144303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Solution Approach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209C0F-74E9-23C8-5A0D-CDC2B9560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0" y="6576035"/>
            <a:ext cx="1066892" cy="281964"/>
          </a:xfrm>
          <a:prstGeom prst="rect">
            <a:avLst/>
          </a:prstGeom>
        </p:spPr>
      </p:pic>
      <p:sp>
        <p:nvSpPr>
          <p:cNvPr id="5" name="TextBox 12">
            <a:extLst>
              <a:ext uri="{FF2B5EF4-FFF2-40B4-BE49-F238E27FC236}">
                <a16:creationId xmlns:a16="http://schemas.microsoft.com/office/drawing/2014/main" id="{DC0C35EF-45D8-75D2-5AD6-9126B7E0CE61}"/>
              </a:ext>
            </a:extLst>
          </p:cNvPr>
          <p:cNvSpPr txBox="1"/>
          <p:nvPr/>
        </p:nvSpPr>
        <p:spPr>
          <a:xfrm>
            <a:off x="457201" y="723901"/>
            <a:ext cx="6172199" cy="8229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GB" b="1" dirty="0"/>
              <a:t>1</a:t>
            </a:r>
            <a:r>
              <a:rPr lang="en-GB" dirty="0"/>
              <a:t>.  </a:t>
            </a:r>
            <a:r>
              <a:rPr lang="en-GB" b="1" dirty="0"/>
              <a:t>TF-IDF Content Matching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Identifies keyword-level relevance.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Matches user request with provider descriptions.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2.  Multilingual BERT Semantic Matching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Understands contextual/semantic similarity.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Handles different words with similar meanings.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lvl="0" indent="-342900">
              <a:buAutoNum type="arabicPeriod" startAt="3"/>
            </a:pPr>
            <a:r>
              <a:rPr lang="en-GB" b="1" dirty="0"/>
              <a:t>Credibility-Based Collaborative Filtering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Uses historical user-provider interactions.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Incorporates provider credibility indicators.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Provides personalized recommendations.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lvl="0"/>
            <a:r>
              <a:rPr lang="en-GB" b="1" dirty="0"/>
              <a:t>Final Hybrid Ranking                                         Weights                             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Normalize scores to 0–1                                 TF-IDF → 30%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Apply weighted score fusion                         BERT → 35%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Generate Top-20 providers                            CF → 35%</a:t>
            </a:r>
          </a:p>
          <a:p>
            <a:pPr lvl="0"/>
            <a:endParaRPr lang="en-GB" dirty="0"/>
          </a:p>
          <a:p>
            <a:pPr lvl="0"/>
            <a:endParaRPr lang="en-GB" b="1" dirty="0"/>
          </a:p>
          <a:p>
            <a:pPr lvl="0"/>
            <a:endParaRPr lang="en-GB" b="1" dirty="0"/>
          </a:p>
          <a:p>
            <a:pPr marL="244316" lvl="1">
              <a:lnSpc>
                <a:spcPts val="3240"/>
              </a:lnSpc>
            </a:pPr>
            <a:br>
              <a:rPr lang="en-GB" dirty="0"/>
            </a:br>
            <a:br>
              <a:rPr lang="en-GB" dirty="0"/>
            </a:br>
            <a:endParaRPr lang="en-GB" dirty="0"/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488632" lvl="1" indent="-244316">
              <a:lnSpc>
                <a:spcPts val="3240"/>
              </a:lnSpc>
            </a:pPr>
            <a:endParaRPr lang="en-US" dirty="0">
              <a:solidFill>
                <a:srgbClr val="000000"/>
              </a:solidFill>
              <a:ea typeface="Cambria"/>
              <a:cs typeface="Cambria"/>
              <a:sym typeface="Cambri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18D19F-3E2E-F273-4972-117BE15FB3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0" y="110227"/>
            <a:ext cx="738077" cy="738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75917E-CE71-B10B-5661-44B76D0E3E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304800"/>
            <a:ext cx="4191000" cy="618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836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5FBFED-1432-AC53-2F41-A43C3F1587C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E19F0-8AEF-8CBC-C455-D83A2ED667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196" y="110227"/>
            <a:ext cx="635641" cy="635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27FC27-3498-5276-2B32-58F6BCE2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557316"/>
            <a:ext cx="1104996" cy="236240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DB187C8-3891-6E28-E35F-B03292AAEE76}"/>
              </a:ext>
            </a:extLst>
          </p:cNvPr>
          <p:cNvSpPr txBox="1">
            <a:spLocks/>
          </p:cNvSpPr>
          <p:nvPr/>
        </p:nvSpPr>
        <p:spPr>
          <a:xfrm>
            <a:off x="304800" y="144303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My Contribution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5F262F-3313-6BD3-3E68-7E6D3BD94FEC}"/>
              </a:ext>
            </a:extLst>
          </p:cNvPr>
          <p:cNvSpPr txBox="1"/>
          <p:nvPr/>
        </p:nvSpPr>
        <p:spPr>
          <a:xfrm>
            <a:off x="381000" y="81423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Developed Credibility-Based CF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Extended conventional interaction-based recommendation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Integrated provider credibility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Used three credibility signals: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Average Rating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Booking Success Rate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Interaction Frequency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Added user-history personalization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Integrated TF-IDF + BERT + CF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Generated hybrid Top-20 ranking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6199FD-0ED8-3378-1C73-36D418EF1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479265"/>
            <a:ext cx="6705602" cy="537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4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E1AA3A-7128-51C6-E608-8C10D144A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"/>
            <a:ext cx="6705602" cy="669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i="0" dirty="0">
                <a:solidFill>
                  <a:schemeClr val="accent4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Achievement Evidence</a:t>
            </a:r>
            <a:endParaRPr lang="en-US" sz="2800" b="1" dirty="0">
              <a:solidFill>
                <a:schemeClr val="accent4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95C8B9-7C91-49D1-3D11-964DF1FEE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0"/>
            <a:ext cx="10591800" cy="4324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DD0BFC-C40F-77B9-4365-325B0D868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146" y="6581482"/>
            <a:ext cx="1188823" cy="24386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3664228-D91B-1108-EB47-02B17EF6FF93}"/>
              </a:ext>
            </a:extLst>
          </p:cNvPr>
          <p:cNvSpPr/>
          <p:nvPr/>
        </p:nvSpPr>
        <p:spPr>
          <a:xfrm>
            <a:off x="28194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BBC786-CBA5-570B-B12D-2633A5A4AA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152400"/>
            <a:ext cx="738077" cy="7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60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8C20AC-C3D9-7C83-1B1C-BEC4AEB38A2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663E417-E795-DC94-7CF0-8F79F137351C}"/>
              </a:ext>
            </a:extLst>
          </p:cNvPr>
          <p:cNvSpPr txBox="1">
            <a:spLocks/>
          </p:cNvSpPr>
          <p:nvPr/>
        </p:nvSpPr>
        <p:spPr>
          <a:xfrm>
            <a:off x="228600" y="381000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endParaRPr lang="en-US" sz="8000" b="1" dirty="0">
              <a:solidFill>
                <a:schemeClr val="accent1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F07A1-47CE-A114-5825-AD46A5B08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6576035"/>
            <a:ext cx="1066892" cy="281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6219A2-B196-FFFC-060E-3787297CF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9" y="1050926"/>
            <a:ext cx="9067801" cy="51974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FF79DF-7B67-6464-9D60-93907A5B57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4848" y="152400"/>
            <a:ext cx="738077" cy="7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04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B0D86C-0139-0E2F-9406-E2F72DABCD4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12A390-1CF0-1EC5-7E38-9E33356D7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6576035"/>
            <a:ext cx="1066892" cy="2819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0D33B9-0809-FFEB-8DC3-2CEB1BAAA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447801"/>
            <a:ext cx="10058400" cy="42483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3DD574-0F3D-AFBB-01F7-8C39A24B09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92" y="76200"/>
            <a:ext cx="738077" cy="7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01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E8E010-86F0-6739-20C5-FBF621BB4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3761" y="6573577"/>
            <a:ext cx="1066892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D3C55D-0449-654A-1796-56B073DFC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7801"/>
            <a:ext cx="11353800" cy="43028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2E5B7E0-954E-6E65-9E0C-1A2E47F525F5}"/>
              </a:ext>
            </a:extLst>
          </p:cNvPr>
          <p:cNvSpPr/>
          <p:nvPr/>
        </p:nvSpPr>
        <p:spPr>
          <a:xfrm>
            <a:off x="27432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AAC2BC-0188-55CA-8497-CBFAF2F7AD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823" y="152400"/>
            <a:ext cx="738077" cy="7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475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4A55E9-8C38-EB7E-755E-4D894C722CA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3F6B6D-E6A5-FED1-1B5F-71AFAB022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387" y="6576035"/>
            <a:ext cx="1066892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F439BA-EC3C-BABD-F977-F0D92D821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55674"/>
            <a:ext cx="5257800" cy="463699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00D82E2-1F2B-1D6C-3BA7-DA475F8398C3}"/>
              </a:ext>
            </a:extLst>
          </p:cNvPr>
          <p:cNvSpPr txBox="1">
            <a:spLocks/>
          </p:cNvSpPr>
          <p:nvPr/>
        </p:nvSpPr>
        <p:spPr>
          <a:xfrm>
            <a:off x="457200" y="168273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Research Paper Submission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352924-4CDB-0260-8311-B6D219C9D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55674"/>
            <a:ext cx="5556380" cy="47664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24A242-73B6-30A8-7381-E64920CBD9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41" y="56381"/>
            <a:ext cx="738077" cy="7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3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IT22190048</a:t>
            </a:r>
            <a:r>
              <a:rPr lang="en-US" sz="1800" dirty="0">
                <a:solidFill>
                  <a:schemeClr val="tx1"/>
                </a:solidFill>
              </a:rPr>
              <a:t>   |   Masakorala A.H.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F436E5-B08B-E0FB-8660-D4F182665E32}"/>
              </a:ext>
            </a:extLst>
          </p:cNvPr>
          <p:cNvSpPr/>
          <p:nvPr/>
        </p:nvSpPr>
        <p:spPr>
          <a:xfrm>
            <a:off x="9824720" y="0"/>
            <a:ext cx="2362200" cy="295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03" y="2971800"/>
            <a:ext cx="10363200" cy="891950"/>
          </a:xfrm>
        </p:spPr>
        <p:txBody>
          <a:bodyPr/>
          <a:lstStyle/>
          <a:p>
            <a:pPr algn="ctr"/>
            <a:r>
              <a:rPr lang="en-US" dirty="0"/>
              <a:t>IT22190048 | Masakorala A.H.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3985" y="4278089"/>
            <a:ext cx="10363200" cy="1055911"/>
          </a:xfrm>
        </p:spPr>
        <p:txBody>
          <a:bodyPr/>
          <a:lstStyle/>
          <a:p>
            <a:pPr algn="ctr"/>
            <a:r>
              <a:rPr lang="en-US" sz="1800" kern="1400" spc="-50" dirty="0">
                <a:effectLst/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BSc (Hons) Degree in Information Technology (specialization in Information Technology)</a:t>
            </a:r>
            <a:endParaRPr lang="en-US" sz="1800" kern="1400" spc="-50" dirty="0">
              <a:effectLst/>
              <a:latin typeface="Calibri Light" panose="020F030202020403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3094175E-FEA1-64A6-DEEE-132BE26D86CA}"/>
              </a:ext>
            </a:extLst>
          </p:cNvPr>
          <p:cNvSpPr/>
          <p:nvPr/>
        </p:nvSpPr>
        <p:spPr>
          <a:xfrm>
            <a:off x="-21265" y="0"/>
            <a:ext cx="989087" cy="3739285"/>
          </a:xfrm>
          <a:prstGeom prst="halfFram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36AF3C6-08AB-0296-C30E-D8A2D25080A7}"/>
              </a:ext>
            </a:extLst>
          </p:cNvPr>
          <p:cNvSpPr txBox="1">
            <a:spLocks/>
          </p:cNvSpPr>
          <p:nvPr/>
        </p:nvSpPr>
        <p:spPr>
          <a:xfrm>
            <a:off x="1093985" y="3439889"/>
            <a:ext cx="10363200" cy="10559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Adobe Devanagari"/>
                <a:ea typeface="Cambria Bold"/>
                <a:cs typeface="Cambria Bold"/>
                <a:sym typeface="Cambria Bold"/>
              </a:rPr>
              <a:t>Temporal and Contextual Matching System for Service Provider Recommendations(Availability, Location, Weather, and Time Factors).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B0A408-1C91-565F-9512-7D762A3957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917" y="777661"/>
            <a:ext cx="1922283" cy="190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797314-ADA1-4342-41E8-E14F71EEB8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378" y="58634"/>
            <a:ext cx="738077" cy="7380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C43DC6-99E5-3DAC-A413-8619F1D57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7305" y="6532643"/>
            <a:ext cx="1371719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64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D9F080-0780-4554-8055-A289E0D4EDA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IT22190048</a:t>
            </a:r>
            <a:r>
              <a:rPr lang="en-US" sz="1800" dirty="0">
                <a:solidFill>
                  <a:schemeClr val="tx1"/>
                </a:solidFill>
              </a:rPr>
              <a:t>   |   Masakorala A</a:t>
            </a:r>
            <a:r>
              <a:rPr lang="en-US" dirty="0">
                <a:solidFill>
                  <a:schemeClr val="tx1"/>
                </a:solidFill>
              </a:rPr>
              <a:t>.H.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DA210F-8948-EF8B-4488-6E4911E2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598" y="228600"/>
            <a:ext cx="9220202" cy="17526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chemeClr val="accent4">
                    <a:lumMod val="50000"/>
                  </a:schemeClr>
                </a:solidFill>
              </a:rPr>
              <a:t>Component 02: </a:t>
            </a:r>
            <a:r>
              <a:rPr lang="en-US" sz="2700" b="1" dirty="0">
                <a:solidFill>
                  <a:schemeClr val="accent4">
                    <a:lumMod val="50000"/>
                  </a:schemeClr>
                </a:solidFill>
                <a:latin typeface="Adobe Devanagari"/>
                <a:ea typeface="Cambria Bold"/>
                <a:cs typeface="Cambria Bold"/>
                <a:sym typeface="Cambria Bold"/>
              </a:rPr>
              <a:t>Temporal and Contextual Matching System for Service Provider Recommendations(Availability, Location, Weather, and Time Factors).</a:t>
            </a:r>
            <a:br>
              <a:rPr lang="en-US" sz="27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</a:br>
            <a:endParaRPr lang="en-US" sz="2700" b="1" dirty="0">
              <a:solidFill>
                <a:schemeClr val="accent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AB146DE-3675-4B17-44F2-8E48E2F8C227}"/>
              </a:ext>
            </a:extLst>
          </p:cNvPr>
          <p:cNvSpPr/>
          <p:nvPr/>
        </p:nvSpPr>
        <p:spPr>
          <a:xfrm>
            <a:off x="320750" y="457200"/>
            <a:ext cx="685800" cy="762000"/>
          </a:xfrm>
          <a:prstGeom prst="chevron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937C1E6B-B8DE-C7F2-BFC0-8C929E2BD199}"/>
              </a:ext>
            </a:extLst>
          </p:cNvPr>
          <p:cNvSpPr/>
          <p:nvPr/>
        </p:nvSpPr>
        <p:spPr>
          <a:xfrm>
            <a:off x="895736" y="457200"/>
            <a:ext cx="685800" cy="762000"/>
          </a:xfrm>
          <a:prstGeom prst="chevron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11E04A-A8C1-3367-7FD1-72658B1A5D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6739" y="88161"/>
            <a:ext cx="738077" cy="738077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ADCFDB2-215A-0DE9-0DA7-647BC770F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50" y="1524000"/>
            <a:ext cx="6705602" cy="669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i="0" dirty="0">
                <a:solidFill>
                  <a:schemeClr val="accent4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Research Problem</a:t>
            </a:r>
            <a:endParaRPr lang="en-US" sz="2800" b="1" dirty="0">
              <a:solidFill>
                <a:schemeClr val="accent4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6E14D2-C7AD-1575-BF81-922324743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6542074"/>
            <a:ext cx="1371719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51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D9F080-0780-4554-8055-A289E0D4EDA8}"/>
              </a:ext>
            </a:extLst>
          </p:cNvPr>
          <p:cNvSpPr/>
          <p:nvPr/>
        </p:nvSpPr>
        <p:spPr>
          <a:xfrm>
            <a:off x="2577350" y="6479138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IT22190048</a:t>
            </a:r>
            <a:r>
              <a:rPr lang="en-US" sz="1800" dirty="0">
                <a:solidFill>
                  <a:schemeClr val="tx1"/>
                </a:solidFill>
              </a:rPr>
              <a:t>   |   Masakorala A.H.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cs typeface="Arial" panose="020B0604020202020204" pitchFamily="34" charset="0"/>
              </a:rPr>
              <a:t>RP26-</a:t>
            </a:r>
            <a:r>
              <a:rPr lang="en-US" dirty="0">
                <a:solidFill>
                  <a:schemeClr val="tx1"/>
                </a:solidFill>
                <a:latin typeface="Century Gothic (Headings)"/>
                <a:cs typeface="Arial" panose="020B0604020202020204" pitchFamily="34" charset="0"/>
              </a:rPr>
              <a:t>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7A891-54FA-23C7-BE39-6CDDE83691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3565" y="187628"/>
            <a:ext cx="738077" cy="738077"/>
          </a:xfrm>
          <a:prstGeom prst="rect">
            <a:avLst/>
          </a:prstGeom>
        </p:spPr>
      </p:pic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C69BC372-2ECC-FE3C-9F31-5EB5AC3532DE}"/>
              </a:ext>
            </a:extLst>
          </p:cNvPr>
          <p:cNvSpPr txBox="1">
            <a:spLocks/>
          </p:cNvSpPr>
          <p:nvPr/>
        </p:nvSpPr>
        <p:spPr>
          <a:xfrm>
            <a:off x="304800" y="144303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Solution Approach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B042B6-0152-A7AF-DD6E-3E7058D4A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630" y="6567950"/>
            <a:ext cx="1371719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98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733F211-19FA-079F-A5C2-F3BF5A2A411F}"/>
              </a:ext>
            </a:extLst>
          </p:cNvPr>
          <p:cNvSpPr txBox="1">
            <a:spLocks/>
          </p:cNvSpPr>
          <p:nvPr/>
        </p:nvSpPr>
        <p:spPr>
          <a:xfrm>
            <a:off x="304800" y="144303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Achievement Evidence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201921-A316-AA19-2FD8-5E5504087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6591277"/>
            <a:ext cx="1371719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97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C6CBF-7A36-063A-3B48-B13C3AAB8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27957F-715F-82AF-1345-E6CADAB6F1A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IT22117182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ROOPASINGHE EMNS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49A6B7-9D34-0D1A-B965-C4B87F807A39}"/>
              </a:ext>
            </a:extLst>
          </p:cNvPr>
          <p:cNvSpPr/>
          <p:nvPr/>
        </p:nvSpPr>
        <p:spPr>
          <a:xfrm>
            <a:off x="9824720" y="12924"/>
            <a:ext cx="2362200" cy="295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7057F5-666C-0813-90B8-16D37C9B7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03" y="2971800"/>
            <a:ext cx="10363200" cy="891950"/>
          </a:xfrm>
        </p:spPr>
        <p:txBody>
          <a:bodyPr/>
          <a:lstStyle/>
          <a:p>
            <a:pPr algn="ctr"/>
            <a:r>
              <a:rPr lang="en-US" dirty="0"/>
              <a:t>IT22117182 | ROOPASINGHE EMNS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537F77-4754-4466-3B80-8432E9D2B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3985" y="4278089"/>
            <a:ext cx="10363200" cy="1055911"/>
          </a:xfrm>
        </p:spPr>
        <p:txBody>
          <a:bodyPr/>
          <a:lstStyle/>
          <a:p>
            <a:pPr algn="ctr"/>
            <a:r>
              <a:rPr lang="en-US" sz="1800" kern="1400" spc="-50" dirty="0">
                <a:effectLst/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BSc (Hons) Degree in Information Technology (specialization in Information Technology)</a:t>
            </a:r>
            <a:endParaRPr lang="en-US" sz="1800" kern="1400" spc="-50" dirty="0">
              <a:effectLst/>
              <a:latin typeface="Calibri Light" panose="020F030202020403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62CC1A84-870E-AA70-2021-877117435626}"/>
              </a:ext>
            </a:extLst>
          </p:cNvPr>
          <p:cNvSpPr/>
          <p:nvPr/>
        </p:nvSpPr>
        <p:spPr>
          <a:xfrm>
            <a:off x="-21265" y="0"/>
            <a:ext cx="989087" cy="3739285"/>
          </a:xfrm>
          <a:prstGeom prst="halfFram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04A6161A-DA15-6C42-36A1-C3AE540B0416}"/>
              </a:ext>
            </a:extLst>
          </p:cNvPr>
          <p:cNvSpPr txBox="1">
            <a:spLocks/>
          </p:cNvSpPr>
          <p:nvPr/>
        </p:nvSpPr>
        <p:spPr>
          <a:xfrm>
            <a:off x="1093985" y="3439889"/>
            <a:ext cx="10363200" cy="10559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Dynamic Skill Verification &amp; Provider Credibility Scoring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91469E-762A-AFC6-2415-2DE682CF66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903" y="76200"/>
            <a:ext cx="738077" cy="7380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6C1247-B330-6CD0-424D-7DB3FCB52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6568" y="6578353"/>
            <a:ext cx="1371719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800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D9F080-0780-4554-8055-A289E0D4EDA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DA210F-8948-EF8B-4488-6E4911E2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598" y="228600"/>
            <a:ext cx="9220202" cy="1752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2700" b="1" dirty="0">
                <a:solidFill>
                  <a:schemeClr val="accent3">
                    <a:lumMod val="50000"/>
                  </a:schemeClr>
                </a:solidFill>
              </a:rPr>
              <a:t>Component 03: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Dynamic Skill Verification &amp; Provider Credibility Scoring Model</a:t>
            </a:r>
            <a:br>
              <a:rPr lang="en-US" sz="2700" b="1" dirty="0">
                <a:solidFill>
                  <a:schemeClr val="accent1"/>
                </a:solidFill>
              </a:rPr>
            </a:br>
            <a:br>
              <a:rPr lang="en-US" sz="27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</a:br>
            <a:endParaRPr lang="en-US" sz="2700" b="1" dirty="0">
              <a:solidFill>
                <a:schemeClr val="accent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AB146DE-3675-4B17-44F2-8E48E2F8C227}"/>
              </a:ext>
            </a:extLst>
          </p:cNvPr>
          <p:cNvSpPr/>
          <p:nvPr/>
        </p:nvSpPr>
        <p:spPr>
          <a:xfrm>
            <a:off x="320750" y="457200"/>
            <a:ext cx="685800" cy="762000"/>
          </a:xfrm>
          <a:prstGeom prst="chevron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937C1E6B-B8DE-C7F2-BFC0-8C929E2BD199}"/>
              </a:ext>
            </a:extLst>
          </p:cNvPr>
          <p:cNvSpPr/>
          <p:nvPr/>
        </p:nvSpPr>
        <p:spPr>
          <a:xfrm>
            <a:off x="895736" y="457200"/>
            <a:ext cx="685800" cy="762000"/>
          </a:xfrm>
          <a:prstGeom prst="chevron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B472E0-A1DD-0A86-209B-1B12C0284AEF}"/>
              </a:ext>
            </a:extLst>
          </p:cNvPr>
          <p:cNvSpPr/>
          <p:nvPr/>
        </p:nvSpPr>
        <p:spPr>
          <a:xfrm>
            <a:off x="2632435" y="646954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IT22117182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ROOPASINGHE EMNS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450180-0E80-24F4-094C-C9652E6044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264" y="100123"/>
            <a:ext cx="738077" cy="738077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9867556A-607F-6F8F-B7B0-7A999B78D0F8}"/>
              </a:ext>
            </a:extLst>
          </p:cNvPr>
          <p:cNvSpPr txBox="1">
            <a:spLocks/>
          </p:cNvSpPr>
          <p:nvPr/>
        </p:nvSpPr>
        <p:spPr>
          <a:xfrm>
            <a:off x="228600" y="1334601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Research Problem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B3B04A7-59D5-BB13-FEBB-E33A9C000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6591276"/>
            <a:ext cx="1371719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713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92A20-CAFC-3525-89AA-5C02BB2FC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D83AE66-F51D-372E-A2C0-91E565FDFEB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IT22117182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ROOPASINGHE EMNS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75A2F7-C6F7-5835-50C5-9F7FFC21BA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214" y="104553"/>
            <a:ext cx="738077" cy="738077"/>
          </a:xfrm>
          <a:prstGeom prst="rect">
            <a:avLst/>
          </a:prstGeom>
        </p:spPr>
      </p:pic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37914421-DA57-40A8-8A01-829430F336D2}"/>
              </a:ext>
            </a:extLst>
          </p:cNvPr>
          <p:cNvSpPr txBox="1">
            <a:spLocks/>
          </p:cNvSpPr>
          <p:nvPr/>
        </p:nvSpPr>
        <p:spPr>
          <a:xfrm>
            <a:off x="304800" y="144303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Solution Approach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99B5BD1-4303-1462-C3FC-4B39877D6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683" y="3074815"/>
            <a:ext cx="1371719" cy="34180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E74A916-FD1A-E03C-996F-FBF68F882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495" y="6516201"/>
            <a:ext cx="1371719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463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03D59F2-98C7-B377-5E21-3A3869047F12}"/>
              </a:ext>
            </a:extLst>
          </p:cNvPr>
          <p:cNvSpPr txBox="1">
            <a:spLocks/>
          </p:cNvSpPr>
          <p:nvPr/>
        </p:nvSpPr>
        <p:spPr>
          <a:xfrm>
            <a:off x="304800" y="144303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Achievement Evidence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14C6E-EBCA-DA44-EE15-DFD40F0E6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6558620"/>
            <a:ext cx="1371719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407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F436E5-B08B-E0FB-8660-D4F182665E32}"/>
              </a:ext>
            </a:extLst>
          </p:cNvPr>
          <p:cNvSpPr/>
          <p:nvPr/>
        </p:nvSpPr>
        <p:spPr>
          <a:xfrm>
            <a:off x="9824720" y="0"/>
            <a:ext cx="2362200" cy="295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822" y="3268402"/>
            <a:ext cx="10363200" cy="12614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 IT22914200|Tharushika </a:t>
            </a:r>
            <a:r>
              <a:rPr lang="en-US" dirty="0" err="1"/>
              <a:t>w.a.m</a:t>
            </a:r>
            <a:r>
              <a:rPr lang="en-US" dirty="0"/>
              <a:t>.</a:t>
            </a:r>
            <a:br>
              <a:rPr lang="en-US" dirty="0"/>
            </a:br>
            <a:r>
              <a:rPr lang="en-US" sz="2700" cap="none" dirty="0">
                <a:solidFill>
                  <a:schemeClr val="accent3">
                    <a:lumMod val="50000"/>
                  </a:schemeClr>
                </a:solidFill>
                <a:latin typeface="Adobe Devanagari"/>
                <a:ea typeface="Cambria Bold"/>
                <a:cs typeface="Cambria Bold"/>
                <a:sym typeface="Cambria Bold"/>
              </a:rPr>
              <a:t>Bi-LSTM Based Sentiment Analysis &amp; Review </a:t>
            </a:r>
            <a:r>
              <a:rPr lang="en-US" sz="2700" cap="none" dirty="0" err="1">
                <a:solidFill>
                  <a:schemeClr val="accent3">
                    <a:lumMod val="50000"/>
                  </a:schemeClr>
                </a:solidFill>
                <a:latin typeface="Adobe Devanagari"/>
                <a:ea typeface="Cambria Bold"/>
                <a:cs typeface="Cambria Bold"/>
                <a:sym typeface="Cambria Bold"/>
              </a:rPr>
              <a:t>Credibilty</a:t>
            </a:r>
            <a:r>
              <a:rPr lang="en-US" sz="2700" cap="none" dirty="0">
                <a:solidFill>
                  <a:schemeClr val="accent3">
                    <a:lumMod val="50000"/>
                  </a:schemeClr>
                </a:solidFill>
                <a:latin typeface="Adobe Devanagari"/>
                <a:ea typeface="Cambria Bold"/>
                <a:cs typeface="Cambria Bold"/>
                <a:sym typeface="Cambria Bold"/>
              </a:rPr>
              <a:t> Module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3985" y="4278089"/>
            <a:ext cx="10363200" cy="1055911"/>
          </a:xfrm>
        </p:spPr>
        <p:txBody>
          <a:bodyPr/>
          <a:lstStyle/>
          <a:p>
            <a:pPr algn="ctr"/>
            <a:r>
              <a:rPr lang="en-US" sz="1800" kern="1400" spc="-50" dirty="0">
                <a:effectLst/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BSc (Hons) Degree in Information Technology (specialization in Information Technology)</a:t>
            </a:r>
            <a:endParaRPr lang="en-US" sz="1800" kern="1400" spc="-50" dirty="0">
              <a:effectLst/>
              <a:latin typeface="Calibri Light" panose="020F030202020403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3094175E-FEA1-64A6-DEEE-132BE26D86CA}"/>
              </a:ext>
            </a:extLst>
          </p:cNvPr>
          <p:cNvSpPr/>
          <p:nvPr/>
        </p:nvSpPr>
        <p:spPr>
          <a:xfrm>
            <a:off x="-21265" y="0"/>
            <a:ext cx="989087" cy="3739285"/>
          </a:xfrm>
          <a:prstGeom prst="halfFram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D40023-C691-6685-7747-266612AD7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8640" y="54881"/>
            <a:ext cx="850837" cy="838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2BC1EF-1AA8-137C-C79B-5FEC98688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894" y="473981"/>
            <a:ext cx="2246894" cy="2794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F51234-815B-D8DD-163A-00F403675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729" y="6576035"/>
            <a:ext cx="1066892" cy="28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01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AB146DE-3675-4B17-44F2-8E48E2F8C227}"/>
              </a:ext>
            </a:extLst>
          </p:cNvPr>
          <p:cNvSpPr/>
          <p:nvPr/>
        </p:nvSpPr>
        <p:spPr>
          <a:xfrm>
            <a:off x="320750" y="457200"/>
            <a:ext cx="685800" cy="762000"/>
          </a:xfrm>
          <a:prstGeom prst="chevron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937C1E6B-B8DE-C7F2-BFC0-8C929E2BD199}"/>
              </a:ext>
            </a:extLst>
          </p:cNvPr>
          <p:cNvSpPr/>
          <p:nvPr/>
        </p:nvSpPr>
        <p:spPr>
          <a:xfrm>
            <a:off x="895736" y="457200"/>
            <a:ext cx="685800" cy="762000"/>
          </a:xfrm>
          <a:prstGeom prst="chevron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D116CC-3B08-EC92-73C7-496FE3680A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816" y="59769"/>
            <a:ext cx="855458" cy="842751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4D9ECAE6-9EA8-0439-FA73-544C0713E8AA}"/>
              </a:ext>
            </a:extLst>
          </p:cNvPr>
          <p:cNvSpPr txBox="1">
            <a:spLocks/>
          </p:cNvSpPr>
          <p:nvPr/>
        </p:nvSpPr>
        <p:spPr>
          <a:xfrm>
            <a:off x="1581536" y="252983"/>
            <a:ext cx="9220202" cy="1447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l"/>
            <a:r>
              <a:rPr lang="en-US" sz="2700" b="1" dirty="0">
                <a:solidFill>
                  <a:schemeClr val="accent3">
                    <a:lumMod val="50000"/>
                  </a:schemeClr>
                </a:solidFill>
              </a:rPr>
              <a:t>Component 04: Bi-LSTM Based Sentiment Analysis &amp; Review Credibility Module </a:t>
            </a:r>
            <a:br>
              <a:rPr lang="en-US" sz="27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</a:br>
            <a:endParaRPr lang="en-US" sz="2700" b="1" dirty="0">
              <a:solidFill>
                <a:schemeClr val="accen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7A465E-3696-7A2C-13E0-BC252E534AE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D304CA-0544-E3F8-E214-A418F577F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8924" y="6553200"/>
            <a:ext cx="1066892" cy="281964"/>
          </a:xfrm>
          <a:prstGeom prst="rect">
            <a:avLst/>
          </a:prstGeom>
        </p:spPr>
      </p:pic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37E0ECF-9BDE-C80B-9955-E0C68C072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331" y="1570036"/>
            <a:ext cx="6705602" cy="669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i="0" dirty="0">
                <a:solidFill>
                  <a:schemeClr val="accent4">
                    <a:lumMod val="75000"/>
                  </a:schemeClr>
                </a:solidFill>
                <a:effectLst/>
              </a:rPr>
              <a:t>Research Problem</a:t>
            </a:r>
            <a:endParaRPr lang="en-US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519A97-0E11-D268-6333-14574BD1966F}"/>
              </a:ext>
            </a:extLst>
          </p:cNvPr>
          <p:cNvSpPr txBox="1"/>
          <p:nvPr/>
        </p:nvSpPr>
        <p:spPr>
          <a:xfrm>
            <a:off x="457200" y="2312340"/>
            <a:ext cx="11049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Heavy reliance on overall ratings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Limited aspect-level service evaluation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Reviews may be suspicious or unreliable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Sentiment &amp; credibility often </a:t>
            </a:r>
            <a:r>
              <a:rPr lang="en-GB" dirty="0" err="1"/>
              <a:t>analyzed</a:t>
            </a:r>
            <a:r>
              <a:rPr lang="en-GB" dirty="0"/>
              <a:t> separately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Lack of trust-aware provider ranking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Need to identify trustworthy providers, not just highly rated ones</a:t>
            </a:r>
          </a:p>
        </p:txBody>
      </p:sp>
    </p:spTree>
    <p:extLst>
      <p:ext uri="{BB962C8B-B14F-4D97-AF65-F5344CB8AC3E}">
        <p14:creationId xmlns:p14="http://schemas.microsoft.com/office/powerpoint/2010/main" val="2719335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9879022A-5E7E-39D8-E7EF-EC2179C7E74B}"/>
              </a:ext>
            </a:extLst>
          </p:cNvPr>
          <p:cNvSpPr txBox="1">
            <a:spLocks/>
          </p:cNvSpPr>
          <p:nvPr/>
        </p:nvSpPr>
        <p:spPr>
          <a:xfrm>
            <a:off x="228600" y="228600"/>
            <a:ext cx="6705602" cy="669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Solution Approach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8E62C8-4CFE-2058-6D8B-01C697DF17AD}"/>
              </a:ext>
            </a:extLst>
          </p:cNvPr>
          <p:cNvSpPr/>
          <p:nvPr/>
        </p:nvSpPr>
        <p:spPr>
          <a:xfrm>
            <a:off x="29926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91D87-4DA6-BC36-06BF-97FBB839BD6B}"/>
              </a:ext>
            </a:extLst>
          </p:cNvPr>
          <p:cNvSpPr txBox="1"/>
          <p:nvPr/>
        </p:nvSpPr>
        <p:spPr>
          <a:xfrm>
            <a:off x="305703" y="1110377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Receive Top-10 candidates from Component 2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/>
              <a:t>Analyze</a:t>
            </a:r>
            <a:r>
              <a:rPr lang="en-GB" dirty="0"/>
              <a:t> customer reviews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Multi-Task Bi-LSTM + Multi-Head Attention → Aspect Sentiment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Isolation Forest → Review Credibility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CATF → Fuse Sentiment + Trust Signals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Calculate Provider Trust Score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Re-rank candidate providers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Return Top-5 Trustworthy Providers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B4450E-4535-C519-4EA6-6C3A75322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14300"/>
            <a:ext cx="4204883" cy="63073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66B4FE-7958-7DA7-5D50-E42C85954B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113" y="114300"/>
            <a:ext cx="738077" cy="7380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885B46-62EE-CEEC-A0F2-0FF06F739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8614" y="6576665"/>
            <a:ext cx="1371719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81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B230B-72BD-8EC6-7CDF-C07DC95B5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6565464"/>
            <a:ext cx="1348857" cy="30482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219B72-83C9-E6D7-B0E5-EB5E6452CBA7}"/>
              </a:ext>
            </a:extLst>
          </p:cNvPr>
          <p:cNvSpPr/>
          <p:nvPr/>
        </p:nvSpPr>
        <p:spPr>
          <a:xfrm>
            <a:off x="29718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5902254D-8AD7-5468-0DF7-34A3B1187906}"/>
              </a:ext>
            </a:extLst>
          </p:cNvPr>
          <p:cNvSpPr txBox="1">
            <a:spLocks/>
          </p:cNvSpPr>
          <p:nvPr/>
        </p:nvSpPr>
        <p:spPr>
          <a:xfrm>
            <a:off x="228600" y="228600"/>
            <a:ext cx="6705602" cy="669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My Contribution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70FBEC-ECF4-9149-7137-C92B28E4B624}"/>
              </a:ext>
            </a:extLst>
          </p:cNvPr>
          <p:cNvSpPr txBox="1"/>
          <p:nvPr/>
        </p:nvSpPr>
        <p:spPr>
          <a:xfrm>
            <a:off x="228600" y="910817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Developed a Trust-Aware Review Intelligence component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Integrated aspect-level sentiment with review credibility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Evaluated 4 service-quality aspects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Applied Multi-Task Bi-LSTM + Multi-Head Attention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Applied Isolation Forest for suspicious review detection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Proposed CATF-based trust-aware fusion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Calculated provider-level trust scores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Re-ranked candidates to generate the Final Top-5 providers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81E2C2-C9B0-D395-A987-443C3AE88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92075"/>
            <a:ext cx="549086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321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9A3B5528-03B4-D961-0D01-810C1ECDB876}"/>
              </a:ext>
            </a:extLst>
          </p:cNvPr>
          <p:cNvSpPr txBox="1">
            <a:spLocks/>
          </p:cNvSpPr>
          <p:nvPr/>
        </p:nvSpPr>
        <p:spPr>
          <a:xfrm>
            <a:off x="228600" y="228601"/>
            <a:ext cx="10134600" cy="45719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900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Achievement Evidence</a:t>
            </a:r>
          </a:p>
          <a:p>
            <a:pPr marL="0" indent="0">
              <a:buFont typeface="Arial" pitchFamily="34" charset="0"/>
              <a:buNone/>
            </a:pPr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5F5599-3BB2-013B-19C6-398721B2DC7B}"/>
              </a:ext>
            </a:extLst>
          </p:cNvPr>
          <p:cNvSpPr/>
          <p:nvPr/>
        </p:nvSpPr>
        <p:spPr>
          <a:xfrm>
            <a:off x="303057" y="768750"/>
            <a:ext cx="4040344" cy="60285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E43DD-E4CC-030F-116A-34E0B832CA6A}"/>
              </a:ext>
            </a:extLst>
          </p:cNvPr>
          <p:cNvSpPr txBox="1"/>
          <p:nvPr/>
        </p:nvSpPr>
        <p:spPr>
          <a:xfrm>
            <a:off x="369456" y="829862"/>
            <a:ext cx="426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Aptos" panose="020B0004020202020204" pitchFamily="34" charset="0"/>
              </a:rPr>
              <a:t>IOB Annotated Reviews</a:t>
            </a:r>
          </a:p>
          <a:p>
            <a:r>
              <a:rPr lang="en-US" sz="2800" b="1" dirty="0">
                <a:solidFill>
                  <a:srgbClr val="7030A0"/>
                </a:solidFill>
                <a:latin typeface="Aptos" panose="020B0004020202020204" pitchFamily="34" charset="0"/>
              </a:rPr>
              <a:t>            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3BDE1A-1513-8BF1-67DA-6E846E33970B}"/>
              </a:ext>
            </a:extLst>
          </p:cNvPr>
          <p:cNvSpPr/>
          <p:nvPr/>
        </p:nvSpPr>
        <p:spPr>
          <a:xfrm>
            <a:off x="29718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EAD1D4-155A-8722-644D-4814F4831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6492875"/>
            <a:ext cx="1066892" cy="2819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8D8927-2023-7DAD-00C5-ACABB89251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91785"/>
            <a:ext cx="738077" cy="7380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19926F-BB14-C758-1318-E1CF6E75C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07562"/>
            <a:ext cx="11125200" cy="323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873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FE0AB0B-ECF8-379B-E3BE-C29003EE5DF6}"/>
              </a:ext>
            </a:extLst>
          </p:cNvPr>
          <p:cNvSpPr txBox="1"/>
          <p:nvPr/>
        </p:nvSpPr>
        <p:spPr>
          <a:xfrm>
            <a:off x="325656" y="329026"/>
            <a:ext cx="9808944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LSTM-Based Sentiment &amp; Review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 Credibility Module</a:t>
            </a:r>
            <a:endParaRPr lang="en-US" sz="2800" b="1" dirty="0">
              <a:solidFill>
                <a:schemeClr val="accent4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2800" b="0" dirty="0">
              <a:solidFill>
                <a:schemeClr val="accent1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69A093-D2BC-8811-5649-61B1F3802D78}"/>
              </a:ext>
            </a:extLst>
          </p:cNvPr>
          <p:cNvSpPr/>
          <p:nvPr/>
        </p:nvSpPr>
        <p:spPr>
          <a:xfrm>
            <a:off x="29926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AE30D-0CEB-2F6A-9F3A-C24D14CE1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6524058"/>
            <a:ext cx="1066892" cy="281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B94CBB-E8EB-CB39-D241-32FBAE6B38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89804"/>
            <a:ext cx="738077" cy="7380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144809-F46B-348B-A38B-B40A7A1C3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84" y="827881"/>
            <a:ext cx="4907291" cy="4918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FDFD46-0A00-061A-B5AB-5EBB5E883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051" y="1002562"/>
            <a:ext cx="5165372" cy="456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291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683798-5A71-2C3C-7B66-631AD90F7E09}"/>
              </a:ext>
            </a:extLst>
          </p:cNvPr>
          <p:cNvSpPr/>
          <p:nvPr/>
        </p:nvSpPr>
        <p:spPr>
          <a:xfrm>
            <a:off x="30480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5784F-6D44-E820-9208-15EFD1339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8924" y="6492875"/>
            <a:ext cx="1066892" cy="281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EB666E-8A24-97BF-CBA1-DAC6DBB3FB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8937" y="14399"/>
            <a:ext cx="738077" cy="7380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0EF044-DEFE-D9D3-925B-3C97EFFBF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85800"/>
            <a:ext cx="5334000" cy="44805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91850E-B288-F0B1-95F7-BC58BA04F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269" y="990600"/>
            <a:ext cx="5763706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77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CE4C50A-01F3-321A-7D72-0A45A2A16010}"/>
              </a:ext>
            </a:extLst>
          </p:cNvPr>
          <p:cNvSpPr/>
          <p:nvPr/>
        </p:nvSpPr>
        <p:spPr>
          <a:xfrm>
            <a:off x="3352800" y="6494430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0D0A7D-5DED-8C77-C2B2-6FA577294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6576036"/>
            <a:ext cx="1066892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3A72A7-7D07-EC87-A448-04F35C655D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92" y="36956"/>
            <a:ext cx="738077" cy="7380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A2F813-8FD6-98EE-CCB2-AF23535F6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810800"/>
            <a:ext cx="7223774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9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7201-01F7-7B91-2A8C-1BAF71D52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362200"/>
            <a:ext cx="10363200" cy="1470025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4">
                    <a:lumMod val="75000"/>
                  </a:schemeClr>
                </a:solidFill>
              </a:rPr>
              <a:t>Thank You!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F71C1F-15E1-DDB0-BA2C-6254F16A60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2F6123-5C85-B99D-38F4-11BA0E8B6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8924" y="6534248"/>
            <a:ext cx="1066892" cy="28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76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2C76CD229CDD4285A19EEDA46A2A94" ma:contentTypeVersion="4" ma:contentTypeDescription="Create a new document." ma:contentTypeScope="" ma:versionID="ea800217498562956dae74b68efaec0e">
  <xsd:schema xmlns:xsd="http://www.w3.org/2001/XMLSchema" xmlns:xs="http://www.w3.org/2001/XMLSchema" xmlns:p="http://schemas.microsoft.com/office/2006/metadata/properties" xmlns:ns2="4da6588c-a52b-4d0b-8663-93e0f7ef87c0" targetNamespace="http://schemas.microsoft.com/office/2006/metadata/properties" ma:root="true" ma:fieldsID="95eb59c0b611f560efcda39f06d822f5" ns2:_="">
    <xsd:import namespace="4da6588c-a52b-4d0b-8663-93e0f7ef87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a6588c-a52b-4d0b-8663-93e0f7ef87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D91F40-8375-4D47-8C36-B2F0463299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CA08BE-45B5-4AEA-AA99-776F594556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a6588c-a52b-4d0b-8663-93e0f7ef87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Theme6</Template>
  <TotalTime>13904</TotalTime>
  <Words>845</Words>
  <Application>Microsoft Office PowerPoint</Application>
  <PresentationFormat>Widescreen</PresentationFormat>
  <Paragraphs>171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Adobe Devanagari</vt:lpstr>
      <vt:lpstr>Aptos</vt:lpstr>
      <vt:lpstr>Arial</vt:lpstr>
      <vt:lpstr>Calibri</vt:lpstr>
      <vt:lpstr>Calibri Light</vt:lpstr>
      <vt:lpstr>Cambria</vt:lpstr>
      <vt:lpstr>Cambria Bold</vt:lpstr>
      <vt:lpstr>Century Gothic (Headings)</vt:lpstr>
      <vt:lpstr>Consolas</vt:lpstr>
      <vt:lpstr>Times New Roman</vt:lpstr>
      <vt:lpstr>Wingdings</vt:lpstr>
      <vt:lpstr>Office Theme</vt:lpstr>
      <vt:lpstr>Weda.lk AI/ML Driven Maintenance Service Provider Matching Platform For Sri Lanka </vt:lpstr>
      <vt:lpstr>01. Introduction</vt:lpstr>
      <vt:lpstr>PowerPoint Presentation</vt:lpstr>
      <vt:lpstr>02. System Video </vt:lpstr>
      <vt:lpstr>PowerPoint Presentation</vt:lpstr>
      <vt:lpstr>Component 01: Hybrid-Multialgorithm Recommendation Engine.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IT22190048 | Masakorala A.H.</vt:lpstr>
      <vt:lpstr>Component 02: Temporal and Contextual Matching System for Service Provider Recommendations(Availability, Location, Weather, and Time Factors). </vt:lpstr>
      <vt:lpstr>PowerPoint Presentation</vt:lpstr>
      <vt:lpstr>PowerPoint Presentation</vt:lpstr>
      <vt:lpstr>IT22117182 | ROOPASINGHE EMNS</vt:lpstr>
      <vt:lpstr>Component 03:Dynamic Skill Verification &amp; Provider Credibility Scoring Model  </vt:lpstr>
      <vt:lpstr>PowerPoint Presentation</vt:lpstr>
      <vt:lpstr>PowerPoint Presentation</vt:lpstr>
      <vt:lpstr> IT22914200|Tharushika w.a.m. Bi-LSTM Based Sentiment Analysis &amp; Review Credibilty Module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Weda.lk:AI/ML Driven Maintenance Service Provider Matching Platform For Sri Lanka</dc:title>
  <dc:creator>Hashitha Heshan Jayasundara</dc:creator>
  <cp:lastModifiedBy>HEWAPATHIRANA N T it22371836</cp:lastModifiedBy>
  <cp:revision>280</cp:revision>
  <dcterms:created xsi:type="dcterms:W3CDTF">2024-07-31T12:25:38Z</dcterms:created>
  <dcterms:modified xsi:type="dcterms:W3CDTF">2026-08-29T07:45:48Z</dcterms:modified>
</cp:coreProperties>
</file>